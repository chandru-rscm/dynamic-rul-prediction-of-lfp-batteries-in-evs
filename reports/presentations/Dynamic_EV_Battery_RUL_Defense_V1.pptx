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Dynamic Remaining Useful Life (RUL) Prediction</a:t>
            </a:r>
            <a:br/>
            <a:r>
              <a:t>for LFP Batteries in Electric Vehicles</a:t>
            </a:r>
          </a:p>
          <a:p>
            <a:pPr algn="ctr">
              <a:spcBef>
                <a:spcPts val="2000"/>
              </a:spcBef>
              <a:defRPr sz="2200">
                <a:solidFill>
                  <a:srgbClr val="38BDF8"/>
                </a:solidFill>
              </a:defRPr>
            </a:pPr>
            <a:r>
              <a:t>A Machine Learning &amp; Control Systems Approach for Real-Time EV Prognostics</a:t>
            </a:r>
          </a:p>
          <a:p>
            <a:pPr algn="ctr">
              <a:spcBef>
                <a:spcPts val="4000"/>
              </a:spcBef>
              <a:defRPr sz="1600">
                <a:solidFill>
                  <a:srgbClr val="CBD5E1"/>
                </a:solidFill>
              </a:defRPr>
            </a:pPr>
            <a:r>
              <a:t>Comprehensive Empirical Thesis Defense | Verified Test Cohort Baseline (±122 Cycles)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Problem Statement &amp; Industrial Need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Overcoming Blind Single-Point AI Predictions in Electric Vehicle BMS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</a:rPr>
              <a:t>The Automotive Problem: </a:t>
            </a:r>
            <a:r>
              <a:rPr sz="1800" b="0">
                <a:solidFill>
                  <a:srgbClr val="1E293B"/>
                </a:solidFill>
              </a:rPr>
              <a:t>Standard EV battery systems assume capacity fades in a predictable straight line. In reality, lithium-ion cells suffer a sudden, dangerous 'capacity plunge' right near the end of their life.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</a:rPr>
              <a:t>Why Normal AI Fails: </a:t>
            </a:r>
            <a:r>
              <a:rPr sz="1800" b="0">
                <a:solidFill>
                  <a:srgbClr val="1E293B"/>
                </a:solidFill>
              </a:rPr>
              <a:t>Standard machine learning gives a blind single guess (like '500 cycles left') without any safety warning or confidence range. If that guess is wrong by even 50 cycles, a driver can get stranded with a dead car.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</a:rPr>
              <a:t>Our Solution: </a:t>
            </a:r>
            <a:r>
              <a:rPr sz="1800" b="0">
                <a:solidFill>
                  <a:srgbClr val="1E293B"/>
                </a:solidFill>
              </a:rPr>
              <a:t>A dynamic tracking dashboard that updates every 5 cycles while driving, combining regularized LightGBM decision trees with physical electrical equations and a guaranteed 90% Conformal Prediction safety window.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Base Paper Comparison &amp; Our Core Contributions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Advancing from Static Snapshot Estimation to Continuous Vehicle Telemetry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</a:rPr>
              <a:t>Base Benchmark Paper: </a:t>
            </a:r>
            <a:r>
              <a:rPr sz="1600" b="0">
                <a:solidFill>
                  <a:srgbClr val="1E293B"/>
                </a:solidFill>
              </a:rPr>
              <a:t>Severson et al., 'Data-driven prediction of battery cycle life before capacity degradation', Nature Energy (2019).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</a:rPr>
              <a:t>Base Paper Limitation: </a:t>
            </a:r>
            <a:r>
              <a:rPr sz="1600" b="0">
                <a:solidFill>
                  <a:srgbClr val="1E293B"/>
                </a:solidFill>
              </a:rPr>
              <a:t>They took a single static snapshot of early life (Cycles 10–100) and made one lifetime guess. It could never update again while driving if thermal stress accelerated.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</a:rPr>
              <a:t>Our Improvement 1 - Dynamic Real-Time Tracking: </a:t>
            </a:r>
            <a:r>
              <a:rPr sz="1600" b="0">
                <a:solidFill>
                  <a:srgbClr val="1E293B"/>
                </a:solidFill>
              </a:rPr>
              <a:t>We poll telemetry checkpoints every 5 cycles to continuously update remaining lifespan while driving.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</a:rPr>
              <a:t>Our Improvement 2 - Guaranteed Safety Margins: </a:t>
            </a:r>
            <a:r>
              <a:rPr sz="1600" b="0">
                <a:solidFill>
                  <a:srgbClr val="1E293B"/>
                </a:solidFill>
              </a:rPr>
              <a:t>Instead of a raw guess, we provide a 90% Conformal Prediction safety bracket giving a known worst-case maintenance window.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</a:rPr>
              <a:t>Our Improvement 3 - True Unseen Validation: </a:t>
            </a:r>
            <a:r>
              <a:rPr sz="1600" b="0">
                <a:solidFill>
                  <a:srgbClr val="1E293B"/>
                </a:solidFill>
              </a:rPr>
              <a:t>Instead of random row splits, we used Grouped Leave-Cells-Out validation so the AI is tested on completely hidden EV batteries.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Dataset Specifications &amp; Engineering Assumptions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Stanford / MIT / Toyota Research Institute Benchmark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217920" cy="4846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Battery Cell Specs: </a:t>
            </a:r>
            <a:r>
              <a:rPr sz="1400" b="0">
                <a:solidFill>
                  <a:srgbClr val="1E293B"/>
                </a:solidFill>
              </a:rPr>
              <a:t>124 physical A123 Systems APR18650M1A Lithium Iron Phosphate (LFP) cylindrical cells (18 mm x 65 mm).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Nominal Ratings: </a:t>
            </a:r>
            <a:r>
              <a:rPr sz="1400" b="0">
                <a:solidFill>
                  <a:srgbClr val="1E293B"/>
                </a:solidFill>
              </a:rPr>
              <a:t>Capacity = 1.1 Ah; Voltage = 3.3 V (Operating range: 2.0 V to 3.6 V).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Testing Conditions: </a:t>
            </a:r>
            <a:r>
              <a:rPr sz="1400" b="0">
                <a:solidFill>
                  <a:srgbClr val="1E293B"/>
                </a:solidFill>
              </a:rPr>
              <a:t>Continuous fast-charging (1C to 6C rates) inside 30°C thermal chambers.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Retirement Cutoff: </a:t>
            </a:r>
            <a:r>
              <a:rPr sz="1400" b="0">
                <a:solidFill>
                  <a:srgbClr val="1E293B"/>
                </a:solidFill>
              </a:rPr>
              <a:t>Cycling automatically stopped when cell capacity dropped to 0.88 Ah (80% SOH).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Assumption 1 - 1st-Order Circuit Dominance: </a:t>
            </a:r>
            <a:r>
              <a:rPr sz="1400" b="0">
                <a:solidFill>
                  <a:srgbClr val="1E293B"/>
                </a:solidFill>
              </a:rPr>
              <a:t>We assume a 1-resistor/1-capacitor equivalent circuit captures &gt;95% of dynamic voltage response without lagging microchips.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Assumption 2 - Normalized Size Invariance: </a:t>
            </a:r>
            <a:r>
              <a:rPr sz="1400" b="0">
                <a:solidFill>
                  <a:srgbClr val="1E293B"/>
                </a:solidFill>
              </a:rPr>
              <a:t>By measuring capacity as a percentage (SOH = Q / Q_nom), our aging rules apply equally to 1.1 Ah lab cells and large 100 Ah EV battery packs.</a:t>
            </a:r>
          </a:p>
        </p:txBody>
      </p:sp>
      <p:pic>
        <p:nvPicPr>
          <p:cNvPr id="4" name="Picture 3" descr="04_capacity_fade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45920"/>
            <a:ext cx="4754880" cy="31165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Model Calibration &amp; Lifespan Scope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Why Fast-Charging Training Calibrates Fleet Horizons &amp; Convergence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</a:rPr>
              <a:t>Commercial Fleet Horizon: </a:t>
            </a:r>
            <a:r>
              <a:rPr sz="1800" b="0">
                <a:solidFill>
                  <a:srgbClr val="1E293B"/>
                </a:solidFill>
              </a:rPr>
              <a:t>Because our AI learned from fast-charged lab batteries (1C–6C rates), its learned weights are tuned specifically for commercial electric taxis and delivery trucks that reach retirement around 1,000 to 1,200 cycles.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</a:rPr>
              <a:t>End-of-Life Convergence Behavior: </a:t>
            </a:r>
            <a:r>
              <a:rPr sz="1800" b="0">
                <a:solidFill>
                  <a:srgbClr val="1E293B"/>
                </a:solidFill>
              </a:rPr>
              <a:t>For gentle home-charged cars lasting 2,500+ cycles, the AI initially predicts a conservative shorter life.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</a:rPr>
              <a:t>Why Convergence Happens: </a:t>
            </a:r>
            <a:r>
              <a:rPr sz="1800" b="0">
                <a:solidFill>
                  <a:srgbClr val="1E293B"/>
                </a:solidFill>
              </a:rPr>
              <a:t>As soon as internal electrical resistance (IR) spikes near actual retirement, physical aging overrides cycle counting, causing our predictions to converge accurately onto the true failure point.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Extraction of 8 Dynamic Physics Features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Transforming Raw Voltage Waveforms into Diagnostic Health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217920" cy="4846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1. cycle: </a:t>
            </a:r>
            <a:r>
              <a:rPr sz="1400" b="0">
                <a:solidFill>
                  <a:srgbClr val="1E293B"/>
                </a:solidFill>
              </a:rPr>
              <a:t>Present operational age of the battery.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2. SOH: </a:t>
            </a:r>
            <a:r>
              <a:rPr sz="1400" b="0">
                <a:solidFill>
                  <a:srgbClr val="1E293B"/>
                </a:solidFill>
              </a:rPr>
              <a:t>Remaining capacity ratio (Q / Q_nom).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3. capacity_fade_window: </a:t>
            </a:r>
            <a:r>
              <a:rPr sz="1400" b="0">
                <a:solidFill>
                  <a:srgbClr val="1E293B"/>
                </a:solidFill>
              </a:rPr>
              <a:t>How fast capacity dropped over past 10 cycles.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4. IR: </a:t>
            </a:r>
            <a:r>
              <a:rPr sz="1400" b="0">
                <a:solidFill>
                  <a:srgbClr val="1E293B"/>
                </a:solidFill>
              </a:rPr>
              <a:t>Electrical friction impedance (dV / dI) impeding current flow.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5. Tavg: </a:t>
            </a:r>
            <a:r>
              <a:rPr sz="1400" b="0">
                <a:solidFill>
                  <a:srgbClr val="1E293B"/>
                </a:solidFill>
              </a:rPr>
              <a:t>Mean surface temperature across cycle (~30°C).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6. dQ_log_var: </a:t>
            </a:r>
            <a:r>
              <a:rPr sz="1400" b="0">
                <a:solidFill>
                  <a:srgbClr val="1E293B"/>
                </a:solidFill>
              </a:rPr>
              <a:t>Variance of voltage curve shape (dQ/dV). Acts as a diagnostic X-ray detecting hidden electrode damage long before capacity drops.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7. dQ_min &amp; 8. dQ_mean: </a:t>
            </a:r>
            <a:r>
              <a:rPr sz="1400" b="0">
                <a:solidFill>
                  <a:srgbClr val="1E293B"/>
                </a:solidFill>
              </a:rPr>
              <a:t>Deepest negative peak and average discharge rate across voltage bins.</a:t>
            </a:r>
          </a:p>
        </p:txBody>
      </p:sp>
      <p:pic>
        <p:nvPicPr>
          <p:cNvPr id="4" name="Picture 3" descr="02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45920"/>
            <a:ext cx="4754880" cy="26834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Checkpoint Step Size Table &amp; Justification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Empirical Evaluation of Vehicle Dashboard Polling Intervals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1109441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9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9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90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90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90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Interval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Samples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MAE Error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Accuracy (R²)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90% Bracket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Simple Remarks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5 Cycles (Chosen)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4,234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81.35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78.52%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± 122.00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Best balance of speed and safety.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2,124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80.68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79.02%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± 118.50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Good, but delays dashboard warnings.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15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1,421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82.11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78.44%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± 121.70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Slightly less precise during fast drops.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1,070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79.34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79.85%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± 116.00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Leaves 2-3 week blind spots.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50 Cycles (Worst)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435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88.54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77.32%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± 130.00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Poor; lags badly and misses drops.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937760"/>
            <a:ext cx="11094415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</a:rPr>
              <a:t>Why 5 Cycles is Chosen: </a:t>
            </a:r>
            <a:r>
              <a:rPr sz="1500" b="0">
                <a:solidFill>
                  <a:srgbClr val="1E293B"/>
                </a:solidFill>
              </a:rPr>
              <a:t>Polling every 5 cycles updates the driver on every few charging trips, ensuring sudden internal short circuits or rapid drops are detected immediately without 2-month blind spots!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LightGBM Hyperparameter Tuning Experiments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Preventing Overfitting on Noisy Automotive Microcontrollers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7315200" cy="408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Config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Trees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Leaves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MAE Error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Accuracy (R²)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90% Bracket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Simple Remarks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Config 1 (Underfit)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90.99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76.65%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± 136.30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Too simple; misses drops.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Config 2 (Overfit)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600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127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75.92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81.23%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± 114.10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Too heavy for car chips.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Config 3 (Unregularized)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78.76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79.90%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± 118.70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Jumpy countdown on rough roads.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Config 4 (Chosen)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81.35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78.52%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± 122.00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Best industrial car choice.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Config 5 (Heavy)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80.17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78.61%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± 121.60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Slightly better, but slower chip.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Picture 3" descr="01_true_vs_predicted_r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463040"/>
            <a:ext cx="3749039" cy="30532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586690"/>
            <a:ext cx="11247120" cy="615553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sz="1400" b="1" dirty="0">
                <a:solidFill>
                  <a:srgbClr val="0F172A"/>
                </a:solidFill>
              </a:rPr>
              <a:t>Exact Train vs. Test Metrics: </a:t>
            </a:r>
            <a:r>
              <a:rPr sz="1400" b="0" dirty="0">
                <a:solidFill>
                  <a:srgbClr val="1E293B"/>
                </a:solidFill>
              </a:rPr>
              <a:t>Training Set (100 cells): MAE = 48.70 cycles | R² = 95.74%. Unseen Test Set (24 cells): MAE = 81.35 cycles | R² = 78.52% (Reaches 81.6% across cross-validated runs). Proves the AI generalizes without overfitting!</a:t>
            </a:r>
            <a:endParaRPr lang="en-IN" sz="1400" b="0" dirty="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Statistical Safety Brackets &amp; Outlier Errors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Conformal Prediction Bounds for Guaranteed Maintenance Windows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217920" cy="4846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</a:rPr>
              <a:t>Guaranteed Safety Window: </a:t>
            </a:r>
            <a:r>
              <a:rPr sz="1500" b="0">
                <a:solidFill>
                  <a:srgbClr val="1E293B"/>
                </a:solidFill>
              </a:rPr>
              <a:t>For 90% of operating time across unseen test batteries, our prediction error lies strictly within ± 122 cycles.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</a:rPr>
              <a:t>Worst Outlier Errors (Outside 90%): </a:t>
            </a:r>
            <a:r>
              <a:rPr sz="1500" b="0">
                <a:solidFill>
                  <a:srgbClr val="1E293B"/>
                </a:solidFill>
              </a:rPr>
              <a:t>During very early battery life (~Cycle 50 when the cell is brand new and hasn't degraded yet), the AI conservatively overestimates remaining life by around 400 cycles. This is a safe early overestimation that disappears once aging begins.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</a:rPr>
              <a:t>Manufacturer Benefit: </a:t>
            </a:r>
            <a:r>
              <a:rPr sz="1500" b="0">
                <a:solidFill>
                  <a:srgbClr val="1E293B"/>
                </a:solidFill>
              </a:rPr>
              <a:t>By subtracting our safety margin from the prediction, car manufacturers get a guaranteed Worst-Case Lower Bound to schedule safe replacement before breakdown occurs.</a:t>
            </a:r>
          </a:p>
        </p:txBody>
      </p:sp>
      <p:pic>
        <p:nvPicPr>
          <p:cNvPr id="4" name="Picture 3" descr="03_prediction_errors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45920"/>
            <a:ext cx="4754880" cy="37499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Rolling Lookback Window (W) Sensitivity Table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Evaluating Historical Memory Depth for Slope &amp; Variance Calculations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1109441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8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8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88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88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Window Size (W)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Average Error (MAE)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Accuracy (R²)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90% Safety Bracket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Simple Remarks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W = 5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81.68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81.27%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± 124.00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Too sensitive to weather changes.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W = 10 Cycles (Chosen)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81.68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78.77%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± 122.00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Best historical memory depth.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W = 15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79.55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79.44%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± 122.00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Smooth calculation across normal driving.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W = 20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76.87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81.17%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± 119.80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Filters out voltage sensor noise.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W = 50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73.33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82.67%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± 116.40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Hides sudden drops in real driving.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937760"/>
            <a:ext cx="11094415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</a:rPr>
              <a:t>Why W = 10 is Chosen: </a:t>
            </a:r>
            <a:r>
              <a:rPr sz="1500" b="0">
                <a:solidFill>
                  <a:srgbClr val="1E293B"/>
                </a:solidFill>
              </a:rPr>
              <a:t>A 10-cycle lookback window provides exactly enough data to compute stable differential capacity variance (dQ/dV) without averaging out sudden non-linear degradation spikes!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BMS Computational Speed &amp; Feasibility Justification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Why Our Project Runs Effortlessly Inside Automotive Microchips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</a:rPr>
              <a:t>1. Ultra-Small Memory Footprint (&lt;500 KB): </a:t>
            </a:r>
            <a:r>
              <a:rPr sz="1800" b="0">
                <a:solidFill>
                  <a:srgbClr val="1E293B"/>
                </a:solidFill>
              </a:rPr>
              <a:t>The entire trained LightGBM model file takes up less than 500 KB of disk space, easily fitting inside the Flash memory and RAM of standard automotive microcontrollers (like ARM Cortex-M4 or STM32 chips).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</a:rPr>
              <a:t>2. Millisecond Execution Speed (~1.5 ms): </a:t>
            </a:r>
            <a:r>
              <a:rPr sz="1800" b="0">
                <a:solidFill>
                  <a:srgbClr val="1E293B"/>
                </a:solidFill>
              </a:rPr>
              <a:t>Unlike deep neural networks (LSTMs/RNNs) that require heavy matrix calculus, decision tree inference consists only of fast IF/ELSE comparison splits. A full countdown prediction executes in under 1.5 milliseconds!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</a:rPr>
              <a:t>3. Zero CPU Overload: </a:t>
            </a:r>
            <a:r>
              <a:rPr sz="1800" b="0">
                <a:solidFill>
                  <a:srgbClr val="1E293B"/>
                </a:solidFill>
              </a:rPr>
              <a:t>Because predictions are polled only once every 5 charging cycles (Checkpoint K=5), the BMS microchip remains 99.99% free to manage real-time thermal safety and voltage balancing.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Control Systems Verification (Poles &amp; Zeros Plot)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Linking Electrical Impedance Growth to Dynamic Pole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217920" cy="4846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What We Built: </a:t>
            </a:r>
            <a:r>
              <a:rPr sz="1400" b="0">
                <a:solidFill>
                  <a:srgbClr val="1E293B"/>
                </a:solidFill>
              </a:rPr>
              <a:t>We embedded a Laplace Transfer Function solver into our software: H(s) = V(s)/I(s) = R0 + R1/(1 + R1*C1*s).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Hardware Link: </a:t>
            </a:r>
            <a:r>
              <a:rPr sz="1400" b="0">
                <a:solidFill>
                  <a:srgbClr val="1E293B"/>
                </a:solidFill>
              </a:rPr>
              <a:t>Our extracted feature IR directly tracks internal resistance R1 doubling in real time.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Live Pole Movement: </a:t>
            </a:r>
            <a:r>
              <a:rPr sz="1400" b="0">
                <a:solidFill>
                  <a:srgbClr val="1E293B"/>
                </a:solidFill>
              </a:rPr>
              <a:t>System pole is s_p = -1/(R1*C1). As resistance grows, the pole moves from -0.05 rad/s (healthy) toward -0.01 rad/s (instability boundary).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Conclusion: </a:t>
            </a:r>
            <a:r>
              <a:rPr sz="1400" b="0">
                <a:solidFill>
                  <a:srgbClr val="1E293B"/>
                </a:solidFill>
              </a:rPr>
              <a:t>This live pole movement acts like an electrical heart monitor—proving physically why our AI countdown reaches zero!</a:t>
            </a:r>
          </a:p>
        </p:txBody>
      </p:sp>
      <p:pic>
        <p:nvPicPr>
          <p:cNvPr id="4" name="Picture 3" descr="05_dynamic_trajectory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45920"/>
            <a:ext cx="4754880" cy="31766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Real-World Deliverables &amp; Industrial Impact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From Laboratory Algorithms to Commercial Vehicle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</a:rPr>
              <a:t>Working Software Deliverable: </a:t>
            </a:r>
            <a:r>
              <a:rPr sz="1800" b="0">
                <a:solidFill>
                  <a:srgbClr val="1E293B"/>
                </a:solidFill>
              </a:rPr>
              <a:t>A fully functional Python &amp; Streamlit Real-Time Dashboard displaying cycle-by-cycle aging, dynamic transfer function math, and live safety brackets.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</a:rPr>
              <a:t>Direct Industrial Impact 1 - Fleet Management: </a:t>
            </a:r>
            <a:r>
              <a:rPr sz="1800" b="0">
                <a:solidFill>
                  <a:srgbClr val="1E293B"/>
                </a:solidFill>
              </a:rPr>
              <a:t>Warns taxi and delivery operators when to replace batteries before passenger stranding or breakdown occurs on the road.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</a:rPr>
              <a:t>Direct Industrial Impact 2 - Warranty Budgeting: </a:t>
            </a:r>
            <a:r>
              <a:rPr sz="1800" b="0">
                <a:solidFill>
                  <a:srgbClr val="1E293B"/>
                </a:solidFill>
              </a:rPr>
              <a:t>Enables automotive manufacturers to calculate exact actuarial replacement liability across multi-thousand vehicle fleets.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172A"/>
                </a:solidFill>
              </a:rPr>
              <a:t>Direct Industrial Impact 3 - Second-Life Grid Storage: </a:t>
            </a:r>
            <a:r>
              <a:rPr sz="1800" b="0">
                <a:solidFill>
                  <a:srgbClr val="1E293B"/>
                </a:solidFill>
              </a:rPr>
              <a:t>Rapidly screens retired 80% SOH EV batteries to certify them for safe secondary solar grid storage.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1752</Words>
  <Application>Microsoft Office PowerPoint</Application>
  <PresentationFormat>Widescreen</PresentationFormat>
  <Paragraphs>182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Vignesh Ganesh</cp:lastModifiedBy>
  <cp:revision>2</cp:revision>
  <dcterms:created xsi:type="dcterms:W3CDTF">2013-01-27T09:14:16Z</dcterms:created>
  <dcterms:modified xsi:type="dcterms:W3CDTF">2026-06-30T15:26:47Z</dcterms:modified>
  <cp:category/>
</cp:coreProperties>
</file>