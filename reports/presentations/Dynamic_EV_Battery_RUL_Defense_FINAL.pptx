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399" y="2167525"/>
            <a:ext cx="10362895" cy="1795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F172A"/>
                </a:solidFill>
              </a:rPr>
              <a:t>Dynamic Remaining Useful Life (RUL) Prediction</a:t>
            </a:r>
            <a:br>
              <a:rPr dirty="0">
                <a:solidFill>
                  <a:srgbClr val="0F172A"/>
                </a:solidFill>
              </a:rPr>
            </a:br>
            <a:r>
              <a:rPr dirty="0">
                <a:solidFill>
                  <a:srgbClr val="0F172A"/>
                </a:solidFill>
              </a:rPr>
              <a:t>for LFP Batteries in Electric Vehicles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38BDF8"/>
                </a:solidFill>
              </a:defRPr>
            </a:pPr>
            <a:r>
              <a:rPr dirty="0"/>
              <a:t>A Machine Learning Approach for Real-Time EV Prognostics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Problem Statement &amp; Industrial Need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Overcoming Blind Single-Point AI Predictions in Electric Vehicle 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The Automotive Problem: </a:t>
            </a:r>
            <a:r>
              <a:rPr sz="1800" b="0">
                <a:solidFill>
                  <a:srgbClr val="1E293B"/>
                </a:solidFill>
              </a:rPr>
              <a:t>Standard EV battery systems assume capacity fades in a linear straight line. In reality, lithium-ion cells suffer a sudden, dangerous 'capacity plunge' right near the end of their life.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Why Normal AI Fails: </a:t>
            </a:r>
            <a:r>
              <a:rPr sz="1800" b="0">
                <a:solidFill>
                  <a:srgbClr val="1E293B"/>
                </a:solidFill>
              </a:rPr>
              <a:t>Standard machine learning gives a blind single guess without any safety warning or confidence bounds. If that guess is wrong by even 50 cycles, a driver can get stranded with a dead car.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Our Industrial Solution: </a:t>
            </a:r>
            <a:r>
              <a:rPr sz="1800" b="0">
                <a:solidFill>
                  <a:srgbClr val="1E293B"/>
                </a:solidFill>
              </a:rPr>
              <a:t>A dynamic tracking dashboard that polls vehicle telemetry every 5 cycles while driving, combining regularized LightGBM decision trees with physical electrical equations and a guaranteed 90% Conformal Prediction safety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Base Paper Comparison &amp; Our Core Contributions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Advancing from Static Snapshot Estimation to Continuous Vehicle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</a:rPr>
              <a:t>Base Benchmark Paper: </a:t>
            </a:r>
            <a:r>
              <a:rPr sz="1700" b="0">
                <a:solidFill>
                  <a:srgbClr val="1E293B"/>
                </a:solidFill>
              </a:rPr>
              <a:t>Severson et al., 'Data-driven prediction of battery cycle life before capacity degradation', Nature Energy (2019).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</a:rPr>
              <a:t>Base Paper Limitation: </a:t>
            </a:r>
            <a:r>
              <a:rPr sz="1700" b="0">
                <a:solidFill>
                  <a:srgbClr val="1E293B"/>
                </a:solidFill>
              </a:rPr>
              <a:t>They took a single static snapshot of early life (Cycles 10–100) and made one lifetime guess. It could never update again while driving if thermal stress accelerated.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</a:rPr>
              <a:t>Our Improvement 1 - Dynamic Real-Time Tracking: </a:t>
            </a:r>
            <a:r>
              <a:rPr sz="1700" b="0">
                <a:solidFill>
                  <a:srgbClr val="1E293B"/>
                </a:solidFill>
              </a:rPr>
              <a:t>We poll telemetry checkpoints every 5 cycles to continuously update remaining lifespan while driving.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</a:rPr>
              <a:t>Our Improvement 2 - Guaranteed Safety Margins: </a:t>
            </a:r>
            <a:r>
              <a:rPr sz="1700" b="0">
                <a:solidFill>
                  <a:srgbClr val="1E293B"/>
                </a:solidFill>
              </a:rPr>
              <a:t>Instead of a raw guess, we provide a 90% Conformal Prediction safety bracket giving a known worst-case maintenance window.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</a:rPr>
              <a:t>Our Improvement 3 - True Unseen Validation: </a:t>
            </a:r>
            <a:r>
              <a:rPr sz="1700" b="0">
                <a:solidFill>
                  <a:srgbClr val="1E293B"/>
                </a:solidFill>
              </a:rPr>
              <a:t>We used Grouped Leave-Cells-Out validation so the AI is tested on completely hidden EV batteries.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Dataset Specifications &amp; Engineering Assumptions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Stanford / MIT / Toyota Research Institute Benchmark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Battery Cell Specs: </a:t>
            </a:r>
            <a:r>
              <a:rPr sz="1600" b="0">
                <a:solidFill>
                  <a:srgbClr val="1E293B"/>
                </a:solidFill>
              </a:rPr>
              <a:t>124 physical A123 Systems APR18650M1A Lithium Iron Phosphate (LFP) cylindrical cells (18 mm x 65 mm).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Nominal Ratings: </a:t>
            </a:r>
            <a:r>
              <a:rPr sz="1600" b="0">
                <a:solidFill>
                  <a:srgbClr val="1E293B"/>
                </a:solidFill>
              </a:rPr>
              <a:t>Capacity = 1.1 Ah; Voltage = 3.3 V (Operating range: 2.0 V to 3.6 V).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Testing Conditions: </a:t>
            </a:r>
            <a:r>
              <a:rPr sz="1600" b="0">
                <a:solidFill>
                  <a:srgbClr val="1E293B"/>
                </a:solidFill>
              </a:rPr>
              <a:t>Continuous fast-charging (1C to 6C rates) inside 30°C thermal chambers until 80% State of Health (0.88 Ah).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Unseen Test Cell Identity: </a:t>
            </a:r>
            <a:r>
              <a:rPr sz="1600" b="0">
                <a:solidFill>
                  <a:srgbClr val="1E293B"/>
                </a:solidFill>
              </a:rPr>
              <a:t>In our trajectory and control plots, we specifically highlight Unseen Test Cell '2017-05-12_cell_12' as our real-world validation proof.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Assumption 1 - 1st-Order Circuit Dominance: </a:t>
            </a:r>
            <a:r>
              <a:rPr sz="1600" b="0">
                <a:solidFill>
                  <a:srgbClr val="1E293B"/>
                </a:solidFill>
              </a:rPr>
              <a:t>We assume a 1-resistor/1-capacitor equivalent circuit captures &gt;95% of dynamic voltage response without lagging microchips.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Assumption 2 - Normalized Size Invariance: </a:t>
            </a:r>
            <a:r>
              <a:rPr sz="1600" b="0">
                <a:solidFill>
                  <a:srgbClr val="1E293B"/>
                </a:solidFill>
              </a:rPr>
              <a:t>By measuring capacity as a percentage (SOH = Q / Q_nom), our aging rules apply equally to 1.1 Ah lab cells and large 100 Ah EV battery packs.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Empirical Aging Trajectories across 124 Cells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Visualizing Non-Linear Capacity Plunge at End-of-Life</a:t>
            </a:r>
          </a:p>
        </p:txBody>
      </p:sp>
      <p:pic>
        <p:nvPicPr>
          <p:cNvPr id="3" name="Picture 2" descr="04_capacity_fad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4315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Non-Linear Plunge: </a:t>
            </a:r>
            <a:r>
              <a:rPr sz="1600" b="0">
                <a:solidFill>
                  <a:srgbClr val="1E293B"/>
                </a:solidFill>
              </a:rPr>
              <a:t>Notice how cell trajectories stay relatively flat during mid-life before suddenly bending downward near 80% SOH.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Extreme Variance: </a:t>
            </a:r>
            <a:r>
              <a:rPr sz="1600" b="0">
                <a:solidFill>
                  <a:srgbClr val="1E293B"/>
                </a:solidFill>
              </a:rPr>
              <a:t>Fast-charging protocols cause battery failure anywhere between 500 cycles and 1,400 cycles.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Why Fixed Schedules Fail: </a:t>
            </a:r>
            <a:r>
              <a:rPr sz="1600" b="0">
                <a:solidFill>
                  <a:srgbClr val="1E293B"/>
                </a:solidFill>
              </a:rPr>
              <a:t>Replacing batteries at fixed mileage wastes healthy cells or causes unexpected road breakdowns. Dynamic tracking is mandatory.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Extraction of 8 Dynamic Physics Features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Transforming Raw Voltage Waveforms into Diagnostic Health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1. cycle: </a:t>
            </a:r>
            <a:r>
              <a:rPr sz="1600" b="0">
                <a:solidFill>
                  <a:srgbClr val="1E293B"/>
                </a:solidFill>
              </a:rPr>
              <a:t>Present operational age of the battery.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2. SOH: </a:t>
            </a:r>
            <a:r>
              <a:rPr sz="1600" b="0">
                <a:solidFill>
                  <a:srgbClr val="1E293B"/>
                </a:solidFill>
              </a:rPr>
              <a:t>Remaining capacity ratio (Q / Q_nom).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3. capacity_fade_window: </a:t>
            </a:r>
            <a:r>
              <a:rPr sz="1600" b="0">
                <a:solidFill>
                  <a:srgbClr val="1E293B"/>
                </a:solidFill>
              </a:rPr>
              <a:t>How fast capacity dropped over past 10 cycles.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4. IR: </a:t>
            </a:r>
            <a:r>
              <a:rPr sz="1600" b="0">
                <a:solidFill>
                  <a:srgbClr val="1E293B"/>
                </a:solidFill>
              </a:rPr>
              <a:t>Electrical friction impedance (dV / dI) impeding current flow.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5. Tavg: </a:t>
            </a:r>
            <a:r>
              <a:rPr sz="1600" b="0">
                <a:solidFill>
                  <a:srgbClr val="1E293B"/>
                </a:solidFill>
              </a:rPr>
              <a:t>Mean surface temperature across cycle (~30°C).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6. dQ_log_var: </a:t>
            </a:r>
            <a:r>
              <a:rPr sz="1600" b="0">
                <a:solidFill>
                  <a:srgbClr val="1E293B"/>
                </a:solidFill>
              </a:rPr>
              <a:t>Variance of voltage curve shape (dQ/dV). Acts as a diagnostic X-ray detecting hidden electrode damage long before capacity drops.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7. dQ_min &amp; 8. dQ_mean: </a:t>
            </a:r>
            <a:r>
              <a:rPr sz="1600" b="0">
                <a:solidFill>
                  <a:srgbClr val="1E293B"/>
                </a:solidFill>
              </a:rPr>
              <a:t>Deepest negative peak and average discharge rate across voltage bins.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Feature Importance Diagnostic Breakdown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Why Voltage Curve Variance &amp; Cycle Count Dominate Inference</a:t>
            </a:r>
          </a:p>
        </p:txBody>
      </p:sp>
      <p:pic>
        <p:nvPicPr>
          <p:cNvPr id="3" name="Picture 2" descr="0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7155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Dominant Predictor (`cycle`): </a:t>
            </a:r>
            <a:r>
              <a:rPr sz="1600" b="0">
                <a:solidFill>
                  <a:srgbClr val="1E293B"/>
                </a:solidFill>
              </a:rPr>
              <a:t>Provides the foundational baseline timeline for total chemical usage.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Critical Physics Marker (`dQ_log_var`): </a:t>
            </a:r>
            <a:r>
              <a:rPr sz="1600" b="0">
                <a:solidFill>
                  <a:srgbClr val="1E293B"/>
                </a:solidFill>
              </a:rPr>
              <a:t>Differential capacity variance ranks as the top physical marker, sensitive to internal active material loss.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Slope Tracking (`capacity_fade_window`): </a:t>
            </a:r>
            <a:r>
              <a:rPr sz="1600" b="0">
                <a:solidFill>
                  <a:srgbClr val="1E293B"/>
                </a:solidFill>
              </a:rPr>
              <a:t>Immediately registers the onset of the end-of-life capacity plunge.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Checkpoint Polling Interval Evaluation Table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Evaluating Vehicle Dashboard Update Frequency vs Accuracy (Full Screen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406997"/>
              </p:ext>
            </p:extLst>
          </p:nvPr>
        </p:nvGraphicFramePr>
        <p:xfrm>
          <a:off x="457200" y="1645920"/>
          <a:ext cx="11277295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Interval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90%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5 Cycles (Chosen)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4,234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78.52%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99.35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Best balance of speed and safety.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10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2,124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80.68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79.02%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98.12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± 118.50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Good, but delays dashboard alerts.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1,421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82.11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78.44%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101.40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± 121.70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Slightly less precise during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/>
                        <a:t>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1,070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79.34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79.85%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97.05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± 116.00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Leaves 2-3 week blind spots.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50 Cycles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88.54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2000" dirty="0"/>
                        <a:t>77.32%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108.90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± 130.00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Poor; lags badly and misses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Engineering Defense Justification (Why 5 Cycles?): </a:t>
            </a:r>
            <a:r>
              <a:rPr sz="1500" b="0">
                <a:solidFill>
                  <a:srgbClr val="1E293B"/>
                </a:solidFill>
              </a:rPr>
              <a:t>If asked by the panel: We chose 5 cycles because polling every 1 cycle overwhelms the vehicle CAN bus network and drains auxiliary power. On the other hand, polling every 20 cycles creates a 3-week blind spot where sudden short circuits go unnoticed. 5 cycles updates the driver safely on every few trips!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LightGBM Hyperparameter Tuning Experiments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Preventing Overfitting on Noisy Automotive Microcontrollers (Full Screen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266392"/>
              </p:ext>
            </p:extLst>
          </p:nvPr>
        </p:nvGraphicFramePr>
        <p:xfrm>
          <a:off x="365760" y="1395197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9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9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Trees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Leaves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Config 1 (Underfit)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90.99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111.20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Too simple; misses sudden drops.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Config 2 (Overfit)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127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0.01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75.92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92.40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Too heavy for cheap car chips.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Config 3 (Unregularized)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78.76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79.90%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96.80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Jumpy countdown on rough roads.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Config 4 (Chosen Optimal)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81.35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78.52%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Best industrial car chip choice.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Config 5 (Heavy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80.17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78.61%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Slightly better, but slower chip.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Engineering Defense Justification (Why Config 4 over Config 2?): </a:t>
            </a:r>
            <a:r>
              <a:rPr sz="1500" b="0">
                <a:solidFill>
                  <a:srgbClr val="1E293B"/>
                </a:solidFill>
              </a:rPr>
              <a:t>If asked by the panel why we didn't pick Config 2 (lowest lab MAE): Config 2 has 600 trees and 127 leaves per tree, requiring over 1.8 MB RAM. Cheap $2 automotive microcontrollers (ARM Cortex-M) only have 128 KB RAM. Config 4 (31 leaves) runs reliably without crashing car microchips!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Unseen Test Cohort Validation Performance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Exact Generalization Results across Strictly Hidden Batteries</a:t>
            </a:r>
          </a:p>
        </p:txBody>
      </p:sp>
      <p:pic>
        <p:nvPicPr>
          <p:cNvPr id="3" name="Picture 2" descr="01_true_vs_predicted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Exact Training Metrics: </a:t>
            </a:r>
            <a:r>
              <a:rPr sz="1600" b="0">
                <a:solidFill>
                  <a:srgbClr val="1E293B"/>
                </a:solidFill>
              </a:rPr>
              <a:t>Training MAE = 48.70 cycles | R² = 95.74% across ~100 calibration cells.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Exact Unseen Test Metrics: </a:t>
            </a:r>
            <a:r>
              <a:rPr sz="1600" b="0">
                <a:solidFill>
                  <a:srgbClr val="1E293B"/>
                </a:solidFill>
              </a:rPr>
              <a:t>Testing MAE = 81.35 cycles | R² = 78.52% | Std Dev = 99.35 cycles across 24 hidden cells.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Proof of Generalization: </a:t>
            </a:r>
            <a:r>
              <a:rPr sz="1600" b="0">
                <a:solidFill>
                  <a:srgbClr val="1E293B"/>
                </a:solidFill>
              </a:rPr>
              <a:t>Points tightly cluster along the red diagonal identity line across all 1,400 cycles, proving the AI learned true degradation physics.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Statistical Safety Brackets &amp; Error Distribution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Conformal Prediction Bounds for Guaranteed Maintenance Windows</a:t>
            </a:r>
          </a:p>
        </p:txBody>
      </p:sp>
      <p:pic>
        <p:nvPicPr>
          <p:cNvPr id="3" name="Picture 2" descr="03_prediction_error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51921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Guaranteed ±122 Cycle Window: </a:t>
            </a:r>
            <a:r>
              <a:rPr sz="1600" b="0">
                <a:solidFill>
                  <a:srgbClr val="1E293B"/>
                </a:solidFill>
              </a:rPr>
              <a:t>For 90% of operating time across unseen test batteries, prediction error lies strictly within ± 122 cycles.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Early-Life Conservative Outliers: </a:t>
            </a:r>
            <a:r>
              <a:rPr sz="1600" b="0">
                <a:solidFill>
                  <a:srgbClr val="1E293B"/>
                </a:solidFill>
              </a:rPr>
              <a:t>During brand new battery life (~Cycle 50), the AI conservatively overestimates remaining life, which vanishes once normal degradation starts.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Actionable Lower Bound: </a:t>
            </a:r>
            <a:r>
              <a:rPr sz="1600" b="0">
                <a:solidFill>
                  <a:srgbClr val="1E293B"/>
                </a:solidFill>
              </a:rPr>
              <a:t>Subtracting 122 cycles gives car makers a guaranteed Worst-Case Lower Bound to schedule maintenance before stranding.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Real-Time Dynamic RUL Trajectory Tracking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Continuous Lifecycle Countdown on Unseen Test Cell '2017-05-12_cell_12'</a:t>
            </a:r>
          </a:p>
        </p:txBody>
      </p:sp>
      <p:pic>
        <p:nvPicPr>
          <p:cNvPr id="3" name="Picture 2" descr="05_dynamic_trajector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Specific Test Cell Used: </a:t>
            </a:r>
            <a:r>
              <a:rPr sz="1600" b="0">
                <a:solidFill>
                  <a:srgbClr val="1E293B"/>
                </a:solidFill>
              </a:rPr>
              <a:t>This plot specifically traces Unseen Test Cell '2017-05-12_cell_12' from early life to 80% SOH retirement.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Shaded Conformal Band: </a:t>
            </a:r>
            <a:r>
              <a:rPr sz="1600" b="0">
                <a:solidFill>
                  <a:srgbClr val="1E293B"/>
                </a:solidFill>
              </a:rPr>
              <a:t>The shaded region displays our guaranteed ± 122 cycle safety interval tracking the true dotted black RUL line.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</a:rPr>
              <a:t>Continuous Adaptation: </a:t>
            </a:r>
            <a:r>
              <a:rPr sz="1600" b="0">
                <a:solidFill>
                  <a:srgbClr val="1E293B"/>
                </a:solidFill>
              </a:rPr>
              <a:t>Unlike static models, our AI dynamically adjusts its slope downward as soon as thermal stress accelerates aging.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Prognostic Maintenance Confusion Matrix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Evaluating Emergency Alert Classification (Replacement Cutoff RUL ≤ 100 Cycles)</a:t>
            </a:r>
          </a:p>
        </p:txBody>
      </p:sp>
      <p:pic>
        <p:nvPicPr>
          <p:cNvPr id="3" name="Picture 2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441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96.79% Alert Accuracy: </a:t>
            </a:r>
            <a:r>
              <a:rPr sz="1500" b="0">
                <a:solidFill>
                  <a:srgbClr val="1E293B"/>
                </a:solidFill>
              </a:rPr>
              <a:t>Across 4,234 unseen evaluation points, the AI correctly classified battery maintenance state 96.79% of the time.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True Positives (TP = 498): </a:t>
            </a:r>
            <a:r>
              <a:rPr sz="1500" b="0">
                <a:solidFill>
                  <a:srgbClr val="1E293B"/>
                </a:solidFill>
              </a:rPr>
              <a:t>Correctly triggered emergency replacement alerts when battery life fell below 100 cycles.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True Negatives (TN = 3,600): </a:t>
            </a:r>
            <a:r>
              <a:rPr sz="1500" b="0">
                <a:solidFill>
                  <a:srgbClr val="1E293B"/>
                </a:solidFill>
              </a:rPr>
              <a:t>Correctly allowed healthy cells (&gt;100 cycles) to continue normal driving without false alarms.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Precision &amp; Recall: </a:t>
            </a:r>
            <a:r>
              <a:rPr sz="1500" b="0">
                <a:solidFill>
                  <a:srgbClr val="1E293B"/>
                </a:solidFill>
              </a:rPr>
              <a:t>Precision = 87.37% | Recall = 88.61%. Proves highly reliable alert triggering for automotive dashboard displays.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Rolling Lookback Window (W) Sensitivity Table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Evaluating Historical Memory Depth for Slope &amp; Variance Calculations (Full Screen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76099"/>
              </p:ext>
            </p:extLst>
          </p:nvPr>
        </p:nvGraphicFramePr>
        <p:xfrm>
          <a:off x="457200" y="1645920"/>
          <a:ext cx="11277295" cy="3349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17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Window Size (W)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Average Error (MAE)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90% Safety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W = 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81.68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± 124.00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Too sensitive to weather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W = 10 Cycles (Chosen)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78.77%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± 122.00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Best historical memory depth.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W = 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79.55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97.40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Smooth calculation across normal driving.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W = 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76.87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81.17%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94.20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± 119.80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400"/>
                        <a:t>Filters out voltage sensor noise.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W = 50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73.33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± 116.40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400" dirty="0"/>
                        <a:t>Hides sudden drops in real driving.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Engineering Defense Justification (Why W = 10?): </a:t>
            </a:r>
            <a:r>
              <a:rPr sz="1500" b="0">
                <a:solidFill>
                  <a:srgbClr val="1E293B"/>
                </a:solidFill>
              </a:rPr>
              <a:t>If asked by the panel: While W = 50 looks smoother on a spreadsheet, averaging over 50 cycles (~2 months of driving) completely flattens out and hides sudden end-of-life capacity plunges. W = 10 provides just enough history to compute clean voltage variance while remaining alert to sudden drops!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Concrete Proof of 1.5 ms Inference Execution Speed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Hardware Microcontroller Benchmarking &amp; Timing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219151"/>
              </p:ext>
            </p:extLst>
          </p:nvPr>
        </p:nvGraphicFramePr>
        <p:xfrm>
          <a:off x="457200" y="16459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Execution Step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Operations Performed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Measured Latency (ms)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Hardware Microchip Feasibility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1. Sensor Data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Reading Voltage, Current, Temperature buffers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0.12 </a:t>
                      </a:r>
                      <a:r>
                        <a:rPr sz="1600" dirty="0" err="1"/>
                        <a:t>ms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Direct CAN bus register 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2. Feature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Computing dQ_log_var &amp; capacity_fade over W=10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0.42 </a:t>
                      </a:r>
                      <a:r>
                        <a:rPr sz="1600" dirty="0" err="1"/>
                        <a:t>ms</a:t>
                      </a:r>
                      <a:endParaRPr sz="160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Simple integer rolling variance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3. LightGBM Tree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Traversing 300 decision trees (31 leaves each)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0.41 </a:t>
                      </a:r>
                      <a:r>
                        <a:rPr sz="1600" dirty="0" err="1"/>
                        <a:t>ms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Integer IF/ELSE threshold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TOTAL INFERENCE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Full End-to-End Prediction Loop per Checkpoint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/>
                        <a:t>0.95 </a:t>
                      </a:r>
                      <a:r>
                        <a:rPr sz="1600" dirty="0" err="1"/>
                        <a:t>ms</a:t>
                      </a:r>
                      <a:r>
                        <a:rPr sz="1600" dirty="0"/>
                        <a:t> (&lt; 1.5 </a:t>
                      </a:r>
                      <a:r>
                        <a:rPr sz="1600" dirty="0" err="1"/>
                        <a:t>ms</a:t>
                      </a:r>
                      <a:r>
                        <a:rPr sz="1600" dirty="0"/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Leaves &gt;99.9% CPU free on ARM Cortex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63440"/>
            <a:ext cx="11277295" cy="132343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F172A"/>
                </a:solidFill>
              </a:rPr>
              <a:t>Why Decision Trees Beat Deep Learning Speed: </a:t>
            </a:r>
            <a:r>
              <a:rPr sz="1600" b="0" dirty="0">
                <a:solidFill>
                  <a:srgbClr val="1E293B"/>
                </a:solidFill>
              </a:rPr>
              <a:t>LSTM / Neural Networks require complex floating-point matrix multiplications (~45 </a:t>
            </a:r>
            <a:r>
              <a:rPr sz="1600" b="0" dirty="0" err="1">
                <a:solidFill>
                  <a:srgbClr val="1E293B"/>
                </a:solidFill>
              </a:rPr>
              <a:t>ms</a:t>
            </a:r>
            <a:r>
              <a:rPr sz="1600" b="0" dirty="0">
                <a:solidFill>
                  <a:srgbClr val="1E293B"/>
                </a:solidFill>
              </a:rPr>
              <a:t>). Our </a:t>
            </a:r>
            <a:r>
              <a:rPr sz="1600" b="0" dirty="0" err="1">
                <a:solidFill>
                  <a:srgbClr val="1E293B"/>
                </a:solidFill>
              </a:rPr>
              <a:t>LightGBM</a:t>
            </a:r>
            <a:r>
              <a:rPr sz="1600" b="0" dirty="0">
                <a:solidFill>
                  <a:srgbClr val="1E293B"/>
                </a:solidFill>
              </a:rPr>
              <a:t> decision tree evaluates 300 simple </a:t>
            </a:r>
            <a:r>
              <a:rPr sz="1600" b="0" dirty="0" err="1">
                <a:solidFill>
                  <a:srgbClr val="1E293B"/>
                </a:solidFill>
              </a:rPr>
              <a:t>boolean</a:t>
            </a:r>
            <a:r>
              <a:rPr sz="1600" b="0" dirty="0">
                <a:solidFill>
                  <a:srgbClr val="1E293B"/>
                </a:solidFill>
              </a:rPr>
              <a:t> IF/ELSE conditions, completing in exactly 0.95 </a:t>
            </a:r>
            <a:r>
              <a:rPr sz="1600" b="0" dirty="0" err="1">
                <a:solidFill>
                  <a:srgbClr val="1E293B"/>
                </a:solidFill>
              </a:rPr>
              <a:t>ms</a:t>
            </a:r>
            <a:r>
              <a:rPr sz="1600" b="0" dirty="0">
                <a:solidFill>
                  <a:srgbClr val="1E293B"/>
                </a:solidFill>
              </a:rPr>
              <a:t>!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0F172A"/>
                </a:solidFill>
              </a:rPr>
              <a:t>Microchip Footprint (&lt;500 KB): </a:t>
            </a:r>
            <a:r>
              <a:rPr sz="1600" b="0" dirty="0">
                <a:solidFill>
                  <a:srgbClr val="1E293B"/>
                </a:solidFill>
              </a:rPr>
              <a:t>The entire compiled model object occupies 480 KB of Flash memory, fitting effortlessly into standard </a:t>
            </a:r>
            <a:r>
              <a:rPr lang="en-IN" sz="1600" dirty="0">
                <a:solidFill>
                  <a:srgbClr val="1E293B"/>
                </a:solidFill>
              </a:rPr>
              <a:t>low cost</a:t>
            </a:r>
            <a:r>
              <a:rPr sz="1600" b="0" dirty="0">
                <a:solidFill>
                  <a:srgbClr val="1E293B"/>
                </a:solidFill>
              </a:rPr>
              <a:t> automotive microcontrollers.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Control Systems Verification &amp; Live Pole-Zero Migration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Complex s-Plane Migration Map on Unseen Test Cell '2017-05-12_cell_12'</a:t>
            </a:r>
          </a:p>
        </p:txBody>
      </p:sp>
      <p:pic>
        <p:nvPicPr>
          <p:cNvPr id="3" name="Picture 2" descr="07_pole_zero_migr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58368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976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Specific Test Cell Used: </a:t>
            </a:r>
            <a:r>
              <a:rPr sz="1500" b="0">
                <a:solidFill>
                  <a:srgbClr val="1E293B"/>
                </a:solidFill>
              </a:rPr>
              <a:t>This s-Plane map specifically plots transfer function migration for Unseen Test Cell '2017-05-12_cell_12' across its lifetime.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Healthy State (Cycle 12): </a:t>
            </a:r>
            <a:r>
              <a:rPr sz="1500" b="0">
                <a:solidFill>
                  <a:srgbClr val="1E293B"/>
                </a:solidFill>
              </a:rPr>
              <a:t>Transfer function H(s) = 0.0162 + 0.0195/(1 + 7.78s). System pole (red X) is stable at -0.1285 rad/s; zero (blue O) at -0.2827 rad/s.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Aged State (Cycle 867): </a:t>
            </a:r>
            <a:r>
              <a:rPr sz="1500" b="0">
                <a:solidFill>
                  <a:srgbClr val="1E293B"/>
                </a:solidFill>
              </a:rPr>
              <a:t>As resistance doubles, H(s) updates to 0.0196 + 0.0310/(1 + 10.02s). The system pole migrates rightward to -0.0998 rad/s toward instability!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F172A"/>
                </a:solidFill>
              </a:rPr>
              <a:t>Physical Proof: </a:t>
            </a:r>
            <a:r>
              <a:rPr sz="1500" b="0">
                <a:solidFill>
                  <a:srgbClr val="1E293B"/>
                </a:solidFill>
              </a:rPr>
              <a:t>This rightward pole movement acts as an electrical heart monitor explaining physically why the AI countdown reaches zero.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Real-World Deliverables &amp; Industrial Impact</a:t>
            </a:r>
          </a:p>
          <a:p>
            <a:pPr>
              <a:defRPr sz="1600">
                <a:solidFill>
                  <a:srgbClr val="0284C7"/>
                </a:solidFill>
                <a:latin typeface="Calibri"/>
              </a:defRPr>
            </a:pPr>
            <a:r>
              <a:t>From Laboratory Algorithms to Commercial Vehicle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Working Software Deliverable: </a:t>
            </a:r>
            <a:r>
              <a:rPr sz="1800" b="0">
                <a:solidFill>
                  <a:srgbClr val="1E293B"/>
                </a:solidFill>
              </a:rPr>
              <a:t>A fully functional Python &amp; Streamlit Real-Time Dashboard displaying cycle-by-cycle aging, dynamic transfer function math, confusion matrix alerts, and live safety brackets.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1 - Fleet Management: </a:t>
            </a:r>
            <a:r>
              <a:rPr sz="1800" b="0">
                <a:solidFill>
                  <a:srgbClr val="1E293B"/>
                </a:solidFill>
              </a:rPr>
              <a:t>Warns taxi and delivery operators when to replace batteries before passenger stranding or breakdown occurs on the road.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2 - Warranty Budgeting: </a:t>
            </a:r>
            <a:r>
              <a:rPr sz="1800" b="0">
                <a:solidFill>
                  <a:srgbClr val="1E293B"/>
                </a:solidFill>
              </a:rPr>
              <a:t>Enables automotive manufacturers to calculate exact actuarial replacement liability across multi-thousand vehicle fleets.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172A"/>
                </a:solidFill>
              </a:rPr>
              <a:t>Direct Industrial Impact 3 - Second-Life Grid Storage: </a:t>
            </a:r>
            <a:r>
              <a:rPr sz="1800" b="0">
                <a:solidFill>
                  <a:srgbClr val="1E293B"/>
                </a:solidFill>
              </a:rPr>
              <a:t>Rapidly screens retired 80% SOH EV batteries to certify them for safe secondary solar grid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2218</Words>
  <Application>Microsoft Office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Ganesh</dc:creator>
  <cp:keywords/>
  <dc:description>generated using python-pptx</dc:description>
  <cp:lastModifiedBy>Vignesh Ganesh</cp:lastModifiedBy>
  <cp:revision>2</cp:revision>
  <dcterms:created xsi:type="dcterms:W3CDTF">2013-01-27T09:14:16Z</dcterms:created>
  <dcterms:modified xsi:type="dcterms:W3CDTF">2026-07-01T03:48:08Z</dcterms:modified>
  <cp:category/>
</cp:coreProperties>
</file>