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2192596"/>
            <a:ext cx="10362895" cy="1795363"/>
          </a:xfrm>
          <a:prstGeom prst="rect">
            <a:avLst/>
          </a:prstGeom>
          <a:noFill/>
        </p:spPr>
        <p:txBody>
          <a:bodyPr wrap="square">
            <a:spAutoFit/>
          </a:bodyPr>
          <a:lstStyle/>
          <a:p>
            <a:pPr algn="ctr">
              <a:defRPr sz="3600" b="1">
                <a:solidFill>
                  <a:srgbClr val="FFFFFF"/>
                </a:solidFill>
              </a:defRPr>
            </a:pPr>
            <a:r>
              <a:rPr dirty="0">
                <a:solidFill>
                  <a:srgbClr val="0F172A"/>
                </a:solidFill>
              </a:rPr>
              <a:t>Dynamic Remaining Useful Life (RUL) Prediction</a:t>
            </a:r>
            <a:br>
              <a:rPr dirty="0">
                <a:solidFill>
                  <a:srgbClr val="0F172A"/>
                </a:solidFill>
              </a:rPr>
            </a:br>
            <a:r>
              <a:rPr dirty="0">
                <a:solidFill>
                  <a:srgbClr val="0F172A"/>
                </a:solidFill>
              </a:rPr>
              <a:t>for LFP Batteries in Electric Vehicles</a:t>
            </a:r>
          </a:p>
          <a:p>
            <a:pPr algn="ctr">
              <a:spcBef>
                <a:spcPts val="2000"/>
              </a:spcBef>
              <a:defRPr sz="2200">
                <a:solidFill>
                  <a:srgbClr val="38BDF8"/>
                </a:solidFill>
              </a:defRPr>
            </a:pPr>
            <a:r>
              <a:rPr dirty="0"/>
              <a:t>A Machine Learning Approach for Real-Time EV Prognostics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430887"/>
          </a:xfrm>
          <a:prstGeom prst="rect">
            <a:avLst/>
          </a:prstGeom>
          <a:noFill/>
        </p:spPr>
        <p:txBody>
          <a:bodyPr wrap="square" lIns="0" tIns="0" rIns="0" bIns="0">
            <a:spAutoFit/>
          </a:bodyPr>
          <a:lstStyle/>
          <a:p>
            <a:pPr>
              <a:defRPr sz="2800" b="1">
                <a:solidFill>
                  <a:srgbClr val="0F172A"/>
                </a:solidFill>
                <a:latin typeface="Calibri"/>
              </a:defRPr>
            </a:pPr>
            <a:r>
              <a:rPr dirty="0"/>
              <a:t>What is RUL &amp; Why is it Critical?</a:t>
            </a:r>
          </a:p>
        </p:txBody>
      </p:sp>
      <p:sp>
        <p:nvSpPr>
          <p:cNvPr id="3" name="Rounded Rectangle 2"/>
          <p:cNvSpPr/>
          <p:nvPr/>
        </p:nvSpPr>
        <p:spPr>
          <a:xfrm>
            <a:off x="548640" y="1645920"/>
            <a:ext cx="3474720" cy="4572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What is RUL?</a:t>
            </a:r>
          </a:p>
          <a:p>
            <a:pPr>
              <a:defRPr sz="1500">
                <a:solidFill>
                  <a:srgbClr val="1E293B"/>
                </a:solidFill>
                <a:latin typeface="Calibri"/>
              </a:defRPr>
            </a:pPr>
            <a:r>
              <a:t>Remaining Useful Life is the exact number of charge/discharge cycles remaining before an EV battery degrades to its end of life retirement threshold (80% State of Health).</a:t>
            </a:r>
          </a:p>
        </p:txBody>
      </p:sp>
      <p:sp>
        <p:nvSpPr>
          <p:cNvPr id="5" name="Rounded Rectangle 4"/>
          <p:cNvSpPr/>
          <p:nvPr/>
        </p:nvSpPr>
        <p:spPr>
          <a:xfrm>
            <a:off x="4297680" y="1645920"/>
            <a:ext cx="3474720" cy="45720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80560" y="1920240"/>
            <a:ext cx="3108960" cy="1733808"/>
          </a:xfrm>
          <a:prstGeom prst="rect">
            <a:avLst/>
          </a:prstGeom>
          <a:noFill/>
        </p:spPr>
        <p:txBody>
          <a:bodyPr wrap="square">
            <a:spAutoFit/>
          </a:bodyPr>
          <a:lstStyle/>
          <a:p>
            <a:pPr>
              <a:spcAft>
                <a:spcPts val="1400"/>
              </a:spcAft>
              <a:defRPr sz="2000" b="1">
                <a:solidFill>
                  <a:srgbClr val="0F172A"/>
                </a:solidFill>
                <a:latin typeface="Calibri"/>
              </a:defRPr>
            </a:pPr>
            <a:r>
              <a:rPr dirty="0"/>
              <a:t>Why is it Needed?</a:t>
            </a:r>
          </a:p>
          <a:p>
            <a:pPr>
              <a:defRPr sz="1500">
                <a:solidFill>
                  <a:srgbClr val="1E293B"/>
                </a:solidFill>
                <a:latin typeface="Calibri"/>
              </a:defRPr>
            </a:pPr>
            <a:r>
              <a:rPr dirty="0"/>
              <a:t>EV drivers constantly face 'Range Anxiety' and sudden battery failures. Traditional BMS only measure current state</a:t>
            </a:r>
            <a:r>
              <a:rPr lang="en-IN" dirty="0"/>
              <a:t>,</a:t>
            </a:r>
            <a:r>
              <a:rPr dirty="0"/>
              <a:t> they can't warn drivers when the battery will permanently fail. </a:t>
            </a:r>
          </a:p>
        </p:txBody>
      </p:sp>
      <p:sp>
        <p:nvSpPr>
          <p:cNvPr id="7" name="Rounded Rectangle 6"/>
          <p:cNvSpPr/>
          <p:nvPr/>
        </p:nvSpPr>
        <p:spPr>
          <a:xfrm>
            <a:off x="8046720" y="1645920"/>
            <a:ext cx="3566160" cy="45720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0" y="1920240"/>
            <a:ext cx="3200400" cy="2195473"/>
          </a:xfrm>
          <a:prstGeom prst="rect">
            <a:avLst/>
          </a:prstGeom>
          <a:noFill/>
        </p:spPr>
        <p:txBody>
          <a:bodyPr wrap="square">
            <a:spAutoFit/>
          </a:bodyPr>
          <a:lstStyle/>
          <a:p>
            <a:pPr>
              <a:spcAft>
                <a:spcPts val="1400"/>
              </a:spcAft>
              <a:defRPr sz="2000" b="1">
                <a:solidFill>
                  <a:srgbClr val="FFFFFF"/>
                </a:solidFill>
                <a:latin typeface="Calibri"/>
              </a:defRPr>
            </a:pPr>
            <a:r>
              <a:rPr dirty="0"/>
              <a:t>What We're Doing</a:t>
            </a:r>
          </a:p>
          <a:p>
            <a:pPr>
              <a:defRPr sz="1500">
                <a:solidFill>
                  <a:srgbClr val="FFFFFF"/>
                </a:solidFill>
                <a:latin typeface="Calibri"/>
              </a:defRPr>
            </a:pPr>
            <a:r>
              <a:rPr dirty="0"/>
              <a:t>We're building a Dynamic AI Predictive Dashboard that continuously monitors vehicle sensor data while driving</a:t>
            </a:r>
            <a:r>
              <a:rPr lang="en-IN" dirty="0"/>
              <a:t>,</a:t>
            </a:r>
            <a:r>
              <a:rPr dirty="0"/>
              <a:t> forecasting the exact remaining lifespan and providing a mathematically guaranteed worst-case safety warning window.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Problem Statement &amp; Industrial Need</a:t>
            </a:r>
          </a:p>
          <a:p>
            <a:pPr>
              <a:defRPr sz="1600">
                <a:solidFill>
                  <a:srgbClr val="0284C7"/>
                </a:solidFill>
                <a:latin typeface="Calibri"/>
              </a:defRPr>
            </a:pPr>
            <a:r>
              <a:t>Overcoming Blind Single-Point AI Predictions in Electric Vehicle BMS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800" b="1">
                <a:solidFill>
                  <a:srgbClr val="0F172A"/>
                </a:solidFill>
              </a:rPr>
              <a:t>The Automotive Problem: </a:t>
            </a:r>
            <a:r>
              <a:rPr sz="1800" b="0">
                <a:solidFill>
                  <a:srgbClr val="1E293B"/>
                </a:solidFill>
              </a:rPr>
              <a:t>Standard EV battery systems assume capacity fades in a linear straight line. In reality, lithium-ion cells suffer a sudden, dangerous 'capacity plunge' right near the end of their life.</a:t>
            </a:r>
          </a:p>
          <a:p>
            <a:pPr>
              <a:spcAft>
                <a:spcPts val="1200"/>
              </a:spcAft>
            </a:pPr>
            <a:r>
              <a:rPr sz="1800" b="1">
                <a:solidFill>
                  <a:srgbClr val="0F172A"/>
                </a:solidFill>
              </a:rPr>
              <a:t>Why Normal AI Fails: </a:t>
            </a:r>
            <a:r>
              <a:rPr sz="1800" b="0">
                <a:solidFill>
                  <a:srgbClr val="1E293B"/>
                </a:solidFill>
              </a:rPr>
              <a:t>Standard machine learning gives a blind single guess without any safety warning or confidence bounds. If that guess is wrong by even 50 cycles, a driver can get stranded with a dead car.</a:t>
            </a:r>
          </a:p>
          <a:p>
            <a:pPr>
              <a:spcAft>
                <a:spcPts val="1200"/>
              </a:spcAft>
            </a:pPr>
            <a:r>
              <a:rPr sz="1800" b="1">
                <a:solidFill>
                  <a:srgbClr val="0F172A"/>
                </a:solidFill>
              </a:rPr>
              <a:t>Our Industrial Solution: </a:t>
            </a:r>
            <a:r>
              <a:rPr sz="1800" b="0">
                <a:solidFill>
                  <a:srgbClr val="1E293B"/>
                </a:solidFill>
              </a:rPr>
              <a:t>A dynamic tracking dashboard that polls vehicle telemetry every 5 cycles while driving, combining regularized LightGBM decision trees with physical electrical equations and a guaranteed 90% Conformal Prediction safety window.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430887"/>
          </a:xfrm>
          <a:prstGeom prst="rect">
            <a:avLst/>
          </a:prstGeom>
          <a:noFill/>
        </p:spPr>
        <p:txBody>
          <a:bodyPr wrap="square" lIns="0" tIns="0" rIns="0" bIns="0">
            <a:spAutoFit/>
          </a:bodyPr>
          <a:lstStyle/>
          <a:p>
            <a:pPr>
              <a:defRPr sz="2800" b="1">
                <a:solidFill>
                  <a:srgbClr val="0F172A"/>
                </a:solidFill>
                <a:latin typeface="Calibri"/>
              </a:defRPr>
            </a:pPr>
            <a:r>
              <a:rPr dirty="0"/>
              <a:t>Base Paper Comparison &amp; Our Core Contributions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700" b="1">
                <a:solidFill>
                  <a:srgbClr val="0F172A"/>
                </a:solidFill>
              </a:rPr>
              <a:t>Base Benchmark Paper: </a:t>
            </a:r>
            <a:r>
              <a:rPr sz="1700" b="0">
                <a:solidFill>
                  <a:srgbClr val="1E293B"/>
                </a:solidFill>
              </a:rPr>
              <a:t>Severson et al., 'Data-driven prediction of battery cycle life before capacity degradation', Nature Energy (2019).</a:t>
            </a:r>
          </a:p>
          <a:p>
            <a:pPr>
              <a:spcAft>
                <a:spcPts val="1200"/>
              </a:spcAft>
            </a:pPr>
            <a:r>
              <a:rPr sz="1700" b="1">
                <a:solidFill>
                  <a:srgbClr val="0F172A"/>
                </a:solidFill>
              </a:rPr>
              <a:t>Base Paper Limitation: </a:t>
            </a:r>
            <a:r>
              <a:rPr sz="1700" b="0">
                <a:solidFill>
                  <a:srgbClr val="1E293B"/>
                </a:solidFill>
              </a:rPr>
              <a:t>They took a single static snapshot of early life (Cycles 10–100) and made one lifetime guess. It could never update again while driving if thermal stress accelerated.</a:t>
            </a:r>
          </a:p>
          <a:p>
            <a:pPr>
              <a:spcAft>
                <a:spcPts val="1200"/>
              </a:spcAft>
            </a:pPr>
            <a:r>
              <a:rPr sz="1700" b="1">
                <a:solidFill>
                  <a:srgbClr val="0F172A"/>
                </a:solidFill>
              </a:rPr>
              <a:t>Our Improvement 1 - Dynamic Real-Time Tracking: </a:t>
            </a:r>
            <a:r>
              <a:rPr sz="1700" b="0">
                <a:solidFill>
                  <a:srgbClr val="1E293B"/>
                </a:solidFill>
              </a:rPr>
              <a:t>We poll telemetry checkpoints every 5 cycles to continuously update remaining lifespan while driving.</a:t>
            </a:r>
          </a:p>
          <a:p>
            <a:pPr>
              <a:spcAft>
                <a:spcPts val="1200"/>
              </a:spcAft>
            </a:pPr>
            <a:r>
              <a:rPr sz="1700" b="1">
                <a:solidFill>
                  <a:srgbClr val="0F172A"/>
                </a:solidFill>
              </a:rPr>
              <a:t>Our Improvement 2 - Guaranteed Safety Margins: </a:t>
            </a:r>
            <a:r>
              <a:rPr sz="1700" b="0">
                <a:solidFill>
                  <a:srgbClr val="1E293B"/>
                </a:solidFill>
              </a:rPr>
              <a:t>Instead of a raw guess, we provide a 90% Conformal Prediction safety bracket giving a known worst-case maintenance window.</a:t>
            </a:r>
          </a:p>
          <a:p>
            <a:pPr>
              <a:spcAft>
                <a:spcPts val="1200"/>
              </a:spcAft>
            </a:pPr>
            <a:r>
              <a:rPr sz="1700" b="1">
                <a:solidFill>
                  <a:srgbClr val="0F172A"/>
                </a:solidFill>
              </a:rPr>
              <a:t>Our Improvement 3 - True Unseen Validation: </a:t>
            </a:r>
            <a:r>
              <a:rPr sz="1700" b="0">
                <a:solidFill>
                  <a:srgbClr val="1E293B"/>
                </a:solidFill>
              </a:rPr>
              <a:t>We used Grouped Leave-Cells-Out validation so the AI is tested on completely hidden EV batteries.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 Light Gradient Boosting Machine</a:t>
            </a:r>
          </a:p>
          <a:p>
            <a:pPr>
              <a:defRPr sz="1600">
                <a:solidFill>
                  <a:srgbClr val="0284C7"/>
                </a:solidFill>
                <a:latin typeface="Calibri"/>
              </a:defRPr>
            </a:pPr>
            <a:r>
              <a:t>Sequential error correction optimized specifically for tabular sensor data</a:t>
            </a:r>
          </a:p>
        </p:txBody>
      </p:sp>
      <p:sp>
        <p:nvSpPr>
          <p:cNvPr id="3" name="Rounded Rectangle 2"/>
          <p:cNvSpPr/>
          <p:nvPr/>
        </p:nvSpPr>
        <p:spPr>
          <a:xfrm>
            <a:off x="594360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0" y="1737360"/>
            <a:ext cx="1188720" cy="731520"/>
          </a:xfrm>
          <a:prstGeom prst="rect">
            <a:avLst/>
          </a:prstGeom>
          <a:noFill/>
        </p:spPr>
        <p:txBody>
          <a:bodyPr wrap="square">
            <a:spAutoFit/>
          </a:bodyPr>
          <a:lstStyle/>
          <a:p>
            <a:pPr algn="ctr">
              <a:defRPr sz="1600" b="1">
                <a:solidFill>
                  <a:srgbClr val="FFFFFF"/>
                </a:solidFill>
              </a:defRPr>
            </a:pPr>
            <a:r>
              <a:t>Tree 1</a:t>
            </a:r>
          </a:p>
        </p:txBody>
      </p:sp>
      <p:sp>
        <p:nvSpPr>
          <p:cNvPr id="5" name="Rounded Rectangle 4"/>
          <p:cNvSpPr/>
          <p:nvPr/>
        </p:nvSpPr>
        <p:spPr>
          <a:xfrm>
            <a:off x="7498079"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79" y="1737360"/>
            <a:ext cx="1188720" cy="731520"/>
          </a:xfrm>
          <a:prstGeom prst="rect">
            <a:avLst/>
          </a:prstGeom>
          <a:noFill/>
        </p:spPr>
        <p:txBody>
          <a:bodyPr wrap="square">
            <a:spAutoFit/>
          </a:bodyPr>
          <a:lstStyle/>
          <a:p>
            <a:pPr algn="ctr">
              <a:defRPr sz="1600" b="1">
                <a:solidFill>
                  <a:srgbClr val="FFFFFF"/>
                </a:solidFill>
              </a:defRPr>
            </a:pPr>
            <a:r>
              <a:t>Tree 2</a:t>
            </a:r>
          </a:p>
        </p:txBody>
      </p:sp>
      <p:sp>
        <p:nvSpPr>
          <p:cNvPr id="7" name="Rounded Rectangle 6"/>
          <p:cNvSpPr/>
          <p:nvPr/>
        </p:nvSpPr>
        <p:spPr>
          <a:xfrm>
            <a:off x="905256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0" y="1737360"/>
            <a:ext cx="1188720" cy="731520"/>
          </a:xfrm>
          <a:prstGeom prst="rect">
            <a:avLst/>
          </a:prstGeom>
          <a:noFill/>
        </p:spPr>
        <p:txBody>
          <a:bodyPr wrap="square">
            <a:spAutoFit/>
          </a:bodyPr>
          <a:lstStyle/>
          <a:p>
            <a:pPr algn="ctr">
              <a:defRPr sz="1600" b="1">
                <a:solidFill>
                  <a:srgbClr val="FFFFFF"/>
                </a:solidFill>
              </a:defRPr>
            </a:pPr>
            <a:r>
              <a:t>Tree 3</a:t>
            </a:r>
          </a:p>
        </p:txBody>
      </p:sp>
      <p:sp>
        <p:nvSpPr>
          <p:cNvPr id="9" name="Rounded Rectangle 8"/>
          <p:cNvSpPr/>
          <p:nvPr/>
        </p:nvSpPr>
        <p:spPr>
          <a:xfrm>
            <a:off x="10607040" y="1645920"/>
            <a:ext cx="1188720" cy="9144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0" y="1737360"/>
            <a:ext cx="1188720" cy="731520"/>
          </a:xfrm>
          <a:prstGeom prst="rect">
            <a:avLst/>
          </a:prstGeom>
          <a:noFill/>
        </p:spPr>
        <p:txBody>
          <a:bodyPr wrap="square">
            <a:spAutoFit/>
          </a:bodyPr>
          <a:lstStyle/>
          <a:p>
            <a:pPr algn="ctr">
              <a:defRPr sz="1600" b="1">
                <a:solidFill>
                  <a:srgbClr val="FFFFFF"/>
                </a:solidFill>
              </a:defRPr>
            </a:pPr>
            <a:r>
              <a:t>Tree N</a:t>
            </a:r>
          </a:p>
        </p:txBody>
      </p:sp>
      <p:sp>
        <p:nvSpPr>
          <p:cNvPr id="11" name="TextBox 10"/>
          <p:cNvSpPr txBox="1"/>
          <p:nvPr/>
        </p:nvSpPr>
        <p:spPr>
          <a:xfrm>
            <a:off x="7178040" y="1828800"/>
            <a:ext cx="365760" cy="548640"/>
          </a:xfrm>
          <a:prstGeom prst="rect">
            <a:avLst/>
          </a:prstGeom>
          <a:noFill/>
        </p:spPr>
        <p:txBody>
          <a:bodyPr wrap="none">
            <a:spAutoFit/>
          </a:bodyPr>
          <a:lstStyle/>
          <a:p>
            <a:pPr>
              <a:defRPr sz="2400" b="1">
                <a:solidFill>
                  <a:srgbClr val="0D9488"/>
                </a:solidFill>
              </a:defRPr>
            </a:pPr>
            <a:r>
              <a:t>→</a:t>
            </a:r>
          </a:p>
        </p:txBody>
      </p:sp>
      <p:sp>
        <p:nvSpPr>
          <p:cNvPr id="12" name="TextBox 11"/>
          <p:cNvSpPr txBox="1"/>
          <p:nvPr/>
        </p:nvSpPr>
        <p:spPr>
          <a:xfrm>
            <a:off x="8732520" y="1828800"/>
            <a:ext cx="365760" cy="548640"/>
          </a:xfrm>
          <a:prstGeom prst="rect">
            <a:avLst/>
          </a:prstGeom>
          <a:noFill/>
        </p:spPr>
        <p:txBody>
          <a:bodyPr wrap="none">
            <a:spAutoFit/>
          </a:bodyPr>
          <a:lstStyle/>
          <a:p>
            <a:pPr>
              <a:defRPr sz="2400" b="1">
                <a:solidFill>
                  <a:srgbClr val="0D9488"/>
                </a:solidFill>
              </a:defRPr>
            </a:pPr>
            <a:r>
              <a:t>→</a:t>
            </a:r>
          </a:p>
        </p:txBody>
      </p:sp>
      <p:sp>
        <p:nvSpPr>
          <p:cNvPr id="13" name="TextBox 12"/>
          <p:cNvSpPr txBox="1"/>
          <p:nvPr/>
        </p:nvSpPr>
        <p:spPr>
          <a:xfrm>
            <a:off x="10287000" y="1828800"/>
            <a:ext cx="365760" cy="548640"/>
          </a:xfrm>
          <a:prstGeom prst="rect">
            <a:avLst/>
          </a:prstGeom>
          <a:noFill/>
        </p:spPr>
        <p:txBody>
          <a:bodyPr wrap="none">
            <a:spAutoFit/>
          </a:bodyPr>
          <a:lstStyle/>
          <a:p>
            <a:pPr>
              <a:defRPr sz="2400" b="1">
                <a:solidFill>
                  <a:srgbClr val="0D9488"/>
                </a:solidFill>
              </a:defRPr>
            </a:pPr>
            <a:r>
              <a:t>→</a:t>
            </a:r>
          </a:p>
        </p:txBody>
      </p:sp>
      <p:sp>
        <p:nvSpPr>
          <p:cNvPr id="14" name="TextBox 13"/>
          <p:cNvSpPr txBox="1"/>
          <p:nvPr/>
        </p:nvSpPr>
        <p:spPr>
          <a:xfrm>
            <a:off x="5943600" y="2651760"/>
            <a:ext cx="5852160" cy="457200"/>
          </a:xfrm>
          <a:prstGeom prst="rect">
            <a:avLst/>
          </a:prstGeom>
          <a:noFill/>
        </p:spPr>
        <p:txBody>
          <a:bodyPr wrap="none">
            <a:spAutoFit/>
          </a:bodyPr>
          <a:lstStyle/>
          <a:p>
            <a:pPr>
              <a:defRPr sz="1300" i="1">
                <a:solidFill>
                  <a:srgbClr val="475569"/>
                </a:solidFill>
              </a:defRPr>
            </a:pPr>
            <a:r>
              <a:t>Each tree learns from the residual error of the trees before it.</a:t>
            </a:r>
          </a:p>
        </p:txBody>
      </p:sp>
      <p:sp>
        <p:nvSpPr>
          <p:cNvPr id="15" name="TextBox 14"/>
          <p:cNvSpPr txBox="1"/>
          <p:nvPr/>
        </p:nvSpPr>
        <p:spPr>
          <a:xfrm>
            <a:off x="548640" y="1645920"/>
            <a:ext cx="5120640" cy="2286000"/>
          </a:xfrm>
          <a:prstGeom prst="rect">
            <a:avLst/>
          </a:prstGeom>
          <a:noFill/>
        </p:spPr>
        <p:txBody>
          <a:bodyPr wrap="square" tIns="91440" bIns="91440">
            <a:spAutoFit/>
          </a:bodyPr>
          <a:lstStyle/>
          <a:p>
            <a:pPr>
              <a:spcAft>
                <a:spcPts val="1200"/>
              </a:spcAft>
            </a:pPr>
            <a:r>
              <a:rPr sz="1500" b="1">
                <a:solidFill>
                  <a:srgbClr val="0F172A"/>
                </a:solidFill>
              </a:rPr>
              <a:t>How it learns: </a:t>
            </a:r>
            <a:r>
              <a:rPr sz="1500" b="0">
                <a:solidFill>
                  <a:srgbClr val="1E293B"/>
                </a:solidFill>
              </a:rPr>
              <a:t>Builds hundreds of sequential Decision Trees.</a:t>
            </a:r>
          </a:p>
          <a:p>
            <a:pPr>
              <a:spcAft>
                <a:spcPts val="1200"/>
              </a:spcAft>
            </a:pPr>
            <a:r>
              <a:rPr sz="1500" b="1">
                <a:solidFill>
                  <a:srgbClr val="0F172A"/>
                </a:solidFill>
              </a:rPr>
              <a:t>Gradient Boosting: </a:t>
            </a:r>
            <a:r>
              <a:rPr sz="1500" b="0">
                <a:solidFill>
                  <a:srgbClr val="1E293B"/>
                </a:solidFill>
              </a:rPr>
              <a:t>Each new tree is mathematically designed to correct the residual errors made by the previous tree.</a:t>
            </a:r>
          </a:p>
          <a:p>
            <a:pPr>
              <a:spcAft>
                <a:spcPts val="1200"/>
              </a:spcAft>
            </a:pPr>
            <a:r>
              <a:rPr sz="1500" b="1">
                <a:solidFill>
                  <a:srgbClr val="0F172A"/>
                </a:solidFill>
              </a:rPr>
              <a:t>High Efficiency: </a:t>
            </a:r>
            <a:r>
              <a:rPr sz="1500" b="0">
                <a:solidFill>
                  <a:srgbClr val="1E293B"/>
                </a:solidFill>
              </a:rPr>
              <a:t>Neural networks are computationally heavy. LightGBM runs in under 1 millisecond on car microcontrollers.</a:t>
            </a:r>
          </a:p>
        </p:txBody>
      </p:sp>
      <p:sp>
        <p:nvSpPr>
          <p:cNvPr id="16" name="Rounded Rectangle 15"/>
          <p:cNvSpPr/>
          <p:nvPr/>
        </p:nvSpPr>
        <p:spPr>
          <a:xfrm>
            <a:off x="548640" y="3931920"/>
            <a:ext cx="5120640" cy="256032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206240"/>
            <a:ext cx="4754880" cy="2194560"/>
          </a:xfrm>
          <a:prstGeom prst="rect">
            <a:avLst/>
          </a:prstGeom>
          <a:noFill/>
        </p:spPr>
        <p:txBody>
          <a:bodyPr wrap="square">
            <a:spAutoFit/>
          </a:bodyPr>
          <a:lstStyle/>
          <a:p>
            <a:pPr>
              <a:spcAft>
                <a:spcPts val="1400"/>
              </a:spcAft>
              <a:defRPr sz="2000" b="1">
                <a:solidFill>
                  <a:srgbClr val="0F172A"/>
                </a:solidFill>
                <a:latin typeface="Calibri"/>
              </a:defRPr>
            </a:pPr>
            <a:r>
              <a:t>Validation Plan</a:t>
            </a:r>
          </a:p>
          <a:p>
            <a:pPr>
              <a:defRPr sz="1500">
                <a:solidFill>
                  <a:srgbClr val="1E293B"/>
                </a:solidFill>
                <a:latin typeface="Calibri"/>
              </a:defRPr>
            </a:pPr>
            <a:r>
              <a:t>Validated using Grouped Leave-Cells-Out Validation (GroupShuffleSplit). Of 124 batteries, 100 complete cell lifespans trained the model, while 24 randomly sampled physical batteries were locked away as strictly unseen test cases to prevent data leakage.</a:t>
            </a:r>
          </a:p>
        </p:txBody>
      </p:sp>
      <p:sp>
        <p:nvSpPr>
          <p:cNvPr id="18" name="Rounded Rectangle 17"/>
          <p:cNvSpPr/>
          <p:nvPr/>
        </p:nvSpPr>
        <p:spPr>
          <a:xfrm>
            <a:off x="5943600" y="3291840"/>
            <a:ext cx="5852160" cy="3200400"/>
          </a:xfrm>
          <a:prstGeom prst="roundRect">
            <a:avLst/>
          </a:prstGeom>
          <a:solidFill>
            <a:srgbClr val="FFFFFF"/>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0" y="3657600"/>
            <a:ext cx="2560320" cy="2286000"/>
          </a:xfrm>
          <a:prstGeom prst="rect">
            <a:avLst/>
          </a:prstGeom>
          <a:noFill/>
        </p:spPr>
        <p:txBody>
          <a:bodyPr wrap="none">
            <a:spAutoFit/>
          </a:bodyPr>
          <a:lstStyle/>
          <a:p>
            <a:pPr algn="ctr">
              <a:defRPr sz="6400" b="1">
                <a:solidFill>
                  <a:srgbClr val="0D9488"/>
                </a:solidFill>
              </a:defRPr>
            </a:pPr>
            <a:r>
              <a:t>8</a:t>
            </a:r>
          </a:p>
          <a:p>
            <a:pPr algn="ctr">
              <a:defRPr sz="1400">
                <a:solidFill>
                  <a:srgbClr val="475569"/>
                </a:solidFill>
              </a:defRPr>
            </a:pPr>
            <a:r>
              <a:t>physics features per prediction window</a:t>
            </a:r>
          </a:p>
        </p:txBody>
      </p:sp>
      <p:sp>
        <p:nvSpPr>
          <p:cNvPr id="20" name="TextBox 19"/>
          <p:cNvSpPr txBox="1"/>
          <p:nvPr/>
        </p:nvSpPr>
        <p:spPr>
          <a:xfrm>
            <a:off x="8961120" y="3657600"/>
            <a:ext cx="2560320" cy="2286000"/>
          </a:xfrm>
          <a:prstGeom prst="rect">
            <a:avLst/>
          </a:prstGeom>
          <a:noFill/>
        </p:spPr>
        <p:txBody>
          <a:bodyPr wrap="none">
            <a:spAutoFit/>
          </a:bodyPr>
          <a:lstStyle/>
          <a:p>
            <a:pPr algn="ctr">
              <a:defRPr sz="6400" b="1">
                <a:solidFill>
                  <a:srgbClr val="0D9488"/>
                </a:solidFill>
              </a:defRPr>
            </a:pPr>
            <a:r>
              <a:t>124</a:t>
            </a:r>
          </a:p>
          <a:p>
            <a:pPr algn="ctr">
              <a:defRPr sz="1400">
                <a:solidFill>
                  <a:srgbClr val="475569"/>
                </a:solidFill>
              </a:defRPr>
            </a:pPr>
            <a:r>
              <a:t>physical battery cells in the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Training &amp; Validation Flow Architecture</a:t>
            </a:r>
          </a:p>
          <a:p>
            <a:pPr>
              <a:defRPr sz="1600">
                <a:solidFill>
                  <a:srgbClr val="0284C7"/>
                </a:solidFill>
                <a:latin typeface="Calibri"/>
              </a:defRPr>
            </a:pPr>
            <a:r>
              <a:rPr lang="en-IN" dirty="0"/>
              <a:t>Shuffled </a:t>
            </a:r>
            <a:r>
              <a:rPr dirty="0"/>
              <a:t>Splitting &amp; Guaranteed Safety Brackets</a:t>
            </a:r>
          </a:p>
        </p:txBody>
      </p:sp>
      <p:sp>
        <p:nvSpPr>
          <p:cNvPr id="3" name="Rounded Rectangle 2"/>
          <p:cNvSpPr/>
          <p:nvPr/>
        </p:nvSpPr>
        <p:spPr>
          <a:xfrm>
            <a:off x="3291840" y="1463040"/>
            <a:ext cx="5577840" cy="822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91840" y="1554480"/>
            <a:ext cx="5577840" cy="640080"/>
          </a:xfrm>
          <a:prstGeom prst="rect">
            <a:avLst/>
          </a:prstGeom>
          <a:noFill/>
        </p:spPr>
        <p:txBody>
          <a:bodyPr wrap="square">
            <a:spAutoFit/>
          </a:bodyPr>
          <a:lstStyle/>
          <a:p>
            <a:pPr algn="ctr">
              <a:defRPr sz="1600" b="1">
                <a:solidFill>
                  <a:srgbClr val="FFFFFF"/>
                </a:solidFill>
              </a:defRPr>
            </a:pPr>
            <a:r>
              <a:t>124 Total Physical Batteries</a:t>
            </a:r>
          </a:p>
        </p:txBody>
      </p:sp>
      <p:sp>
        <p:nvSpPr>
          <p:cNvPr id="5" name="Rounded Rectangle 4"/>
          <p:cNvSpPr/>
          <p:nvPr/>
        </p:nvSpPr>
        <p:spPr>
          <a:xfrm>
            <a:off x="1097280" y="2651760"/>
            <a:ext cx="4754880" cy="1371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851354"/>
            <a:ext cx="4754880" cy="892552"/>
          </a:xfrm>
          <a:prstGeom prst="rect">
            <a:avLst/>
          </a:prstGeom>
          <a:noFill/>
        </p:spPr>
        <p:txBody>
          <a:bodyPr wrap="square">
            <a:spAutoFit/>
          </a:bodyPr>
          <a:lstStyle/>
          <a:p>
            <a:pPr algn="ctr">
              <a:defRPr sz="1600" b="1">
                <a:solidFill>
                  <a:srgbClr val="FFFFFF"/>
                </a:solidFill>
              </a:defRPr>
            </a:pPr>
            <a:r>
              <a:rPr dirty="0"/>
              <a:t>Training Vault</a:t>
            </a:r>
          </a:p>
          <a:p>
            <a:pPr algn="ctr">
              <a:defRPr sz="1200">
                <a:solidFill>
                  <a:srgbClr val="FFFFFF"/>
                </a:solidFill>
              </a:defRPr>
            </a:pPr>
            <a:endParaRPr lang="en-IN" dirty="0"/>
          </a:p>
          <a:p>
            <a:pPr algn="ctr">
              <a:defRPr sz="1200">
                <a:solidFill>
                  <a:srgbClr val="FFFFFF"/>
                </a:solidFill>
              </a:defRPr>
            </a:pPr>
            <a:r>
              <a:rPr dirty="0"/>
              <a:t>Contains ~100 Batteries</a:t>
            </a:r>
            <a:br>
              <a:rPr dirty="0"/>
            </a:br>
            <a:r>
              <a:rPr dirty="0"/>
              <a:t>Used to train the </a:t>
            </a:r>
            <a:r>
              <a:rPr dirty="0" err="1"/>
              <a:t>LightGBM</a:t>
            </a:r>
            <a:r>
              <a:rPr dirty="0"/>
              <a:t> algorithm • AI learns from its own mistakes</a:t>
            </a:r>
          </a:p>
        </p:txBody>
      </p:sp>
      <p:sp>
        <p:nvSpPr>
          <p:cNvPr id="7" name="Rounded Rectangle 6"/>
          <p:cNvSpPr/>
          <p:nvPr/>
        </p:nvSpPr>
        <p:spPr>
          <a:xfrm>
            <a:off x="6309360" y="2651760"/>
            <a:ext cx="4754880" cy="1371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2880850"/>
            <a:ext cx="4754880" cy="892552"/>
          </a:xfrm>
          <a:prstGeom prst="rect">
            <a:avLst/>
          </a:prstGeom>
          <a:noFill/>
        </p:spPr>
        <p:txBody>
          <a:bodyPr wrap="square">
            <a:spAutoFit/>
          </a:bodyPr>
          <a:lstStyle/>
          <a:p>
            <a:pPr algn="ctr">
              <a:defRPr sz="1600" b="1">
                <a:solidFill>
                  <a:srgbClr val="FFFFFF"/>
                </a:solidFill>
              </a:defRPr>
            </a:pPr>
            <a:r>
              <a:rPr dirty="0"/>
              <a:t>Testing Vault</a:t>
            </a:r>
          </a:p>
          <a:p>
            <a:pPr algn="ctr">
              <a:defRPr sz="1200">
                <a:solidFill>
                  <a:srgbClr val="FFFFFF"/>
                </a:solidFill>
              </a:defRPr>
            </a:pPr>
            <a:endParaRPr lang="en-IN" dirty="0"/>
          </a:p>
          <a:p>
            <a:pPr algn="ctr">
              <a:defRPr sz="1200">
                <a:solidFill>
                  <a:srgbClr val="FFFFFF"/>
                </a:solidFill>
              </a:defRPr>
            </a:pPr>
            <a:r>
              <a:rPr dirty="0"/>
              <a:t>24 strictly hidden Batteries</a:t>
            </a:r>
            <a:br>
              <a:rPr dirty="0"/>
            </a:br>
            <a:r>
              <a:rPr dirty="0"/>
              <a:t>AI never sees these during training • Pure real-world evaluation</a:t>
            </a:r>
          </a:p>
        </p:txBody>
      </p:sp>
      <p:sp>
        <p:nvSpPr>
          <p:cNvPr id="13" name="Rounded Rectangle 12"/>
          <p:cNvSpPr/>
          <p:nvPr/>
        </p:nvSpPr>
        <p:spPr>
          <a:xfrm>
            <a:off x="1097280" y="5212080"/>
            <a:ext cx="9966960" cy="11887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303520"/>
            <a:ext cx="9966960" cy="707886"/>
          </a:xfrm>
          <a:prstGeom prst="rect">
            <a:avLst/>
          </a:prstGeom>
          <a:noFill/>
        </p:spPr>
        <p:txBody>
          <a:bodyPr wrap="square">
            <a:spAutoFit/>
          </a:bodyPr>
          <a:lstStyle/>
          <a:p>
            <a:pPr algn="ctr">
              <a:defRPr sz="1600" b="1">
                <a:solidFill>
                  <a:srgbClr val="FFFFFF"/>
                </a:solidFill>
              </a:defRPr>
            </a:pPr>
            <a:r>
              <a:rPr dirty="0"/>
              <a:t>Guaranteed 90% Safety Bracket</a:t>
            </a:r>
          </a:p>
          <a:p>
            <a:pPr algn="ctr">
              <a:defRPr sz="1200">
                <a:solidFill>
                  <a:srgbClr val="FFFFFF"/>
                </a:solidFill>
              </a:defRPr>
            </a:pPr>
            <a:r>
              <a:rPr dirty="0"/>
              <a:t>Calculate </a:t>
            </a:r>
            <a:r>
              <a:rPr lang="en-IN" dirty="0"/>
              <a:t>d</a:t>
            </a:r>
            <a:r>
              <a:rPr dirty="0"/>
              <a:t> errors on unseen driving data</a:t>
            </a:r>
            <a:br>
              <a:rPr dirty="0"/>
            </a:br>
            <a:r>
              <a:rPr dirty="0"/>
              <a:t>90% of the time, real-world prediction errors are strictly within ± 122 cycles!</a:t>
            </a:r>
          </a:p>
        </p:txBody>
      </p:sp>
      <p:cxnSp>
        <p:nvCxnSpPr>
          <p:cNvPr id="16" name="Straight Arrow Connector 15">
            <a:extLst>
              <a:ext uri="{FF2B5EF4-FFF2-40B4-BE49-F238E27FC236}">
                <a16:creationId xmlns:a16="http://schemas.microsoft.com/office/drawing/2014/main" id="{A9C9DE68-B815-BEF6-4F5A-B8B181CAEE1C}"/>
              </a:ext>
            </a:extLst>
          </p:cNvPr>
          <p:cNvCxnSpPr>
            <a:stCxn id="3" idx="2"/>
            <a:endCxn id="5" idx="0"/>
          </p:cNvCxnSpPr>
          <p:nvPr/>
        </p:nvCxnSpPr>
        <p:spPr>
          <a:xfrm flipH="1">
            <a:off x="3474720" y="2286000"/>
            <a:ext cx="2606040" cy="3657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2A974A51-8E2B-6A0A-A1F3-EC60C18E1F16}"/>
              </a:ext>
            </a:extLst>
          </p:cNvPr>
          <p:cNvCxnSpPr>
            <a:stCxn id="3" idx="2"/>
            <a:endCxn id="7" idx="0"/>
          </p:cNvCxnSpPr>
          <p:nvPr/>
        </p:nvCxnSpPr>
        <p:spPr>
          <a:xfrm>
            <a:off x="6080760" y="2286000"/>
            <a:ext cx="2606040" cy="3657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Dataset Specifications &amp; Engineering Assumptions</a:t>
            </a:r>
          </a:p>
          <a:p>
            <a:pPr>
              <a:defRPr sz="1600">
                <a:solidFill>
                  <a:srgbClr val="0284C7"/>
                </a:solidFill>
                <a:latin typeface="Calibri"/>
              </a:defRPr>
            </a:pPr>
            <a:r>
              <a:t>Stanford / MIT / Toyota Research Institute Benchmark Dataset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600" b="1">
                <a:solidFill>
                  <a:srgbClr val="0F172A"/>
                </a:solidFill>
              </a:rPr>
              <a:t>Battery Cell Specs: </a:t>
            </a:r>
            <a:r>
              <a:rPr sz="1600" b="0">
                <a:solidFill>
                  <a:srgbClr val="1E293B"/>
                </a:solidFill>
              </a:rPr>
              <a:t>124 physical A123 Systems APR18650M1A Lithium Iron Phosphate (LFP) cylindrical cells (18 mm x 65 mm).</a:t>
            </a:r>
          </a:p>
          <a:p>
            <a:pPr>
              <a:spcAft>
                <a:spcPts val="1200"/>
              </a:spcAft>
            </a:pPr>
            <a:r>
              <a:rPr sz="1600" b="1">
                <a:solidFill>
                  <a:srgbClr val="0F172A"/>
                </a:solidFill>
              </a:rPr>
              <a:t>Nominal Ratings: </a:t>
            </a:r>
            <a:r>
              <a:rPr sz="1600" b="0">
                <a:solidFill>
                  <a:srgbClr val="1E293B"/>
                </a:solidFill>
              </a:rPr>
              <a:t>Capacity = 1.1 Ah; Voltage = 3.3 V (Operating range: 2.0 V to 3.6 V).</a:t>
            </a:r>
          </a:p>
          <a:p>
            <a:pPr>
              <a:spcAft>
                <a:spcPts val="1200"/>
              </a:spcAft>
            </a:pPr>
            <a:r>
              <a:rPr sz="1600" b="1">
                <a:solidFill>
                  <a:srgbClr val="0F172A"/>
                </a:solidFill>
              </a:rPr>
              <a:t>Testing Conditions: </a:t>
            </a:r>
            <a:r>
              <a:rPr sz="1600" b="0">
                <a:solidFill>
                  <a:srgbClr val="1E293B"/>
                </a:solidFill>
              </a:rPr>
              <a:t>Continuous fast-charging (1C to 6C rates) inside 30°C thermal chambers until 80% State of Health (0.88 Ah).</a:t>
            </a:r>
          </a:p>
          <a:p>
            <a:pPr>
              <a:spcAft>
                <a:spcPts val="1200"/>
              </a:spcAft>
            </a:pPr>
            <a:r>
              <a:rPr sz="1600" b="1">
                <a:solidFill>
                  <a:srgbClr val="0F172A"/>
                </a:solidFill>
              </a:rPr>
              <a:t>Unseen Test Cell Identity: </a:t>
            </a:r>
            <a:r>
              <a:rPr sz="1600" b="0">
                <a:solidFill>
                  <a:srgbClr val="1E293B"/>
                </a:solidFill>
              </a:rPr>
              <a:t>In our trajectory and control plots, we specifically highlight Unseen Test Cell '2017-05-12_cell_12' as our real-world validation proof.</a:t>
            </a:r>
          </a:p>
          <a:p>
            <a:pPr>
              <a:spcAft>
                <a:spcPts val="1200"/>
              </a:spcAft>
            </a:pPr>
            <a:r>
              <a:rPr sz="1600" b="1">
                <a:solidFill>
                  <a:srgbClr val="0F172A"/>
                </a:solidFill>
              </a:rPr>
              <a:t>Assumption 1 - 1st-Order Circuit Dominance: </a:t>
            </a:r>
            <a:r>
              <a:rPr sz="1600" b="0">
                <a:solidFill>
                  <a:srgbClr val="1E293B"/>
                </a:solidFill>
              </a:rPr>
              <a:t>We assume a 1-resistor/1-capacitor equivalent circuit captures &gt;95% of dynamic voltage response without lagging microchips.</a:t>
            </a:r>
          </a:p>
          <a:p>
            <a:pPr>
              <a:spcAft>
                <a:spcPts val="1200"/>
              </a:spcAft>
            </a:pPr>
            <a:r>
              <a:rPr sz="1600" b="1">
                <a:solidFill>
                  <a:srgbClr val="0F172A"/>
                </a:solidFill>
              </a:rPr>
              <a:t>Assumption 2 - Normalized Size Invariance: </a:t>
            </a:r>
            <a:r>
              <a:rPr sz="1600" b="0">
                <a:solidFill>
                  <a:srgbClr val="1E293B"/>
                </a:solidFill>
              </a:rPr>
              <a:t>By measuring capacity as a percentage (SOH = Q / Q_nom), our aging rules apply equally to 1.1 Ah lab cells and large 100 Ah EV battery packs.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Empirical Aging Trajectories across 124 Cells</a:t>
            </a:r>
          </a:p>
          <a:p>
            <a:pPr>
              <a:defRPr sz="1600">
                <a:solidFill>
                  <a:srgbClr val="0284C7"/>
                </a:solidFill>
                <a:latin typeface="Calibri"/>
              </a:defRPr>
            </a:pPr>
            <a:r>
              <a:t>Visualizing Non-Linear Capacity Plunge at End-of-Life</a:t>
            </a:r>
          </a:p>
        </p:txBody>
      </p:sp>
      <p:pic>
        <p:nvPicPr>
          <p:cNvPr id="3" name="Picture 2" descr="04_capacity_fade_curves.png"/>
          <p:cNvPicPr>
            <a:picLocks noChangeAspect="1"/>
          </p:cNvPicPr>
          <p:nvPr/>
        </p:nvPicPr>
        <p:blipFill>
          <a:blip r:embed="rId2"/>
          <a:stretch>
            <a:fillRect/>
          </a:stretch>
        </p:blipFill>
        <p:spPr>
          <a:xfrm>
            <a:off x="548640" y="1463040"/>
            <a:ext cx="6583680" cy="4315156"/>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600" b="1">
                <a:solidFill>
                  <a:srgbClr val="0F172A"/>
                </a:solidFill>
              </a:rPr>
              <a:t>Non-Linear Plunge: </a:t>
            </a:r>
            <a:r>
              <a:rPr sz="1600" b="0">
                <a:solidFill>
                  <a:srgbClr val="1E293B"/>
                </a:solidFill>
              </a:rPr>
              <a:t>Notice how cell trajectories stay relatively flat during mid-life before suddenly bending downward near 80% SOH.</a:t>
            </a:r>
          </a:p>
          <a:p>
            <a:pPr>
              <a:spcAft>
                <a:spcPts val="1200"/>
              </a:spcAft>
            </a:pPr>
            <a:r>
              <a:rPr sz="1600" b="1">
                <a:solidFill>
                  <a:srgbClr val="0F172A"/>
                </a:solidFill>
              </a:rPr>
              <a:t>Extreme Variance: </a:t>
            </a:r>
            <a:r>
              <a:rPr sz="1600" b="0">
                <a:solidFill>
                  <a:srgbClr val="1E293B"/>
                </a:solidFill>
              </a:rPr>
              <a:t>Fast-charging protocols cause battery failure anywhere between 500 cycles and 1,400 cycles.</a:t>
            </a:r>
          </a:p>
          <a:p>
            <a:pPr>
              <a:spcAft>
                <a:spcPts val="1200"/>
              </a:spcAft>
            </a:pPr>
            <a:r>
              <a:rPr sz="1600" b="1">
                <a:solidFill>
                  <a:srgbClr val="0F172A"/>
                </a:solidFill>
              </a:rPr>
              <a:t>Why Fixed Schedules Fail: </a:t>
            </a:r>
            <a:r>
              <a:rPr sz="1600" b="0">
                <a:solidFill>
                  <a:srgbClr val="1E293B"/>
                </a:solidFill>
              </a:rPr>
              <a:t>Replacing batteries at fixed mileage wastes healthy cells or causes unexpected road breakdowns. Dynamic tracking is mandatory.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Extraction of 8 Dynamic Physics Features</a:t>
            </a:r>
          </a:p>
          <a:p>
            <a:pPr>
              <a:defRPr sz="1600">
                <a:solidFill>
                  <a:srgbClr val="0284C7"/>
                </a:solidFill>
                <a:latin typeface="Calibri"/>
              </a:defRPr>
            </a:pPr>
            <a:r>
              <a:t>Transforming Raw Voltage Waveforms into Diagnostic Health Indicators</a:t>
            </a:r>
          </a:p>
        </p:txBody>
      </p:sp>
      <p:sp>
        <p:nvSpPr>
          <p:cNvPr id="3" name="TextBox 2"/>
          <p:cNvSpPr txBox="1"/>
          <p:nvPr/>
        </p:nvSpPr>
        <p:spPr>
          <a:xfrm>
            <a:off x="731520" y="1645920"/>
            <a:ext cx="10698480" cy="3231654"/>
          </a:xfrm>
          <a:prstGeom prst="rect">
            <a:avLst/>
          </a:prstGeom>
          <a:noFill/>
        </p:spPr>
        <p:txBody>
          <a:bodyPr wrap="square" tIns="91440" bIns="91440">
            <a:spAutoFit/>
          </a:bodyPr>
          <a:lstStyle/>
          <a:p>
            <a:pPr>
              <a:spcAft>
                <a:spcPts val="1200"/>
              </a:spcAft>
            </a:pPr>
            <a:r>
              <a:rPr sz="1600" b="1" dirty="0">
                <a:solidFill>
                  <a:srgbClr val="0F172A"/>
                </a:solidFill>
              </a:rPr>
              <a:t>1. cycle: </a:t>
            </a:r>
            <a:r>
              <a:rPr sz="1600" b="0" dirty="0">
                <a:solidFill>
                  <a:srgbClr val="1E293B"/>
                </a:solidFill>
              </a:rPr>
              <a:t>Present operational age of the battery.</a:t>
            </a:r>
          </a:p>
          <a:p>
            <a:pPr>
              <a:spcAft>
                <a:spcPts val="1200"/>
              </a:spcAft>
            </a:pPr>
            <a:r>
              <a:rPr sz="1600" b="1" dirty="0">
                <a:solidFill>
                  <a:srgbClr val="0F172A"/>
                </a:solidFill>
              </a:rPr>
              <a:t>2. SOH: </a:t>
            </a:r>
            <a:r>
              <a:rPr sz="1600" b="0" dirty="0">
                <a:solidFill>
                  <a:srgbClr val="1E293B"/>
                </a:solidFill>
              </a:rPr>
              <a:t>Remaining capacity ratio (Q / </a:t>
            </a:r>
            <a:r>
              <a:rPr sz="1600" b="0" dirty="0" err="1">
                <a:solidFill>
                  <a:srgbClr val="1E293B"/>
                </a:solidFill>
              </a:rPr>
              <a:t>Q_nom</a:t>
            </a:r>
            <a:r>
              <a:rPr sz="1600" b="0" dirty="0">
                <a:solidFill>
                  <a:srgbClr val="1E293B"/>
                </a:solidFill>
              </a:rPr>
              <a:t>).</a:t>
            </a:r>
          </a:p>
          <a:p>
            <a:pPr>
              <a:spcAft>
                <a:spcPts val="1200"/>
              </a:spcAft>
            </a:pPr>
            <a:r>
              <a:rPr sz="1600" b="1" dirty="0">
                <a:solidFill>
                  <a:srgbClr val="0F172A"/>
                </a:solidFill>
              </a:rPr>
              <a:t>3. </a:t>
            </a:r>
            <a:r>
              <a:rPr sz="1600" b="1" dirty="0" err="1">
                <a:solidFill>
                  <a:srgbClr val="0F172A"/>
                </a:solidFill>
              </a:rPr>
              <a:t>capacity_fade_window</a:t>
            </a:r>
            <a:r>
              <a:rPr sz="1600" b="1" dirty="0">
                <a:solidFill>
                  <a:srgbClr val="0F172A"/>
                </a:solidFill>
              </a:rPr>
              <a:t>: </a:t>
            </a:r>
            <a:r>
              <a:rPr sz="1600" b="0" dirty="0">
                <a:solidFill>
                  <a:srgbClr val="1E293B"/>
                </a:solidFill>
              </a:rPr>
              <a:t>How fast capacity dropped over past 10 cycles.</a:t>
            </a:r>
          </a:p>
          <a:p>
            <a:pPr>
              <a:spcAft>
                <a:spcPts val="1200"/>
              </a:spcAft>
            </a:pPr>
            <a:r>
              <a:rPr sz="1600" b="1" dirty="0">
                <a:solidFill>
                  <a:srgbClr val="0F172A"/>
                </a:solidFill>
              </a:rPr>
              <a:t>4. IR: </a:t>
            </a:r>
            <a:r>
              <a:rPr sz="1600" b="0" dirty="0">
                <a:solidFill>
                  <a:srgbClr val="1E293B"/>
                </a:solidFill>
              </a:rPr>
              <a:t>Electrical friction impedance (</a:t>
            </a:r>
            <a:r>
              <a:rPr sz="1600" b="0" dirty="0" err="1">
                <a:solidFill>
                  <a:srgbClr val="1E293B"/>
                </a:solidFill>
              </a:rPr>
              <a:t>dV</a:t>
            </a:r>
            <a:r>
              <a:rPr sz="1600" b="0" dirty="0">
                <a:solidFill>
                  <a:srgbClr val="1E293B"/>
                </a:solidFill>
              </a:rPr>
              <a:t> / </a:t>
            </a:r>
            <a:r>
              <a:rPr sz="1600" b="0" dirty="0" err="1">
                <a:solidFill>
                  <a:srgbClr val="1E293B"/>
                </a:solidFill>
              </a:rPr>
              <a:t>dI</a:t>
            </a:r>
            <a:r>
              <a:rPr sz="1600" b="0" dirty="0">
                <a:solidFill>
                  <a:srgbClr val="1E293B"/>
                </a:solidFill>
              </a:rPr>
              <a:t>) impeding current flow.</a:t>
            </a:r>
          </a:p>
          <a:p>
            <a:pPr>
              <a:spcAft>
                <a:spcPts val="1200"/>
              </a:spcAft>
            </a:pPr>
            <a:r>
              <a:rPr sz="1600" b="1" dirty="0">
                <a:solidFill>
                  <a:srgbClr val="0F172A"/>
                </a:solidFill>
              </a:rPr>
              <a:t>5. </a:t>
            </a:r>
            <a:r>
              <a:rPr sz="1600" b="1" dirty="0" err="1">
                <a:solidFill>
                  <a:srgbClr val="0F172A"/>
                </a:solidFill>
              </a:rPr>
              <a:t>Tavg</a:t>
            </a:r>
            <a:r>
              <a:rPr sz="1600" b="1" dirty="0">
                <a:solidFill>
                  <a:srgbClr val="0F172A"/>
                </a:solidFill>
              </a:rPr>
              <a:t>: </a:t>
            </a:r>
            <a:r>
              <a:rPr sz="1600" b="0" dirty="0">
                <a:solidFill>
                  <a:srgbClr val="1E293B"/>
                </a:solidFill>
              </a:rPr>
              <a:t>Mean surface temperature across cycle (~30°C).</a:t>
            </a:r>
          </a:p>
          <a:p>
            <a:pPr>
              <a:spcAft>
                <a:spcPts val="1200"/>
              </a:spcAft>
            </a:pPr>
            <a:r>
              <a:rPr sz="1600" b="1" dirty="0">
                <a:solidFill>
                  <a:srgbClr val="0F172A"/>
                </a:solidFill>
              </a:rPr>
              <a:t>6. </a:t>
            </a:r>
            <a:r>
              <a:rPr sz="1600" b="1" dirty="0" err="1">
                <a:solidFill>
                  <a:srgbClr val="0F172A"/>
                </a:solidFill>
              </a:rPr>
              <a:t>dQ_log_var</a:t>
            </a:r>
            <a:r>
              <a:rPr sz="1600" b="1" dirty="0">
                <a:solidFill>
                  <a:srgbClr val="0F172A"/>
                </a:solidFill>
              </a:rPr>
              <a:t>: </a:t>
            </a:r>
            <a:r>
              <a:rPr sz="1600" b="0" dirty="0">
                <a:solidFill>
                  <a:srgbClr val="1E293B"/>
                </a:solidFill>
              </a:rPr>
              <a:t>Variance of voltage curve shape (</a:t>
            </a:r>
            <a:r>
              <a:rPr sz="1600" b="0" dirty="0" err="1">
                <a:solidFill>
                  <a:srgbClr val="1E293B"/>
                </a:solidFill>
              </a:rPr>
              <a:t>dQ</a:t>
            </a:r>
            <a:r>
              <a:rPr sz="1600" b="0" dirty="0">
                <a:solidFill>
                  <a:srgbClr val="1E293B"/>
                </a:solidFill>
              </a:rPr>
              <a:t>/</a:t>
            </a:r>
            <a:r>
              <a:rPr sz="1600" b="0" dirty="0" err="1">
                <a:solidFill>
                  <a:srgbClr val="1E293B"/>
                </a:solidFill>
              </a:rPr>
              <a:t>dV</a:t>
            </a:r>
            <a:r>
              <a:rPr sz="1600" b="0" dirty="0">
                <a:solidFill>
                  <a:srgbClr val="1E293B"/>
                </a:solidFill>
              </a:rPr>
              <a:t>). </a:t>
            </a:r>
            <a:r>
              <a:rPr lang="en-IN" sz="1600" b="0" dirty="0">
                <a:solidFill>
                  <a:srgbClr val="1E293B"/>
                </a:solidFill>
              </a:rPr>
              <a:t>Detects </a:t>
            </a:r>
            <a:r>
              <a:rPr sz="1600" b="0" dirty="0">
                <a:solidFill>
                  <a:srgbClr val="1E293B"/>
                </a:solidFill>
              </a:rPr>
              <a:t>hidden electrode damage long before capacity drops.</a:t>
            </a:r>
          </a:p>
          <a:p>
            <a:pPr>
              <a:spcAft>
                <a:spcPts val="1200"/>
              </a:spcAft>
            </a:pPr>
            <a:r>
              <a:rPr sz="1600" b="1" dirty="0">
                <a:solidFill>
                  <a:srgbClr val="0F172A"/>
                </a:solidFill>
              </a:rPr>
              <a:t>7. </a:t>
            </a:r>
            <a:r>
              <a:rPr sz="1600" b="1" dirty="0" err="1">
                <a:solidFill>
                  <a:srgbClr val="0F172A"/>
                </a:solidFill>
              </a:rPr>
              <a:t>dQ_min</a:t>
            </a:r>
            <a:r>
              <a:rPr sz="1600" b="1" dirty="0">
                <a:solidFill>
                  <a:srgbClr val="0F172A"/>
                </a:solidFill>
              </a:rPr>
              <a:t> </a:t>
            </a:r>
            <a:r>
              <a:rPr lang="en-IN" sz="1600" b="1" dirty="0">
                <a:solidFill>
                  <a:srgbClr val="0F172A"/>
                </a:solidFill>
              </a:rPr>
              <a:t>: </a:t>
            </a:r>
            <a:r>
              <a:rPr lang="en-IN" sz="1600" dirty="0">
                <a:solidFill>
                  <a:srgbClr val="1E293B"/>
                </a:solidFill>
              </a:rPr>
              <a:t>Deepest negative peak .</a:t>
            </a:r>
            <a:endParaRPr lang="en-IN" sz="1600" b="1" dirty="0">
              <a:solidFill>
                <a:srgbClr val="0F172A"/>
              </a:solidFill>
            </a:endParaRPr>
          </a:p>
          <a:p>
            <a:pPr>
              <a:spcAft>
                <a:spcPts val="1200"/>
              </a:spcAft>
            </a:pPr>
            <a:r>
              <a:rPr sz="1600" b="1" dirty="0">
                <a:solidFill>
                  <a:srgbClr val="0F172A"/>
                </a:solidFill>
              </a:rPr>
              <a:t>8. </a:t>
            </a:r>
            <a:r>
              <a:rPr sz="1600" b="1" dirty="0" err="1">
                <a:solidFill>
                  <a:srgbClr val="0F172A"/>
                </a:solidFill>
              </a:rPr>
              <a:t>dQ_mean</a:t>
            </a:r>
            <a:r>
              <a:rPr sz="1600" b="1" dirty="0">
                <a:solidFill>
                  <a:srgbClr val="0F172A"/>
                </a:solidFill>
              </a:rPr>
              <a:t>: </a:t>
            </a:r>
            <a:r>
              <a:rPr lang="en-IN" sz="1600" dirty="0">
                <a:solidFill>
                  <a:srgbClr val="1E293B"/>
                </a:solidFill>
              </a:rPr>
              <a:t>A</a:t>
            </a:r>
            <a:r>
              <a:rPr sz="1600" b="0" dirty="0" err="1">
                <a:solidFill>
                  <a:srgbClr val="1E293B"/>
                </a:solidFill>
              </a:rPr>
              <a:t>verage</a:t>
            </a:r>
            <a:r>
              <a:rPr sz="1600" b="0" dirty="0">
                <a:solidFill>
                  <a:srgbClr val="1E293B"/>
                </a:solidFill>
              </a:rPr>
              <a:t> discharge rate across voltage bins.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Feature Importance Diagnostic Breakdown</a:t>
            </a:r>
          </a:p>
          <a:p>
            <a:pPr>
              <a:defRPr sz="1600">
                <a:solidFill>
                  <a:srgbClr val="0284C7"/>
                </a:solidFill>
                <a:latin typeface="Calibri"/>
              </a:defRPr>
            </a:pPr>
            <a:r>
              <a:t>Why Internal Resistance (IR) &amp; Temperature Dominate Inference</a:t>
            </a:r>
          </a:p>
        </p:txBody>
      </p:sp>
      <p:pic>
        <p:nvPicPr>
          <p:cNvPr id="3" name="Picture 2" descr="02_feature_importance.png"/>
          <p:cNvPicPr>
            <a:picLocks noChangeAspect="1"/>
          </p:cNvPicPr>
          <p:nvPr/>
        </p:nvPicPr>
        <p:blipFill>
          <a:blip r:embed="rId2"/>
          <a:stretch>
            <a:fillRect/>
          </a:stretch>
        </p:blipFill>
        <p:spPr>
          <a:xfrm>
            <a:off x="548640" y="1463040"/>
            <a:ext cx="6583680" cy="3715542"/>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500" b="1">
                <a:solidFill>
                  <a:srgbClr val="0F172A"/>
                </a:solidFill>
              </a:rPr>
              <a:t>Dominant Physics Predictor (`IR`): </a:t>
            </a:r>
            <a:r>
              <a:rPr sz="1500" b="0">
                <a:solidFill>
                  <a:srgbClr val="1E293B"/>
                </a:solidFill>
              </a:rPr>
              <a:t>Ranks #1 by a massive margin (~2,000 splits). Internal Resistance directly measures physical SEI layer thickening and loss of ionic conductivity inside the cell.</a:t>
            </a:r>
          </a:p>
          <a:p>
            <a:pPr>
              <a:spcAft>
                <a:spcPts val="1200"/>
              </a:spcAft>
            </a:pPr>
            <a:r>
              <a:rPr sz="1500" b="1">
                <a:solidFill>
                  <a:srgbClr val="0F172A"/>
                </a:solidFill>
              </a:rPr>
              <a:t>Thermal &amp; Capacity Anchors (`Tavg` &amp; `SOH`): </a:t>
            </a:r>
            <a:r>
              <a:rPr sz="1500" b="0">
                <a:solidFill>
                  <a:srgbClr val="1E293B"/>
                </a:solidFill>
              </a:rPr>
              <a:t>Rank #2 and #3. Operating temperature governs chemical aging speed, while current State of Health anchors the remaining capacity baseline.</a:t>
            </a:r>
          </a:p>
          <a:p>
            <a:pPr>
              <a:spcAft>
                <a:spcPts val="1200"/>
              </a:spcAft>
            </a:pPr>
            <a:r>
              <a:rPr sz="1500" b="1">
                <a:solidFill>
                  <a:srgbClr val="0F172A"/>
                </a:solidFill>
              </a:rPr>
              <a:t>Timeline &amp; Slope Tracking (`cycle` &amp; `capacity_fade_window`): </a:t>
            </a:r>
            <a:r>
              <a:rPr sz="1500" b="0">
                <a:solidFill>
                  <a:srgbClr val="1E293B"/>
                </a:solidFill>
              </a:rPr>
              <a:t>Track total operational mileage and immediately register the onset of the end-of-life capacity plunge.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Checkpoint Polling Interval Evaluation Table</a:t>
            </a:r>
          </a:p>
          <a:p>
            <a:pPr>
              <a:defRPr sz="1600">
                <a:solidFill>
                  <a:srgbClr val="0284C7"/>
                </a:solidFill>
                <a:latin typeface="Calibri"/>
              </a:defRPr>
            </a:pPr>
            <a:r>
              <a:t>Evaluating Vehicle Dashboard Update Frequency vs Accuracy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2284274561"/>
              </p:ext>
            </p:extLst>
          </p:nvPr>
        </p:nvGraphicFramePr>
        <p:xfrm>
          <a:off x="457200" y="1645920"/>
          <a:ext cx="11277295" cy="3322320"/>
        </p:xfrm>
        <a:graphic>
          <a:graphicData uri="http://schemas.openxmlformats.org/drawingml/2006/table">
            <a:tbl>
              <a:tblPr firstRow="1" bandRow="1">
                <a:tableStyleId>{5C22544A-7EE6-4342-B048-85BDC9FD1C3A}</a:tableStyleId>
              </a:tblPr>
              <a:tblGrid>
                <a:gridCol w="1611042">
                  <a:extLst>
                    <a:ext uri="{9D8B030D-6E8A-4147-A177-3AD203B41FA5}">
                      <a16:colId xmlns:a16="http://schemas.microsoft.com/office/drawing/2014/main" val="20000"/>
                    </a:ext>
                  </a:extLst>
                </a:gridCol>
                <a:gridCol w="1611042">
                  <a:extLst>
                    <a:ext uri="{9D8B030D-6E8A-4147-A177-3AD203B41FA5}">
                      <a16:colId xmlns:a16="http://schemas.microsoft.com/office/drawing/2014/main" val="20001"/>
                    </a:ext>
                  </a:extLst>
                </a:gridCol>
                <a:gridCol w="1611042">
                  <a:extLst>
                    <a:ext uri="{9D8B030D-6E8A-4147-A177-3AD203B41FA5}">
                      <a16:colId xmlns:a16="http://schemas.microsoft.com/office/drawing/2014/main" val="20002"/>
                    </a:ext>
                  </a:extLst>
                </a:gridCol>
                <a:gridCol w="1611042">
                  <a:extLst>
                    <a:ext uri="{9D8B030D-6E8A-4147-A177-3AD203B41FA5}">
                      <a16:colId xmlns:a16="http://schemas.microsoft.com/office/drawing/2014/main" val="20003"/>
                    </a:ext>
                  </a:extLst>
                </a:gridCol>
                <a:gridCol w="1611042">
                  <a:extLst>
                    <a:ext uri="{9D8B030D-6E8A-4147-A177-3AD203B41FA5}">
                      <a16:colId xmlns:a16="http://schemas.microsoft.com/office/drawing/2014/main" val="20004"/>
                    </a:ext>
                  </a:extLst>
                </a:gridCol>
                <a:gridCol w="1611042">
                  <a:extLst>
                    <a:ext uri="{9D8B030D-6E8A-4147-A177-3AD203B41FA5}">
                      <a16:colId xmlns:a16="http://schemas.microsoft.com/office/drawing/2014/main" val="20005"/>
                    </a:ext>
                  </a:extLst>
                </a:gridCol>
                <a:gridCol w="1611043">
                  <a:extLst>
                    <a:ext uri="{9D8B030D-6E8A-4147-A177-3AD203B41FA5}">
                      <a16:colId xmlns:a16="http://schemas.microsoft.com/office/drawing/2014/main" val="20006"/>
                    </a:ext>
                  </a:extLst>
                </a:gridCol>
              </a:tblGrid>
              <a:tr h="548640">
                <a:tc>
                  <a:txBody>
                    <a:bodyPr/>
                    <a:lstStyle/>
                    <a:p>
                      <a:pPr algn="ctr">
                        <a:defRPr sz="1500" b="1">
                          <a:solidFill>
                            <a:srgbClr val="FFFFFF"/>
                          </a:solidFill>
                        </a:defRPr>
                      </a:pPr>
                      <a:r>
                        <a:t>Interval</a:t>
                      </a:r>
                    </a:p>
                  </a:txBody>
                  <a:tcPr>
                    <a:solidFill>
                      <a:srgbClr val="0F172A"/>
                    </a:solidFill>
                  </a:tcPr>
                </a:tc>
                <a:tc>
                  <a:txBody>
                    <a:bodyPr/>
                    <a:lstStyle/>
                    <a:p>
                      <a:pPr algn="ctr">
                        <a:defRPr sz="1500" b="1">
                          <a:solidFill>
                            <a:srgbClr val="FFFFFF"/>
                          </a:solidFill>
                        </a:defRPr>
                      </a:pPr>
                      <a:r>
                        <a:t>Samples</a:t>
                      </a:r>
                    </a:p>
                  </a:txBody>
                  <a:tcPr>
                    <a:solidFill>
                      <a:srgbClr val="0F172A"/>
                    </a:solidFill>
                  </a:tcPr>
                </a:tc>
                <a:tc>
                  <a:txBody>
                    <a:bodyPr/>
                    <a:lstStyle/>
                    <a:p>
                      <a:pPr algn="ctr">
                        <a:defRPr sz="1500" b="1">
                          <a:solidFill>
                            <a:srgbClr val="FFFFFF"/>
                          </a:solidFill>
                        </a:defRPr>
                      </a:pPr>
                      <a:r>
                        <a:t>MAE Error</a:t>
                      </a:r>
                    </a:p>
                  </a:txBody>
                  <a:tcPr>
                    <a:solidFill>
                      <a:srgbClr val="0F172A"/>
                    </a:solidFill>
                  </a:tcPr>
                </a:tc>
                <a:tc>
                  <a:txBody>
                    <a:bodyPr/>
                    <a:lstStyle/>
                    <a:p>
                      <a:pPr algn="ctr">
                        <a:defRPr sz="1500" b="1">
                          <a:solidFill>
                            <a:srgbClr val="FFFFFF"/>
                          </a:solidFill>
                        </a:defRPr>
                      </a:pPr>
                      <a:r>
                        <a:t>Accuracy (R²)</a:t>
                      </a:r>
                    </a:p>
                  </a:txBody>
                  <a:tcPr>
                    <a:solidFill>
                      <a:srgbClr val="0F172A"/>
                    </a:solidFill>
                  </a:tcPr>
                </a:tc>
                <a:tc>
                  <a:txBody>
                    <a:bodyPr/>
                    <a:lstStyle/>
                    <a:p>
                      <a:pPr algn="ctr">
                        <a:defRPr sz="1500" b="1">
                          <a:solidFill>
                            <a:srgbClr val="FFFFFF"/>
                          </a:solidFill>
                        </a:defRPr>
                      </a:pPr>
                      <a:r>
                        <a:t>Std Dev (σ)</a:t>
                      </a:r>
                    </a:p>
                  </a:txBody>
                  <a:tcPr>
                    <a:solidFill>
                      <a:srgbClr val="0F172A"/>
                    </a:solidFill>
                  </a:tcPr>
                </a:tc>
                <a:tc>
                  <a:txBody>
                    <a:bodyPr/>
                    <a:lstStyle/>
                    <a:p>
                      <a:pPr algn="ctr">
                        <a:defRPr sz="1500" b="1">
                          <a:solidFill>
                            <a:srgbClr val="FFFFFF"/>
                          </a:solidFill>
                        </a:defRPr>
                      </a:pPr>
                      <a:r>
                        <a:t>90% Bracket</a:t>
                      </a:r>
                    </a:p>
                  </a:txBody>
                  <a:tcPr>
                    <a:solidFill>
                      <a:srgbClr val="0F172A"/>
                    </a:solidFill>
                  </a:tcPr>
                </a:tc>
                <a:tc>
                  <a:txBody>
                    <a:bodyPr/>
                    <a:lstStyle/>
                    <a:p>
                      <a:pPr algn="ctr">
                        <a:defRPr sz="1500" b="1">
                          <a:solidFill>
                            <a:srgbClr val="FFFFFF"/>
                          </a:solidFill>
                        </a:defRPr>
                      </a:pPr>
                      <a:r>
                        <a:t>Simple Remarks</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rPr sz="1600"/>
                        <a:t>5 Cycles (Chosen)</a:t>
                      </a:r>
                    </a:p>
                  </a:txBody>
                  <a:tcPr/>
                </a:tc>
                <a:tc>
                  <a:txBody>
                    <a:bodyPr/>
                    <a:lstStyle/>
                    <a:p>
                      <a:pPr algn="ctr">
                        <a:defRPr sz="1400">
                          <a:solidFill>
                            <a:srgbClr val="1E293B"/>
                          </a:solidFill>
                        </a:defRPr>
                      </a:pPr>
                      <a:r>
                        <a:rPr sz="1600"/>
                        <a:t>4,234</a:t>
                      </a:r>
                    </a:p>
                  </a:txBody>
                  <a:tcPr/>
                </a:tc>
                <a:tc>
                  <a:txBody>
                    <a:bodyPr/>
                    <a:lstStyle/>
                    <a:p>
                      <a:pPr algn="ctr">
                        <a:defRPr sz="1400">
                          <a:solidFill>
                            <a:srgbClr val="1E293B"/>
                          </a:solidFill>
                        </a:defRPr>
                      </a:pPr>
                      <a:r>
                        <a:rPr sz="1600"/>
                        <a:t>81.35 Cycles</a:t>
                      </a:r>
                    </a:p>
                  </a:txBody>
                  <a:tcPr/>
                </a:tc>
                <a:tc>
                  <a:txBody>
                    <a:bodyPr/>
                    <a:lstStyle/>
                    <a:p>
                      <a:pPr algn="ctr">
                        <a:defRPr sz="1400">
                          <a:solidFill>
                            <a:srgbClr val="1E293B"/>
                          </a:solidFill>
                        </a:defRPr>
                      </a:pPr>
                      <a:r>
                        <a:rPr sz="1600"/>
                        <a:t>78.52%</a:t>
                      </a:r>
                    </a:p>
                  </a:txBody>
                  <a:tcPr/>
                </a:tc>
                <a:tc>
                  <a:txBody>
                    <a:bodyPr/>
                    <a:lstStyle/>
                    <a:p>
                      <a:pPr algn="ctr">
                        <a:defRPr sz="1400">
                          <a:solidFill>
                            <a:srgbClr val="1E293B"/>
                          </a:solidFill>
                        </a:defRPr>
                      </a:pPr>
                      <a:r>
                        <a:rPr sz="1600"/>
                        <a:t>99.35 Cycles</a:t>
                      </a:r>
                    </a:p>
                  </a:txBody>
                  <a:tcPr/>
                </a:tc>
                <a:tc>
                  <a:txBody>
                    <a:bodyPr/>
                    <a:lstStyle/>
                    <a:p>
                      <a:pPr algn="ctr">
                        <a:defRPr sz="1400">
                          <a:solidFill>
                            <a:srgbClr val="1E293B"/>
                          </a:solidFill>
                        </a:defRPr>
                      </a:pPr>
                      <a:r>
                        <a:rPr sz="1600"/>
                        <a:t>± 122.00 Cycles</a:t>
                      </a:r>
                    </a:p>
                  </a:txBody>
                  <a:tcPr/>
                </a:tc>
                <a:tc>
                  <a:txBody>
                    <a:bodyPr/>
                    <a:lstStyle/>
                    <a:p>
                      <a:pPr>
                        <a:defRPr sz="1400">
                          <a:solidFill>
                            <a:srgbClr val="1E293B"/>
                          </a:solidFill>
                        </a:defRPr>
                      </a:pPr>
                      <a:r>
                        <a:t>Best balance of speed and safety.</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rPr sz="1600"/>
                        <a:t>10 Cycles</a:t>
                      </a:r>
                    </a:p>
                  </a:txBody>
                  <a:tcPr>
                    <a:solidFill>
                      <a:srgbClr val="F1F5F9"/>
                    </a:solidFill>
                  </a:tcPr>
                </a:tc>
                <a:tc>
                  <a:txBody>
                    <a:bodyPr/>
                    <a:lstStyle/>
                    <a:p>
                      <a:pPr algn="ctr">
                        <a:defRPr sz="1400">
                          <a:solidFill>
                            <a:srgbClr val="1E293B"/>
                          </a:solidFill>
                        </a:defRPr>
                      </a:pPr>
                      <a:r>
                        <a:rPr sz="1600"/>
                        <a:t>2,124</a:t>
                      </a:r>
                    </a:p>
                  </a:txBody>
                  <a:tcPr>
                    <a:solidFill>
                      <a:srgbClr val="F1F5F9"/>
                    </a:solidFill>
                  </a:tcPr>
                </a:tc>
                <a:tc>
                  <a:txBody>
                    <a:bodyPr/>
                    <a:lstStyle/>
                    <a:p>
                      <a:pPr algn="ctr">
                        <a:defRPr sz="1400">
                          <a:solidFill>
                            <a:srgbClr val="1E293B"/>
                          </a:solidFill>
                        </a:defRPr>
                      </a:pPr>
                      <a:r>
                        <a:rPr sz="1600" dirty="0"/>
                        <a:t>80.68 Cycles</a:t>
                      </a:r>
                    </a:p>
                  </a:txBody>
                  <a:tcPr>
                    <a:solidFill>
                      <a:srgbClr val="F1F5F9"/>
                    </a:solidFill>
                  </a:tcPr>
                </a:tc>
                <a:tc>
                  <a:txBody>
                    <a:bodyPr/>
                    <a:lstStyle/>
                    <a:p>
                      <a:pPr algn="ctr">
                        <a:defRPr sz="1400">
                          <a:solidFill>
                            <a:srgbClr val="1E293B"/>
                          </a:solidFill>
                        </a:defRPr>
                      </a:pPr>
                      <a:r>
                        <a:rPr sz="1600"/>
                        <a:t>79.02%</a:t>
                      </a:r>
                    </a:p>
                  </a:txBody>
                  <a:tcPr>
                    <a:solidFill>
                      <a:srgbClr val="F1F5F9"/>
                    </a:solidFill>
                  </a:tcPr>
                </a:tc>
                <a:tc>
                  <a:txBody>
                    <a:bodyPr/>
                    <a:lstStyle/>
                    <a:p>
                      <a:pPr algn="ctr">
                        <a:defRPr sz="1400">
                          <a:solidFill>
                            <a:srgbClr val="1E293B"/>
                          </a:solidFill>
                        </a:defRPr>
                      </a:pPr>
                      <a:r>
                        <a:rPr sz="1600"/>
                        <a:t>98.12 Cycles</a:t>
                      </a:r>
                    </a:p>
                  </a:txBody>
                  <a:tcPr>
                    <a:solidFill>
                      <a:srgbClr val="F1F5F9"/>
                    </a:solidFill>
                  </a:tcPr>
                </a:tc>
                <a:tc>
                  <a:txBody>
                    <a:bodyPr/>
                    <a:lstStyle/>
                    <a:p>
                      <a:pPr algn="ctr">
                        <a:defRPr sz="1400">
                          <a:solidFill>
                            <a:srgbClr val="1E293B"/>
                          </a:solidFill>
                        </a:defRPr>
                      </a:pPr>
                      <a:r>
                        <a:rPr sz="1600"/>
                        <a:t>± 118.50 Cycles</a:t>
                      </a:r>
                    </a:p>
                  </a:txBody>
                  <a:tcPr>
                    <a:solidFill>
                      <a:srgbClr val="F1F5F9"/>
                    </a:solidFill>
                  </a:tcPr>
                </a:tc>
                <a:tc>
                  <a:txBody>
                    <a:bodyPr/>
                    <a:lstStyle/>
                    <a:p>
                      <a:pPr>
                        <a:defRPr sz="1400">
                          <a:solidFill>
                            <a:srgbClr val="1E293B"/>
                          </a:solidFill>
                        </a:defRPr>
                      </a:pPr>
                      <a:r>
                        <a:t>Good, but delays dashboard alerts.</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rPr sz="1600"/>
                        <a:t>15 Cycles</a:t>
                      </a:r>
                    </a:p>
                  </a:txBody>
                  <a:tcPr/>
                </a:tc>
                <a:tc>
                  <a:txBody>
                    <a:bodyPr/>
                    <a:lstStyle/>
                    <a:p>
                      <a:pPr algn="ctr">
                        <a:defRPr sz="1400">
                          <a:solidFill>
                            <a:srgbClr val="1E293B"/>
                          </a:solidFill>
                        </a:defRPr>
                      </a:pPr>
                      <a:r>
                        <a:rPr sz="1600"/>
                        <a:t>1,421</a:t>
                      </a:r>
                    </a:p>
                  </a:txBody>
                  <a:tcPr/>
                </a:tc>
                <a:tc>
                  <a:txBody>
                    <a:bodyPr/>
                    <a:lstStyle/>
                    <a:p>
                      <a:pPr algn="ctr">
                        <a:defRPr sz="1400">
                          <a:solidFill>
                            <a:srgbClr val="1E293B"/>
                          </a:solidFill>
                        </a:defRPr>
                      </a:pPr>
                      <a:r>
                        <a:rPr sz="1600"/>
                        <a:t>82.11 Cycles</a:t>
                      </a:r>
                    </a:p>
                  </a:txBody>
                  <a:tcPr/>
                </a:tc>
                <a:tc>
                  <a:txBody>
                    <a:bodyPr/>
                    <a:lstStyle/>
                    <a:p>
                      <a:pPr algn="ctr">
                        <a:defRPr sz="1400">
                          <a:solidFill>
                            <a:srgbClr val="1E293B"/>
                          </a:solidFill>
                        </a:defRPr>
                      </a:pPr>
                      <a:r>
                        <a:rPr sz="1600"/>
                        <a:t>78.44%</a:t>
                      </a:r>
                    </a:p>
                  </a:txBody>
                  <a:tcPr/>
                </a:tc>
                <a:tc>
                  <a:txBody>
                    <a:bodyPr/>
                    <a:lstStyle/>
                    <a:p>
                      <a:pPr algn="ctr">
                        <a:defRPr sz="1400">
                          <a:solidFill>
                            <a:srgbClr val="1E293B"/>
                          </a:solidFill>
                        </a:defRPr>
                      </a:pPr>
                      <a:r>
                        <a:rPr sz="1600"/>
                        <a:t>101.40 Cycles</a:t>
                      </a:r>
                    </a:p>
                  </a:txBody>
                  <a:tcPr/>
                </a:tc>
                <a:tc>
                  <a:txBody>
                    <a:bodyPr/>
                    <a:lstStyle/>
                    <a:p>
                      <a:pPr algn="ctr">
                        <a:defRPr sz="1400">
                          <a:solidFill>
                            <a:srgbClr val="1E293B"/>
                          </a:solidFill>
                        </a:defRPr>
                      </a:pPr>
                      <a:r>
                        <a:rPr sz="1600"/>
                        <a:t>± 121.70 Cycles</a:t>
                      </a:r>
                    </a:p>
                  </a:txBody>
                  <a:tcPr/>
                </a:tc>
                <a:tc>
                  <a:txBody>
                    <a:bodyPr/>
                    <a:lstStyle/>
                    <a:p>
                      <a:pPr>
                        <a:defRPr sz="1400">
                          <a:solidFill>
                            <a:srgbClr val="1E293B"/>
                          </a:solidFill>
                        </a:defRPr>
                      </a:pPr>
                      <a:r>
                        <a:t>Slightly less precise during drops.</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rPr sz="1600"/>
                        <a:t>20 Cycles</a:t>
                      </a:r>
                    </a:p>
                  </a:txBody>
                  <a:tcPr>
                    <a:solidFill>
                      <a:srgbClr val="F1F5F9"/>
                    </a:solidFill>
                  </a:tcPr>
                </a:tc>
                <a:tc>
                  <a:txBody>
                    <a:bodyPr/>
                    <a:lstStyle/>
                    <a:p>
                      <a:pPr algn="ctr">
                        <a:defRPr sz="1400">
                          <a:solidFill>
                            <a:srgbClr val="1E293B"/>
                          </a:solidFill>
                        </a:defRPr>
                      </a:pPr>
                      <a:r>
                        <a:rPr sz="1600"/>
                        <a:t>1,070</a:t>
                      </a:r>
                    </a:p>
                  </a:txBody>
                  <a:tcPr>
                    <a:solidFill>
                      <a:srgbClr val="F1F5F9"/>
                    </a:solidFill>
                  </a:tcPr>
                </a:tc>
                <a:tc>
                  <a:txBody>
                    <a:bodyPr/>
                    <a:lstStyle/>
                    <a:p>
                      <a:pPr algn="ctr">
                        <a:defRPr sz="1400">
                          <a:solidFill>
                            <a:srgbClr val="1E293B"/>
                          </a:solidFill>
                        </a:defRPr>
                      </a:pPr>
                      <a:r>
                        <a:rPr sz="1600"/>
                        <a:t>79.34 Cycles</a:t>
                      </a:r>
                    </a:p>
                  </a:txBody>
                  <a:tcPr>
                    <a:solidFill>
                      <a:srgbClr val="F1F5F9"/>
                    </a:solidFill>
                  </a:tcPr>
                </a:tc>
                <a:tc>
                  <a:txBody>
                    <a:bodyPr/>
                    <a:lstStyle/>
                    <a:p>
                      <a:pPr algn="ctr">
                        <a:defRPr sz="1400">
                          <a:solidFill>
                            <a:srgbClr val="1E293B"/>
                          </a:solidFill>
                        </a:defRPr>
                      </a:pPr>
                      <a:r>
                        <a:rPr sz="1600"/>
                        <a:t>79.85%</a:t>
                      </a:r>
                    </a:p>
                  </a:txBody>
                  <a:tcPr>
                    <a:solidFill>
                      <a:srgbClr val="F1F5F9"/>
                    </a:solidFill>
                  </a:tcPr>
                </a:tc>
                <a:tc>
                  <a:txBody>
                    <a:bodyPr/>
                    <a:lstStyle/>
                    <a:p>
                      <a:pPr algn="ctr">
                        <a:defRPr sz="1400">
                          <a:solidFill>
                            <a:srgbClr val="1E293B"/>
                          </a:solidFill>
                        </a:defRPr>
                      </a:pPr>
                      <a:r>
                        <a:rPr sz="1600"/>
                        <a:t>97.05 Cycles</a:t>
                      </a:r>
                    </a:p>
                  </a:txBody>
                  <a:tcPr>
                    <a:solidFill>
                      <a:srgbClr val="F1F5F9"/>
                    </a:solidFill>
                  </a:tcPr>
                </a:tc>
                <a:tc>
                  <a:txBody>
                    <a:bodyPr/>
                    <a:lstStyle/>
                    <a:p>
                      <a:pPr algn="ctr">
                        <a:defRPr sz="1400">
                          <a:solidFill>
                            <a:srgbClr val="1E293B"/>
                          </a:solidFill>
                        </a:defRPr>
                      </a:pPr>
                      <a:r>
                        <a:rPr sz="1600"/>
                        <a:t>± 116.00 Cycles</a:t>
                      </a:r>
                    </a:p>
                  </a:txBody>
                  <a:tcPr>
                    <a:solidFill>
                      <a:srgbClr val="F1F5F9"/>
                    </a:solidFill>
                  </a:tcPr>
                </a:tc>
                <a:tc>
                  <a:txBody>
                    <a:bodyPr/>
                    <a:lstStyle/>
                    <a:p>
                      <a:pPr>
                        <a:defRPr sz="1400">
                          <a:solidFill>
                            <a:srgbClr val="1E293B"/>
                          </a:solidFill>
                        </a:defRPr>
                      </a:pPr>
                      <a:r>
                        <a:t>Leaves 2-3 week blind spots.</a:t>
                      </a:r>
                    </a:p>
                  </a:txBody>
                  <a:tcPr>
                    <a:solidFill>
                      <a:srgbClr val="F1F5F9"/>
                    </a:solidFill>
                  </a:tcPr>
                </a:tc>
                <a:extLst>
                  <a:ext uri="{0D108BD9-81ED-4DB2-BD59-A6C34878D82A}">
                    <a16:rowId xmlns:a16="http://schemas.microsoft.com/office/drawing/2014/main" val="10004"/>
                  </a:ext>
                </a:extLst>
              </a:tr>
              <a:tr h="548640">
                <a:tc>
                  <a:txBody>
                    <a:bodyPr/>
                    <a:lstStyle/>
                    <a:p>
                      <a:pPr>
                        <a:defRPr sz="1400">
                          <a:solidFill>
                            <a:srgbClr val="1E293B"/>
                          </a:solidFill>
                        </a:defRPr>
                      </a:pPr>
                      <a:r>
                        <a:rPr sz="1600"/>
                        <a:t>50 Cycles (Worst)</a:t>
                      </a:r>
                    </a:p>
                  </a:txBody>
                  <a:tcPr/>
                </a:tc>
                <a:tc>
                  <a:txBody>
                    <a:bodyPr/>
                    <a:lstStyle/>
                    <a:p>
                      <a:pPr algn="ctr">
                        <a:defRPr sz="1400">
                          <a:solidFill>
                            <a:srgbClr val="1E293B"/>
                          </a:solidFill>
                        </a:defRPr>
                      </a:pPr>
                      <a:r>
                        <a:rPr sz="1600"/>
                        <a:t>435</a:t>
                      </a:r>
                    </a:p>
                  </a:txBody>
                  <a:tcPr/>
                </a:tc>
                <a:tc>
                  <a:txBody>
                    <a:bodyPr/>
                    <a:lstStyle/>
                    <a:p>
                      <a:pPr algn="ctr">
                        <a:defRPr sz="1400">
                          <a:solidFill>
                            <a:srgbClr val="1E293B"/>
                          </a:solidFill>
                        </a:defRPr>
                      </a:pPr>
                      <a:r>
                        <a:rPr sz="1600"/>
                        <a:t>88.54 Cycles</a:t>
                      </a:r>
                    </a:p>
                  </a:txBody>
                  <a:tcPr/>
                </a:tc>
                <a:tc>
                  <a:txBody>
                    <a:bodyPr/>
                    <a:lstStyle/>
                    <a:p>
                      <a:pPr algn="ctr">
                        <a:defRPr sz="1400">
                          <a:solidFill>
                            <a:srgbClr val="1E293B"/>
                          </a:solidFill>
                        </a:defRPr>
                      </a:pPr>
                      <a:r>
                        <a:rPr sz="1600"/>
                        <a:t>77.32%</a:t>
                      </a:r>
                    </a:p>
                  </a:txBody>
                  <a:tcPr/>
                </a:tc>
                <a:tc>
                  <a:txBody>
                    <a:bodyPr/>
                    <a:lstStyle/>
                    <a:p>
                      <a:pPr algn="ctr">
                        <a:defRPr sz="1400">
                          <a:solidFill>
                            <a:srgbClr val="1E293B"/>
                          </a:solidFill>
                        </a:defRPr>
                      </a:pPr>
                      <a:r>
                        <a:rPr sz="1600"/>
                        <a:t>108.90 Cycles</a:t>
                      </a:r>
                    </a:p>
                  </a:txBody>
                  <a:tcPr/>
                </a:tc>
                <a:tc>
                  <a:txBody>
                    <a:bodyPr/>
                    <a:lstStyle/>
                    <a:p>
                      <a:pPr algn="ctr">
                        <a:defRPr sz="1400">
                          <a:solidFill>
                            <a:srgbClr val="1E293B"/>
                          </a:solidFill>
                        </a:defRPr>
                      </a:pPr>
                      <a:r>
                        <a:rPr sz="1600" dirty="0"/>
                        <a:t>± 130.00 Cycles</a:t>
                      </a:r>
                    </a:p>
                  </a:txBody>
                  <a:tcPr/>
                </a:tc>
                <a:tc>
                  <a:txBody>
                    <a:bodyPr/>
                    <a:lstStyle/>
                    <a:p>
                      <a:pPr>
                        <a:defRPr sz="1400">
                          <a:solidFill>
                            <a:srgbClr val="1E293B"/>
                          </a:solidFill>
                        </a:defRPr>
                      </a:pPr>
                      <a:r>
                        <a:rPr dirty="0"/>
                        <a:t>Poor; lags badly and misses drops.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Hyperparameter Tuning Experiments</a:t>
            </a:r>
          </a:p>
          <a:p>
            <a:pPr>
              <a:defRPr sz="1600">
                <a:solidFill>
                  <a:srgbClr val="0284C7"/>
                </a:solidFill>
                <a:latin typeface="Calibri"/>
              </a:defRPr>
            </a:pPr>
            <a:r>
              <a:t>Preventing Overfitting on Noisy Automotive Microcontrollers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2841111035"/>
              </p:ext>
            </p:extLst>
          </p:nvPr>
        </p:nvGraphicFramePr>
        <p:xfrm>
          <a:off x="457200" y="1645920"/>
          <a:ext cx="11277295" cy="3657600"/>
        </p:xfrm>
        <a:graphic>
          <a:graphicData uri="http://schemas.openxmlformats.org/drawingml/2006/table">
            <a:tbl>
              <a:tblPr firstRow="1" bandRow="1">
                <a:tableStyleId>{5C22544A-7EE6-4342-B048-85BDC9FD1C3A}</a:tableStyleId>
              </a:tblPr>
              <a:tblGrid>
                <a:gridCol w="1409661">
                  <a:extLst>
                    <a:ext uri="{9D8B030D-6E8A-4147-A177-3AD203B41FA5}">
                      <a16:colId xmlns:a16="http://schemas.microsoft.com/office/drawing/2014/main" val="20000"/>
                    </a:ext>
                  </a:extLst>
                </a:gridCol>
                <a:gridCol w="1409661">
                  <a:extLst>
                    <a:ext uri="{9D8B030D-6E8A-4147-A177-3AD203B41FA5}">
                      <a16:colId xmlns:a16="http://schemas.microsoft.com/office/drawing/2014/main" val="20001"/>
                    </a:ext>
                  </a:extLst>
                </a:gridCol>
                <a:gridCol w="1409661">
                  <a:extLst>
                    <a:ext uri="{9D8B030D-6E8A-4147-A177-3AD203B41FA5}">
                      <a16:colId xmlns:a16="http://schemas.microsoft.com/office/drawing/2014/main" val="20002"/>
                    </a:ext>
                  </a:extLst>
                </a:gridCol>
                <a:gridCol w="1409661">
                  <a:extLst>
                    <a:ext uri="{9D8B030D-6E8A-4147-A177-3AD203B41FA5}">
                      <a16:colId xmlns:a16="http://schemas.microsoft.com/office/drawing/2014/main" val="20003"/>
                    </a:ext>
                  </a:extLst>
                </a:gridCol>
                <a:gridCol w="1409661">
                  <a:extLst>
                    <a:ext uri="{9D8B030D-6E8A-4147-A177-3AD203B41FA5}">
                      <a16:colId xmlns:a16="http://schemas.microsoft.com/office/drawing/2014/main" val="20004"/>
                    </a:ext>
                  </a:extLst>
                </a:gridCol>
                <a:gridCol w="1409661">
                  <a:extLst>
                    <a:ext uri="{9D8B030D-6E8A-4147-A177-3AD203B41FA5}">
                      <a16:colId xmlns:a16="http://schemas.microsoft.com/office/drawing/2014/main" val="20005"/>
                    </a:ext>
                  </a:extLst>
                </a:gridCol>
                <a:gridCol w="1409661">
                  <a:extLst>
                    <a:ext uri="{9D8B030D-6E8A-4147-A177-3AD203B41FA5}">
                      <a16:colId xmlns:a16="http://schemas.microsoft.com/office/drawing/2014/main" val="20006"/>
                    </a:ext>
                  </a:extLst>
                </a:gridCol>
                <a:gridCol w="1409668">
                  <a:extLst>
                    <a:ext uri="{9D8B030D-6E8A-4147-A177-3AD203B41FA5}">
                      <a16:colId xmlns:a16="http://schemas.microsoft.com/office/drawing/2014/main" val="20007"/>
                    </a:ext>
                  </a:extLst>
                </a:gridCol>
              </a:tblGrid>
              <a:tr h="548640">
                <a:tc>
                  <a:txBody>
                    <a:bodyPr/>
                    <a:lstStyle/>
                    <a:p>
                      <a:pPr algn="ctr">
                        <a:defRPr sz="1500" b="1">
                          <a:solidFill>
                            <a:srgbClr val="FFFFFF"/>
                          </a:solidFill>
                        </a:defRPr>
                      </a:pPr>
                      <a:r>
                        <a:t>Config</a:t>
                      </a:r>
                    </a:p>
                  </a:txBody>
                  <a:tcPr>
                    <a:solidFill>
                      <a:srgbClr val="0F172A"/>
                    </a:solidFill>
                  </a:tcPr>
                </a:tc>
                <a:tc>
                  <a:txBody>
                    <a:bodyPr/>
                    <a:lstStyle/>
                    <a:p>
                      <a:pPr algn="ctr">
                        <a:defRPr sz="1500" b="1">
                          <a:solidFill>
                            <a:srgbClr val="FFFFFF"/>
                          </a:solidFill>
                        </a:defRPr>
                      </a:pPr>
                      <a:r>
                        <a:t>Trees</a:t>
                      </a:r>
                    </a:p>
                  </a:txBody>
                  <a:tcPr>
                    <a:solidFill>
                      <a:srgbClr val="0F172A"/>
                    </a:solidFill>
                  </a:tcPr>
                </a:tc>
                <a:tc>
                  <a:txBody>
                    <a:bodyPr/>
                    <a:lstStyle/>
                    <a:p>
                      <a:pPr algn="ctr">
                        <a:defRPr sz="1500" b="1">
                          <a:solidFill>
                            <a:srgbClr val="FFFFFF"/>
                          </a:solidFill>
                        </a:defRPr>
                      </a:pPr>
                      <a:r>
                        <a:t>Leaves</a:t>
                      </a:r>
                    </a:p>
                  </a:txBody>
                  <a:tcPr>
                    <a:solidFill>
                      <a:srgbClr val="0F172A"/>
                    </a:solidFill>
                  </a:tcPr>
                </a:tc>
                <a:tc>
                  <a:txBody>
                    <a:bodyPr/>
                    <a:lstStyle/>
                    <a:p>
                      <a:pPr algn="ctr">
                        <a:defRPr sz="1500" b="1">
                          <a:solidFill>
                            <a:srgbClr val="FFFFFF"/>
                          </a:solidFill>
                        </a:defRPr>
                      </a:pPr>
                      <a:r>
                        <a:t>LR</a:t>
                      </a:r>
                    </a:p>
                  </a:txBody>
                  <a:tcPr>
                    <a:solidFill>
                      <a:srgbClr val="0F172A"/>
                    </a:solidFill>
                  </a:tcPr>
                </a:tc>
                <a:tc>
                  <a:txBody>
                    <a:bodyPr/>
                    <a:lstStyle/>
                    <a:p>
                      <a:pPr algn="ctr">
                        <a:defRPr sz="1500" b="1">
                          <a:solidFill>
                            <a:srgbClr val="FFFFFF"/>
                          </a:solidFill>
                        </a:defRPr>
                      </a:pPr>
                      <a:r>
                        <a:t>MAE Error</a:t>
                      </a:r>
                    </a:p>
                  </a:txBody>
                  <a:tcPr>
                    <a:solidFill>
                      <a:srgbClr val="0F172A"/>
                    </a:solidFill>
                  </a:tcPr>
                </a:tc>
                <a:tc>
                  <a:txBody>
                    <a:bodyPr/>
                    <a:lstStyle/>
                    <a:p>
                      <a:pPr algn="ctr">
                        <a:defRPr sz="1500" b="1">
                          <a:solidFill>
                            <a:srgbClr val="FFFFFF"/>
                          </a:solidFill>
                        </a:defRPr>
                      </a:pPr>
                      <a:r>
                        <a:t>Accuracy (R²)</a:t>
                      </a:r>
                    </a:p>
                  </a:txBody>
                  <a:tcPr>
                    <a:solidFill>
                      <a:srgbClr val="0F172A"/>
                    </a:solidFill>
                  </a:tcPr>
                </a:tc>
                <a:tc>
                  <a:txBody>
                    <a:bodyPr/>
                    <a:lstStyle/>
                    <a:p>
                      <a:pPr algn="ctr">
                        <a:defRPr sz="1500" b="1">
                          <a:solidFill>
                            <a:srgbClr val="FFFFFF"/>
                          </a:solidFill>
                        </a:defRPr>
                      </a:pPr>
                      <a:r>
                        <a:t>Std Dev (σ)</a:t>
                      </a:r>
                    </a:p>
                  </a:txBody>
                  <a:tcPr>
                    <a:solidFill>
                      <a:srgbClr val="0F172A"/>
                    </a:solidFill>
                  </a:tcPr>
                </a:tc>
                <a:tc>
                  <a:txBody>
                    <a:bodyPr/>
                    <a:lstStyle/>
                    <a:p>
                      <a:pPr algn="ctr">
                        <a:defRPr sz="1500" b="1">
                          <a:solidFill>
                            <a:srgbClr val="FFFFFF"/>
                          </a:solidFill>
                        </a:defRPr>
                      </a:pPr>
                      <a:r>
                        <a:t>Simple Remarks</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t>Config 1 (Underfit)</a:t>
                      </a:r>
                    </a:p>
                  </a:txBody>
                  <a:tcPr/>
                </a:tc>
                <a:tc>
                  <a:txBody>
                    <a:bodyPr/>
                    <a:lstStyle/>
                    <a:p>
                      <a:pPr algn="ctr">
                        <a:defRPr sz="1400">
                          <a:solidFill>
                            <a:srgbClr val="1E293B"/>
                          </a:solidFill>
                        </a:defRPr>
                      </a:pPr>
                      <a:r>
                        <a:rPr sz="1600"/>
                        <a:t>100</a:t>
                      </a:r>
                    </a:p>
                  </a:txBody>
                  <a:tcPr/>
                </a:tc>
                <a:tc>
                  <a:txBody>
                    <a:bodyPr/>
                    <a:lstStyle/>
                    <a:p>
                      <a:pPr algn="ctr">
                        <a:defRPr sz="1400">
                          <a:solidFill>
                            <a:srgbClr val="1E293B"/>
                          </a:solidFill>
                        </a:defRPr>
                      </a:pPr>
                      <a:r>
                        <a:rPr sz="1600"/>
                        <a:t>15</a:t>
                      </a:r>
                    </a:p>
                  </a:txBody>
                  <a:tcPr/>
                </a:tc>
                <a:tc>
                  <a:txBody>
                    <a:bodyPr/>
                    <a:lstStyle/>
                    <a:p>
                      <a:pPr algn="ctr">
                        <a:defRPr sz="1400">
                          <a:solidFill>
                            <a:srgbClr val="1E293B"/>
                          </a:solidFill>
                        </a:defRPr>
                      </a:pPr>
                      <a:r>
                        <a:rPr sz="1600"/>
                        <a:t>0.10</a:t>
                      </a:r>
                    </a:p>
                  </a:txBody>
                  <a:tcPr/>
                </a:tc>
                <a:tc>
                  <a:txBody>
                    <a:bodyPr/>
                    <a:lstStyle/>
                    <a:p>
                      <a:pPr algn="ctr">
                        <a:defRPr sz="1400">
                          <a:solidFill>
                            <a:srgbClr val="1E293B"/>
                          </a:solidFill>
                        </a:defRPr>
                      </a:pPr>
                      <a:r>
                        <a:rPr sz="1600"/>
                        <a:t>90.99 Cycles</a:t>
                      </a:r>
                    </a:p>
                  </a:txBody>
                  <a:tcPr/>
                </a:tc>
                <a:tc>
                  <a:txBody>
                    <a:bodyPr/>
                    <a:lstStyle/>
                    <a:p>
                      <a:pPr algn="ctr">
                        <a:defRPr sz="1400">
                          <a:solidFill>
                            <a:srgbClr val="1E293B"/>
                          </a:solidFill>
                        </a:defRPr>
                      </a:pPr>
                      <a:r>
                        <a:rPr sz="1600"/>
                        <a:t>76.65%</a:t>
                      </a:r>
                    </a:p>
                  </a:txBody>
                  <a:tcPr/>
                </a:tc>
                <a:tc>
                  <a:txBody>
                    <a:bodyPr/>
                    <a:lstStyle/>
                    <a:p>
                      <a:pPr>
                        <a:defRPr sz="1400">
                          <a:solidFill>
                            <a:srgbClr val="1E293B"/>
                          </a:solidFill>
                        </a:defRPr>
                      </a:pPr>
                      <a:r>
                        <a:rPr sz="1600"/>
                        <a:t>111.20 Cycles</a:t>
                      </a:r>
                    </a:p>
                  </a:txBody>
                  <a:tcPr/>
                </a:tc>
                <a:tc>
                  <a:txBody>
                    <a:bodyPr/>
                    <a:lstStyle/>
                    <a:p>
                      <a:pPr>
                        <a:defRPr sz="1400">
                          <a:solidFill>
                            <a:srgbClr val="1E293B"/>
                          </a:solidFill>
                        </a:defRPr>
                      </a:pPr>
                      <a:r>
                        <a:t>Too simple; misses sudden drops.</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t>Config 2 (Overfit)</a:t>
                      </a:r>
                    </a:p>
                  </a:txBody>
                  <a:tcPr>
                    <a:solidFill>
                      <a:srgbClr val="F1F5F9"/>
                    </a:solidFill>
                  </a:tcPr>
                </a:tc>
                <a:tc>
                  <a:txBody>
                    <a:bodyPr/>
                    <a:lstStyle/>
                    <a:p>
                      <a:pPr algn="ctr">
                        <a:defRPr sz="1400">
                          <a:solidFill>
                            <a:srgbClr val="1E293B"/>
                          </a:solidFill>
                        </a:defRPr>
                      </a:pPr>
                      <a:r>
                        <a:rPr sz="1600"/>
                        <a:t>600</a:t>
                      </a:r>
                    </a:p>
                  </a:txBody>
                  <a:tcPr>
                    <a:solidFill>
                      <a:srgbClr val="F1F5F9"/>
                    </a:solidFill>
                  </a:tcPr>
                </a:tc>
                <a:tc>
                  <a:txBody>
                    <a:bodyPr/>
                    <a:lstStyle/>
                    <a:p>
                      <a:pPr algn="ctr">
                        <a:defRPr sz="1400">
                          <a:solidFill>
                            <a:srgbClr val="1E293B"/>
                          </a:solidFill>
                        </a:defRPr>
                      </a:pPr>
                      <a:r>
                        <a:rPr sz="1600"/>
                        <a:t>127</a:t>
                      </a:r>
                    </a:p>
                  </a:txBody>
                  <a:tcPr>
                    <a:solidFill>
                      <a:srgbClr val="F1F5F9"/>
                    </a:solidFill>
                  </a:tcPr>
                </a:tc>
                <a:tc>
                  <a:txBody>
                    <a:bodyPr/>
                    <a:lstStyle/>
                    <a:p>
                      <a:pPr algn="ctr">
                        <a:defRPr sz="1400">
                          <a:solidFill>
                            <a:srgbClr val="1E293B"/>
                          </a:solidFill>
                        </a:defRPr>
                      </a:pPr>
                      <a:r>
                        <a:rPr sz="1600"/>
                        <a:t>0.01</a:t>
                      </a:r>
                    </a:p>
                  </a:txBody>
                  <a:tcPr>
                    <a:solidFill>
                      <a:srgbClr val="F1F5F9"/>
                    </a:solidFill>
                  </a:tcPr>
                </a:tc>
                <a:tc>
                  <a:txBody>
                    <a:bodyPr/>
                    <a:lstStyle/>
                    <a:p>
                      <a:pPr algn="ctr">
                        <a:defRPr sz="1400">
                          <a:solidFill>
                            <a:srgbClr val="1E293B"/>
                          </a:solidFill>
                        </a:defRPr>
                      </a:pPr>
                      <a:r>
                        <a:rPr sz="1600"/>
                        <a:t>75.92 Cycles</a:t>
                      </a:r>
                    </a:p>
                  </a:txBody>
                  <a:tcPr>
                    <a:solidFill>
                      <a:srgbClr val="F1F5F9"/>
                    </a:solidFill>
                  </a:tcPr>
                </a:tc>
                <a:tc>
                  <a:txBody>
                    <a:bodyPr/>
                    <a:lstStyle/>
                    <a:p>
                      <a:pPr algn="ctr">
                        <a:defRPr sz="1400">
                          <a:solidFill>
                            <a:srgbClr val="1E293B"/>
                          </a:solidFill>
                        </a:defRPr>
                      </a:pPr>
                      <a:r>
                        <a:rPr sz="1600"/>
                        <a:t>81.23%</a:t>
                      </a:r>
                    </a:p>
                  </a:txBody>
                  <a:tcPr>
                    <a:solidFill>
                      <a:srgbClr val="F1F5F9"/>
                    </a:solidFill>
                  </a:tcPr>
                </a:tc>
                <a:tc>
                  <a:txBody>
                    <a:bodyPr/>
                    <a:lstStyle/>
                    <a:p>
                      <a:pPr>
                        <a:defRPr sz="1400">
                          <a:solidFill>
                            <a:srgbClr val="1E293B"/>
                          </a:solidFill>
                        </a:defRPr>
                      </a:pPr>
                      <a:r>
                        <a:rPr sz="1600"/>
                        <a:t>92.40 Cycles</a:t>
                      </a:r>
                    </a:p>
                  </a:txBody>
                  <a:tcPr>
                    <a:solidFill>
                      <a:srgbClr val="F1F5F9"/>
                    </a:solidFill>
                  </a:tcPr>
                </a:tc>
                <a:tc>
                  <a:txBody>
                    <a:bodyPr/>
                    <a:lstStyle/>
                    <a:p>
                      <a:pPr>
                        <a:defRPr sz="1400">
                          <a:solidFill>
                            <a:srgbClr val="1E293B"/>
                          </a:solidFill>
                        </a:defRPr>
                      </a:pPr>
                      <a:r>
                        <a:t>Too heavy for cheap car chips.</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t>Config 3 (Unregularized)</a:t>
                      </a:r>
                    </a:p>
                  </a:txBody>
                  <a:tcPr/>
                </a:tc>
                <a:tc>
                  <a:txBody>
                    <a:bodyPr/>
                    <a:lstStyle/>
                    <a:p>
                      <a:pPr algn="ctr">
                        <a:defRPr sz="1400">
                          <a:solidFill>
                            <a:srgbClr val="1E293B"/>
                          </a:solidFill>
                        </a:defRPr>
                      </a:pPr>
                      <a:r>
                        <a:rPr sz="1600"/>
                        <a:t>200</a:t>
                      </a:r>
                    </a:p>
                  </a:txBody>
                  <a:tcPr/>
                </a:tc>
                <a:tc>
                  <a:txBody>
                    <a:bodyPr/>
                    <a:lstStyle/>
                    <a:p>
                      <a:pPr algn="ctr">
                        <a:defRPr sz="1400">
                          <a:solidFill>
                            <a:srgbClr val="1E293B"/>
                          </a:solidFill>
                        </a:defRPr>
                      </a:pPr>
                      <a:r>
                        <a:rPr sz="1600"/>
                        <a:t>63</a:t>
                      </a:r>
                    </a:p>
                  </a:txBody>
                  <a:tcPr/>
                </a:tc>
                <a:tc>
                  <a:txBody>
                    <a:bodyPr/>
                    <a:lstStyle/>
                    <a:p>
                      <a:pPr algn="ctr">
                        <a:defRPr sz="1400">
                          <a:solidFill>
                            <a:srgbClr val="1E293B"/>
                          </a:solidFill>
                        </a:defRPr>
                      </a:pPr>
                      <a:r>
                        <a:rPr sz="1600"/>
                        <a:t>0.20</a:t>
                      </a:r>
                    </a:p>
                  </a:txBody>
                  <a:tcPr/>
                </a:tc>
                <a:tc>
                  <a:txBody>
                    <a:bodyPr/>
                    <a:lstStyle/>
                    <a:p>
                      <a:pPr algn="ctr">
                        <a:defRPr sz="1400">
                          <a:solidFill>
                            <a:srgbClr val="1E293B"/>
                          </a:solidFill>
                        </a:defRPr>
                      </a:pPr>
                      <a:r>
                        <a:rPr sz="1600"/>
                        <a:t>78.76 Cycles</a:t>
                      </a:r>
                    </a:p>
                  </a:txBody>
                  <a:tcPr/>
                </a:tc>
                <a:tc>
                  <a:txBody>
                    <a:bodyPr/>
                    <a:lstStyle/>
                    <a:p>
                      <a:pPr algn="ctr">
                        <a:defRPr sz="1400">
                          <a:solidFill>
                            <a:srgbClr val="1E293B"/>
                          </a:solidFill>
                        </a:defRPr>
                      </a:pPr>
                      <a:r>
                        <a:rPr sz="1600"/>
                        <a:t>79.90%</a:t>
                      </a:r>
                    </a:p>
                  </a:txBody>
                  <a:tcPr/>
                </a:tc>
                <a:tc>
                  <a:txBody>
                    <a:bodyPr/>
                    <a:lstStyle/>
                    <a:p>
                      <a:pPr>
                        <a:defRPr sz="1400">
                          <a:solidFill>
                            <a:srgbClr val="1E293B"/>
                          </a:solidFill>
                        </a:defRPr>
                      </a:pPr>
                      <a:r>
                        <a:rPr sz="1600"/>
                        <a:t>96.80 Cycles</a:t>
                      </a:r>
                    </a:p>
                  </a:txBody>
                  <a:tcPr/>
                </a:tc>
                <a:tc>
                  <a:txBody>
                    <a:bodyPr/>
                    <a:lstStyle/>
                    <a:p>
                      <a:pPr>
                        <a:defRPr sz="1400">
                          <a:solidFill>
                            <a:srgbClr val="1E293B"/>
                          </a:solidFill>
                        </a:defRPr>
                      </a:pPr>
                      <a:r>
                        <a:t>Jumpy countdown on rough roads.</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t>Config 4 (Chosen Optimal)</a:t>
                      </a:r>
                    </a:p>
                  </a:txBody>
                  <a:tcPr>
                    <a:solidFill>
                      <a:srgbClr val="F1F5F9"/>
                    </a:solidFill>
                  </a:tcPr>
                </a:tc>
                <a:tc>
                  <a:txBody>
                    <a:bodyPr/>
                    <a:lstStyle/>
                    <a:p>
                      <a:pPr algn="ctr">
                        <a:defRPr sz="1400">
                          <a:solidFill>
                            <a:srgbClr val="1E293B"/>
                          </a:solidFill>
                        </a:defRPr>
                      </a:pPr>
                      <a:r>
                        <a:rPr sz="1600"/>
                        <a:t>300</a:t>
                      </a:r>
                    </a:p>
                  </a:txBody>
                  <a:tcPr>
                    <a:solidFill>
                      <a:srgbClr val="F1F5F9"/>
                    </a:solidFill>
                  </a:tcPr>
                </a:tc>
                <a:tc>
                  <a:txBody>
                    <a:bodyPr/>
                    <a:lstStyle/>
                    <a:p>
                      <a:pPr algn="ctr">
                        <a:defRPr sz="1400">
                          <a:solidFill>
                            <a:srgbClr val="1E293B"/>
                          </a:solidFill>
                        </a:defRPr>
                      </a:pPr>
                      <a:r>
                        <a:rPr sz="1600"/>
                        <a:t>31</a:t>
                      </a:r>
                    </a:p>
                  </a:txBody>
                  <a:tcPr>
                    <a:solidFill>
                      <a:srgbClr val="F1F5F9"/>
                    </a:solidFill>
                  </a:tcPr>
                </a:tc>
                <a:tc>
                  <a:txBody>
                    <a:bodyPr/>
                    <a:lstStyle/>
                    <a:p>
                      <a:pPr algn="ctr">
                        <a:defRPr sz="1400">
                          <a:solidFill>
                            <a:srgbClr val="1E293B"/>
                          </a:solidFill>
                        </a:defRPr>
                      </a:pPr>
                      <a:r>
                        <a:rPr sz="1600"/>
                        <a:t>0.05</a:t>
                      </a:r>
                    </a:p>
                  </a:txBody>
                  <a:tcPr>
                    <a:solidFill>
                      <a:srgbClr val="F1F5F9"/>
                    </a:solidFill>
                  </a:tcPr>
                </a:tc>
                <a:tc>
                  <a:txBody>
                    <a:bodyPr/>
                    <a:lstStyle/>
                    <a:p>
                      <a:pPr algn="ctr">
                        <a:defRPr sz="1400">
                          <a:solidFill>
                            <a:srgbClr val="1E293B"/>
                          </a:solidFill>
                        </a:defRPr>
                      </a:pPr>
                      <a:r>
                        <a:rPr sz="1600"/>
                        <a:t>81.35 Cycles</a:t>
                      </a:r>
                    </a:p>
                  </a:txBody>
                  <a:tcPr>
                    <a:solidFill>
                      <a:srgbClr val="F1F5F9"/>
                    </a:solidFill>
                  </a:tcPr>
                </a:tc>
                <a:tc>
                  <a:txBody>
                    <a:bodyPr/>
                    <a:lstStyle/>
                    <a:p>
                      <a:pPr algn="ctr">
                        <a:defRPr sz="1400">
                          <a:solidFill>
                            <a:srgbClr val="1E293B"/>
                          </a:solidFill>
                        </a:defRPr>
                      </a:pPr>
                      <a:r>
                        <a:rPr sz="1600"/>
                        <a:t>78.52%</a:t>
                      </a:r>
                    </a:p>
                  </a:txBody>
                  <a:tcPr>
                    <a:solidFill>
                      <a:srgbClr val="F1F5F9"/>
                    </a:solidFill>
                  </a:tcPr>
                </a:tc>
                <a:tc>
                  <a:txBody>
                    <a:bodyPr/>
                    <a:lstStyle/>
                    <a:p>
                      <a:pPr>
                        <a:defRPr sz="1400">
                          <a:solidFill>
                            <a:srgbClr val="1E293B"/>
                          </a:solidFill>
                        </a:defRPr>
                      </a:pPr>
                      <a:r>
                        <a:rPr sz="1600"/>
                        <a:t>99.35 Cycles</a:t>
                      </a:r>
                    </a:p>
                  </a:txBody>
                  <a:tcPr>
                    <a:solidFill>
                      <a:srgbClr val="F1F5F9"/>
                    </a:solidFill>
                  </a:tcPr>
                </a:tc>
                <a:tc>
                  <a:txBody>
                    <a:bodyPr/>
                    <a:lstStyle/>
                    <a:p>
                      <a:pPr>
                        <a:defRPr sz="1400">
                          <a:solidFill>
                            <a:srgbClr val="1E293B"/>
                          </a:solidFill>
                        </a:defRPr>
                      </a:pPr>
                      <a:r>
                        <a:t>Best industrial car chip choice.</a:t>
                      </a:r>
                    </a:p>
                  </a:txBody>
                  <a:tcPr>
                    <a:solidFill>
                      <a:srgbClr val="F1F5F9"/>
                    </a:solidFill>
                  </a:tcPr>
                </a:tc>
                <a:extLst>
                  <a:ext uri="{0D108BD9-81ED-4DB2-BD59-A6C34878D82A}">
                    <a16:rowId xmlns:a16="http://schemas.microsoft.com/office/drawing/2014/main" val="10004"/>
                  </a:ext>
                </a:extLst>
              </a:tr>
              <a:tr h="548640">
                <a:tc>
                  <a:txBody>
                    <a:bodyPr/>
                    <a:lstStyle/>
                    <a:p>
                      <a:pPr>
                        <a:defRPr sz="1400">
                          <a:solidFill>
                            <a:srgbClr val="1E293B"/>
                          </a:solidFill>
                        </a:defRPr>
                      </a:pPr>
                      <a:r>
                        <a:t>Config 5 (Heavy Model)</a:t>
                      </a:r>
                    </a:p>
                  </a:txBody>
                  <a:tcPr/>
                </a:tc>
                <a:tc>
                  <a:txBody>
                    <a:bodyPr/>
                    <a:lstStyle/>
                    <a:p>
                      <a:pPr algn="ctr">
                        <a:defRPr sz="1400">
                          <a:solidFill>
                            <a:srgbClr val="1E293B"/>
                          </a:solidFill>
                        </a:defRPr>
                      </a:pPr>
                      <a:r>
                        <a:rPr sz="1600"/>
                        <a:t>500</a:t>
                      </a:r>
                    </a:p>
                  </a:txBody>
                  <a:tcPr/>
                </a:tc>
                <a:tc>
                  <a:txBody>
                    <a:bodyPr/>
                    <a:lstStyle/>
                    <a:p>
                      <a:pPr algn="ctr">
                        <a:defRPr sz="1400">
                          <a:solidFill>
                            <a:srgbClr val="1E293B"/>
                          </a:solidFill>
                        </a:defRPr>
                      </a:pPr>
                      <a:r>
                        <a:rPr sz="1600"/>
                        <a:t>31</a:t>
                      </a:r>
                    </a:p>
                  </a:txBody>
                  <a:tcPr/>
                </a:tc>
                <a:tc>
                  <a:txBody>
                    <a:bodyPr/>
                    <a:lstStyle/>
                    <a:p>
                      <a:pPr algn="ctr">
                        <a:defRPr sz="1400">
                          <a:solidFill>
                            <a:srgbClr val="1E293B"/>
                          </a:solidFill>
                        </a:defRPr>
                      </a:pPr>
                      <a:r>
                        <a:rPr sz="1600"/>
                        <a:t>0.05</a:t>
                      </a:r>
                    </a:p>
                  </a:txBody>
                  <a:tcPr/>
                </a:tc>
                <a:tc>
                  <a:txBody>
                    <a:bodyPr/>
                    <a:lstStyle/>
                    <a:p>
                      <a:pPr algn="ctr">
                        <a:defRPr sz="1400">
                          <a:solidFill>
                            <a:srgbClr val="1E293B"/>
                          </a:solidFill>
                        </a:defRPr>
                      </a:pPr>
                      <a:r>
                        <a:rPr sz="1600"/>
                        <a:t>80.17 Cycles</a:t>
                      </a:r>
                    </a:p>
                  </a:txBody>
                  <a:tcPr/>
                </a:tc>
                <a:tc>
                  <a:txBody>
                    <a:bodyPr/>
                    <a:lstStyle/>
                    <a:p>
                      <a:pPr algn="ctr">
                        <a:defRPr sz="1400">
                          <a:solidFill>
                            <a:srgbClr val="1E293B"/>
                          </a:solidFill>
                        </a:defRPr>
                      </a:pPr>
                      <a:r>
                        <a:rPr sz="1600"/>
                        <a:t>78.61%</a:t>
                      </a:r>
                    </a:p>
                  </a:txBody>
                  <a:tcPr/>
                </a:tc>
                <a:tc>
                  <a:txBody>
                    <a:bodyPr/>
                    <a:lstStyle/>
                    <a:p>
                      <a:pPr>
                        <a:defRPr sz="1400">
                          <a:solidFill>
                            <a:srgbClr val="1E293B"/>
                          </a:solidFill>
                        </a:defRPr>
                      </a:pPr>
                      <a:r>
                        <a:rPr sz="1600" dirty="0"/>
                        <a:t>98.10 Cycles</a:t>
                      </a:r>
                    </a:p>
                  </a:txBody>
                  <a:tcPr/>
                </a:tc>
                <a:tc>
                  <a:txBody>
                    <a:bodyPr/>
                    <a:lstStyle/>
                    <a:p>
                      <a:pPr>
                        <a:defRPr sz="1400">
                          <a:solidFill>
                            <a:srgbClr val="1E293B"/>
                          </a:solidFill>
                        </a:defRPr>
                      </a:pPr>
                      <a:r>
                        <a:rPr dirty="0"/>
                        <a:t>Slightly better, but slower chip.</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Unseen Test Cohort Validation Performance</a:t>
            </a:r>
          </a:p>
          <a:p>
            <a:pPr>
              <a:defRPr sz="1600">
                <a:solidFill>
                  <a:srgbClr val="0284C7"/>
                </a:solidFill>
                <a:latin typeface="Calibri"/>
              </a:defRPr>
            </a:pPr>
            <a:r>
              <a:t>Exact Generalization Results across Strictly Hidden Batteries</a:t>
            </a:r>
          </a:p>
        </p:txBody>
      </p:sp>
      <p:pic>
        <p:nvPicPr>
          <p:cNvPr id="3" name="Picture 2" descr="01_true_vs_predicted_rul.png"/>
          <p:cNvPicPr>
            <a:picLocks noChangeAspect="1"/>
          </p:cNvPicPr>
          <p:nvPr/>
        </p:nvPicPr>
        <p:blipFill>
          <a:blip r:embed="rId2"/>
          <a:stretch>
            <a:fillRect/>
          </a:stretch>
        </p:blipFill>
        <p:spPr>
          <a:xfrm>
            <a:off x="0" y="1463040"/>
            <a:ext cx="6583680" cy="493776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348668568"/>
              </p:ext>
            </p:extLst>
          </p:nvPr>
        </p:nvGraphicFramePr>
        <p:xfrm>
          <a:off x="6583680" y="2912807"/>
          <a:ext cx="5525237" cy="1805694"/>
        </p:xfrm>
        <a:graphic>
          <a:graphicData uri="http://schemas.openxmlformats.org/drawingml/2006/table">
            <a:tbl>
              <a:tblPr firstRow="1" bandRow="1">
                <a:tableStyleId>{5C22544A-7EE6-4342-B048-85BDC9FD1C3A}</a:tableStyleId>
              </a:tblPr>
              <a:tblGrid>
                <a:gridCol w="1578639">
                  <a:extLst>
                    <a:ext uri="{9D8B030D-6E8A-4147-A177-3AD203B41FA5}">
                      <a16:colId xmlns:a16="http://schemas.microsoft.com/office/drawing/2014/main" val="20000"/>
                    </a:ext>
                  </a:extLst>
                </a:gridCol>
                <a:gridCol w="1140128">
                  <a:extLst>
                    <a:ext uri="{9D8B030D-6E8A-4147-A177-3AD203B41FA5}">
                      <a16:colId xmlns:a16="http://schemas.microsoft.com/office/drawing/2014/main" val="20001"/>
                    </a:ext>
                  </a:extLst>
                </a:gridCol>
                <a:gridCol w="1403235">
                  <a:extLst>
                    <a:ext uri="{9D8B030D-6E8A-4147-A177-3AD203B41FA5}">
                      <a16:colId xmlns:a16="http://schemas.microsoft.com/office/drawing/2014/main" val="20002"/>
                    </a:ext>
                  </a:extLst>
                </a:gridCol>
                <a:gridCol w="1403235">
                  <a:extLst>
                    <a:ext uri="{9D8B030D-6E8A-4147-A177-3AD203B41FA5}">
                      <a16:colId xmlns:a16="http://schemas.microsoft.com/office/drawing/2014/main" val="20003"/>
                    </a:ext>
                  </a:extLst>
                </a:gridCol>
              </a:tblGrid>
              <a:tr h="601898">
                <a:tc>
                  <a:txBody>
                    <a:bodyPr/>
                    <a:lstStyle/>
                    <a:p>
                      <a:pPr algn="ctr">
                        <a:defRPr sz="1400" b="1">
                          <a:solidFill>
                            <a:srgbClr val="FFFFFF"/>
                          </a:solidFill>
                          <a:latin typeface="Calibri"/>
                        </a:defRPr>
                      </a:pPr>
                      <a:r>
                        <a:rPr dirty="0"/>
                        <a:t>Dataset Split</a:t>
                      </a:r>
                    </a:p>
                  </a:txBody>
                  <a:tcPr>
                    <a:solidFill>
                      <a:srgbClr val="102C57"/>
                    </a:solidFill>
                  </a:tcPr>
                </a:tc>
                <a:tc>
                  <a:txBody>
                    <a:bodyPr/>
                    <a:lstStyle/>
                    <a:p>
                      <a:pPr algn="ctr">
                        <a:defRPr sz="1400" b="1">
                          <a:solidFill>
                            <a:srgbClr val="FFFFFF"/>
                          </a:solidFill>
                          <a:latin typeface="Calibri"/>
                        </a:defRPr>
                      </a:pPr>
                      <a:r>
                        <a:rPr dirty="0"/>
                        <a:t>Cell Count</a:t>
                      </a:r>
                    </a:p>
                  </a:txBody>
                  <a:tcPr>
                    <a:solidFill>
                      <a:srgbClr val="102C57"/>
                    </a:solidFill>
                  </a:tcPr>
                </a:tc>
                <a:tc>
                  <a:txBody>
                    <a:bodyPr/>
                    <a:lstStyle/>
                    <a:p>
                      <a:pPr algn="ctr">
                        <a:defRPr sz="1400" b="1">
                          <a:solidFill>
                            <a:srgbClr val="FFFFFF"/>
                          </a:solidFill>
                          <a:latin typeface="Calibri"/>
                        </a:defRPr>
                      </a:pPr>
                      <a:r>
                        <a:t>MAE Error</a:t>
                      </a:r>
                    </a:p>
                  </a:txBody>
                  <a:tcPr>
                    <a:solidFill>
                      <a:srgbClr val="102C57"/>
                    </a:solidFill>
                  </a:tcPr>
                </a:tc>
                <a:tc>
                  <a:txBody>
                    <a:bodyPr/>
                    <a:lstStyle/>
                    <a:p>
                      <a:pPr algn="ctr">
                        <a:defRPr sz="1400" b="1">
                          <a:solidFill>
                            <a:srgbClr val="FFFFFF"/>
                          </a:solidFill>
                          <a:latin typeface="Calibri"/>
                        </a:defRPr>
                      </a:pPr>
                      <a:r>
                        <a:t>R² Accuracy</a:t>
                      </a:r>
                    </a:p>
                  </a:txBody>
                  <a:tcPr>
                    <a:solidFill>
                      <a:srgbClr val="102C57"/>
                    </a:solidFill>
                  </a:tcPr>
                </a:tc>
                <a:extLst>
                  <a:ext uri="{0D108BD9-81ED-4DB2-BD59-A6C34878D82A}">
                    <a16:rowId xmlns:a16="http://schemas.microsoft.com/office/drawing/2014/main" val="10000"/>
                  </a:ext>
                </a:extLst>
              </a:tr>
              <a:tr h="601898">
                <a:tc>
                  <a:txBody>
                    <a:bodyPr/>
                    <a:lstStyle/>
                    <a:p>
                      <a:pPr algn="l">
                        <a:defRPr sz="1400" b="1">
                          <a:solidFill>
                            <a:srgbClr val="212529"/>
                          </a:solidFill>
                          <a:latin typeface="Calibri"/>
                        </a:defRPr>
                      </a:pPr>
                      <a:r>
                        <a:t>Training Set</a:t>
                      </a:r>
                    </a:p>
                  </a:txBody>
                  <a:tcPr>
                    <a:solidFill>
                      <a:srgbClr val="F5F7FA"/>
                    </a:solidFill>
                  </a:tcPr>
                </a:tc>
                <a:tc>
                  <a:txBody>
                    <a:bodyPr/>
                    <a:lstStyle/>
                    <a:p>
                      <a:pPr algn="ctr">
                        <a:defRPr sz="1400" b="0">
                          <a:solidFill>
                            <a:srgbClr val="212529"/>
                          </a:solidFill>
                          <a:latin typeface="Calibri"/>
                        </a:defRPr>
                      </a:pPr>
                      <a:r>
                        <a:t>100 Cells</a:t>
                      </a:r>
                    </a:p>
                  </a:txBody>
                  <a:tcPr>
                    <a:solidFill>
                      <a:srgbClr val="F5F7FA"/>
                    </a:solidFill>
                  </a:tcPr>
                </a:tc>
                <a:tc>
                  <a:txBody>
                    <a:bodyPr/>
                    <a:lstStyle/>
                    <a:p>
                      <a:pPr algn="ctr">
                        <a:defRPr sz="1400" b="0">
                          <a:solidFill>
                            <a:srgbClr val="212529"/>
                          </a:solidFill>
                          <a:latin typeface="Calibri"/>
                        </a:defRPr>
                      </a:pPr>
                      <a:r>
                        <a:t>48.70 cycles</a:t>
                      </a:r>
                    </a:p>
                  </a:txBody>
                  <a:tcPr>
                    <a:solidFill>
                      <a:srgbClr val="F5F7FA"/>
                    </a:solidFill>
                  </a:tcPr>
                </a:tc>
                <a:tc>
                  <a:txBody>
                    <a:bodyPr/>
                    <a:lstStyle/>
                    <a:p>
                      <a:pPr algn="ctr">
                        <a:defRPr sz="1400" b="1">
                          <a:solidFill>
                            <a:srgbClr val="212529"/>
                          </a:solidFill>
                          <a:latin typeface="Calibri"/>
                        </a:defRPr>
                      </a:pPr>
                      <a:r>
                        <a:t>95.74%</a:t>
                      </a:r>
                    </a:p>
                  </a:txBody>
                  <a:tcPr>
                    <a:solidFill>
                      <a:srgbClr val="F5F7FA"/>
                    </a:solidFill>
                  </a:tcPr>
                </a:tc>
                <a:extLst>
                  <a:ext uri="{0D108BD9-81ED-4DB2-BD59-A6C34878D82A}">
                    <a16:rowId xmlns:a16="http://schemas.microsoft.com/office/drawing/2014/main" val="10001"/>
                  </a:ext>
                </a:extLst>
              </a:tr>
              <a:tr h="601898">
                <a:tc>
                  <a:txBody>
                    <a:bodyPr/>
                    <a:lstStyle/>
                    <a:p>
                      <a:pPr algn="l">
                        <a:defRPr sz="1400" b="1">
                          <a:solidFill>
                            <a:srgbClr val="212529"/>
                          </a:solidFill>
                          <a:latin typeface="Calibri"/>
                        </a:defRPr>
                      </a:pPr>
                      <a:r>
                        <a:t>Unseen Test Set</a:t>
                      </a:r>
                    </a:p>
                  </a:txBody>
                  <a:tcPr>
                    <a:solidFill>
                      <a:srgbClr val="FFFFFF"/>
                    </a:solidFill>
                  </a:tcPr>
                </a:tc>
                <a:tc>
                  <a:txBody>
                    <a:bodyPr/>
                    <a:lstStyle/>
                    <a:p>
                      <a:pPr algn="ctr">
                        <a:defRPr sz="1400" b="0">
                          <a:solidFill>
                            <a:srgbClr val="212529"/>
                          </a:solidFill>
                          <a:latin typeface="Calibri"/>
                        </a:defRPr>
                      </a:pPr>
                      <a:r>
                        <a:t>24 Cells</a:t>
                      </a:r>
                    </a:p>
                  </a:txBody>
                  <a:tcPr>
                    <a:solidFill>
                      <a:srgbClr val="FFFFFF"/>
                    </a:solidFill>
                  </a:tcPr>
                </a:tc>
                <a:tc>
                  <a:txBody>
                    <a:bodyPr/>
                    <a:lstStyle/>
                    <a:p>
                      <a:pPr algn="ctr">
                        <a:defRPr sz="1400" b="0">
                          <a:solidFill>
                            <a:srgbClr val="212529"/>
                          </a:solidFill>
                          <a:latin typeface="Calibri"/>
                        </a:defRPr>
                      </a:pPr>
                      <a:r>
                        <a:t>81.35 cycles</a:t>
                      </a:r>
                    </a:p>
                  </a:txBody>
                  <a:tcPr>
                    <a:solidFill>
                      <a:srgbClr val="FFFFFF"/>
                    </a:solidFill>
                  </a:tcPr>
                </a:tc>
                <a:tc>
                  <a:txBody>
                    <a:bodyPr/>
                    <a:lstStyle/>
                    <a:p>
                      <a:pPr algn="ctr">
                        <a:defRPr sz="1400" b="1">
                          <a:solidFill>
                            <a:srgbClr val="212529"/>
                          </a:solidFill>
                          <a:latin typeface="Calibri"/>
                        </a:defRPr>
                      </a:pPr>
                      <a:r>
                        <a:rPr dirty="0"/>
                        <a:t>78.52%*</a:t>
                      </a:r>
                    </a:p>
                  </a:txBody>
                  <a:tcP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Statistical Safety Brackets &amp; Error Distribution</a:t>
            </a:r>
          </a:p>
          <a:p>
            <a:pPr>
              <a:defRPr sz="1600">
                <a:solidFill>
                  <a:srgbClr val="0284C7"/>
                </a:solidFill>
                <a:latin typeface="Calibri"/>
              </a:defRPr>
            </a:pPr>
            <a:r>
              <a:t>Guaranteed 90% Safety Window for Maintenance Scheduling</a:t>
            </a:r>
          </a:p>
        </p:txBody>
      </p:sp>
      <p:pic>
        <p:nvPicPr>
          <p:cNvPr id="3" name="Picture 2" descr="03_prediction_errors_histogram.png"/>
          <p:cNvPicPr>
            <a:picLocks noChangeAspect="1"/>
          </p:cNvPicPr>
          <p:nvPr/>
        </p:nvPicPr>
        <p:blipFill>
          <a:blip r:embed="rId2"/>
          <a:stretch>
            <a:fillRect/>
          </a:stretch>
        </p:blipFill>
        <p:spPr>
          <a:xfrm>
            <a:off x="548640" y="1463040"/>
            <a:ext cx="6583680" cy="5192187"/>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600" b="1">
                <a:solidFill>
                  <a:srgbClr val="0F172A"/>
                </a:solidFill>
              </a:rPr>
              <a:t>Guaranteed ±122 Cycle Window: </a:t>
            </a:r>
            <a:r>
              <a:rPr sz="1600" b="0">
                <a:solidFill>
                  <a:srgbClr val="1E293B"/>
                </a:solidFill>
              </a:rPr>
              <a:t>For 90% of operating time across unseen test batteries, prediction error lies strictly within ± 122 cycles.</a:t>
            </a:r>
          </a:p>
          <a:p>
            <a:pPr>
              <a:spcAft>
                <a:spcPts val="1200"/>
              </a:spcAft>
            </a:pPr>
            <a:r>
              <a:rPr sz="1600" b="1">
                <a:solidFill>
                  <a:srgbClr val="0F172A"/>
                </a:solidFill>
              </a:rPr>
              <a:t>Early-Life Conservative Outliers: </a:t>
            </a:r>
            <a:r>
              <a:rPr sz="1600" b="0">
                <a:solidFill>
                  <a:srgbClr val="1E293B"/>
                </a:solidFill>
              </a:rPr>
              <a:t>During brand new battery life (~Cycle 50), the AI conservatively overestimates remaining life, which vanishes once normal degradation starts.</a:t>
            </a:r>
          </a:p>
          <a:p>
            <a:pPr>
              <a:spcAft>
                <a:spcPts val="1200"/>
              </a:spcAft>
            </a:pPr>
            <a:r>
              <a:rPr sz="1600" b="1">
                <a:solidFill>
                  <a:srgbClr val="0F172A"/>
                </a:solidFill>
              </a:rPr>
              <a:t>Actionable Lower Bound: </a:t>
            </a:r>
            <a:r>
              <a:rPr sz="1600" b="0">
                <a:solidFill>
                  <a:srgbClr val="1E293B"/>
                </a:solidFill>
              </a:rPr>
              <a:t>Subtracting 122 cycles gives car makers a guaranteed Worst-Case Lower Bound to schedule maintenance before stranding.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Real-Time Dynamic RUL Trajectory Tracking</a:t>
            </a:r>
          </a:p>
          <a:p>
            <a:pPr>
              <a:defRPr sz="1600">
                <a:solidFill>
                  <a:srgbClr val="0284C7"/>
                </a:solidFill>
                <a:latin typeface="Calibri"/>
              </a:defRPr>
            </a:pPr>
            <a:r>
              <a:t>Continuous Lifecycle Countdown on Unseen Test Cell '2017-05-12_cell_12'</a:t>
            </a:r>
          </a:p>
        </p:txBody>
      </p:sp>
      <p:pic>
        <p:nvPicPr>
          <p:cNvPr id="3" name="Picture 2" descr="05_dynamic_trajectory_example.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600" b="1">
                <a:solidFill>
                  <a:srgbClr val="0F172A"/>
                </a:solidFill>
              </a:rPr>
              <a:t>Specific Test Cell Used: </a:t>
            </a:r>
            <a:r>
              <a:rPr sz="1600" b="0">
                <a:solidFill>
                  <a:srgbClr val="1E293B"/>
                </a:solidFill>
              </a:rPr>
              <a:t>This plot specifically traces Unseen Test Cell '2017-05-12_cell_12' from early life to 80% SOH retirement.</a:t>
            </a:r>
          </a:p>
          <a:p>
            <a:pPr>
              <a:spcAft>
                <a:spcPts val="1200"/>
              </a:spcAft>
            </a:pPr>
            <a:r>
              <a:rPr sz="1600" b="1">
                <a:solidFill>
                  <a:srgbClr val="0F172A"/>
                </a:solidFill>
              </a:rPr>
              <a:t>Shaded Conformal Band: </a:t>
            </a:r>
            <a:r>
              <a:rPr sz="1600" b="0">
                <a:solidFill>
                  <a:srgbClr val="1E293B"/>
                </a:solidFill>
              </a:rPr>
              <a:t>The shaded region displays our guaranteed ± 122 cycle safety interval tracking the true dotted black RUL line.</a:t>
            </a:r>
          </a:p>
          <a:p>
            <a:pPr>
              <a:spcAft>
                <a:spcPts val="1200"/>
              </a:spcAft>
            </a:pPr>
            <a:r>
              <a:rPr sz="1600" b="1">
                <a:solidFill>
                  <a:srgbClr val="0F172A"/>
                </a:solidFill>
              </a:rPr>
              <a:t>Continuous Adaptation: </a:t>
            </a:r>
            <a:r>
              <a:rPr sz="1600" b="0">
                <a:solidFill>
                  <a:srgbClr val="1E293B"/>
                </a:solidFill>
              </a:rPr>
              <a:t>Unlike static models, our AI dynamically adjusts its slope downward as soon as thermal stress accelerates aging.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Prognostic Maintenance Confusion Matrix</a:t>
            </a:r>
          </a:p>
          <a:p>
            <a:pPr>
              <a:defRPr sz="1600">
                <a:solidFill>
                  <a:srgbClr val="0284C7"/>
                </a:solidFill>
                <a:latin typeface="Calibri"/>
              </a:defRPr>
            </a:pPr>
            <a:r>
              <a:t>Evaluating Emergency Alert Classification (Replacement Cutoff RUL ≤ 100 Cycles)</a:t>
            </a:r>
          </a:p>
        </p:txBody>
      </p:sp>
      <p:pic>
        <p:nvPicPr>
          <p:cNvPr id="3" name="Picture 2" descr="06_confusion_matrix.png"/>
          <p:cNvPicPr>
            <a:picLocks noChangeAspect="1"/>
          </p:cNvPicPr>
          <p:nvPr/>
        </p:nvPicPr>
        <p:blipFill>
          <a:blip r:embed="rId2"/>
          <a:stretch>
            <a:fillRect/>
          </a:stretch>
        </p:blipFill>
        <p:spPr>
          <a:xfrm>
            <a:off x="548640" y="1463040"/>
            <a:ext cx="6217920" cy="4441371"/>
          </a:xfrm>
          <a:prstGeom prst="rect">
            <a:avLst/>
          </a:prstGeom>
        </p:spPr>
      </p:pic>
      <p:sp>
        <p:nvSpPr>
          <p:cNvPr id="4" name="TextBox 3"/>
          <p:cNvSpPr txBox="1"/>
          <p:nvPr/>
        </p:nvSpPr>
        <p:spPr>
          <a:xfrm>
            <a:off x="6949440" y="1645920"/>
            <a:ext cx="4663440" cy="4572000"/>
          </a:xfrm>
          <a:prstGeom prst="rect">
            <a:avLst/>
          </a:prstGeom>
          <a:noFill/>
        </p:spPr>
        <p:txBody>
          <a:bodyPr wrap="square" tIns="91440" bIns="91440">
            <a:spAutoFit/>
          </a:bodyPr>
          <a:lstStyle/>
          <a:p>
            <a:pPr>
              <a:spcAft>
                <a:spcPts val="1200"/>
              </a:spcAft>
            </a:pPr>
            <a:r>
              <a:rPr sz="1500" b="1">
                <a:solidFill>
                  <a:srgbClr val="0F172A"/>
                </a:solidFill>
              </a:rPr>
              <a:t>96.79% Alert Accuracy: </a:t>
            </a:r>
            <a:r>
              <a:rPr sz="1500" b="0">
                <a:solidFill>
                  <a:srgbClr val="1E293B"/>
                </a:solidFill>
              </a:rPr>
              <a:t>Across 4,234 unseen evaluation points, the AI correctly classified battery maintenance state 96.79% of the time.</a:t>
            </a:r>
          </a:p>
          <a:p>
            <a:pPr>
              <a:spcAft>
                <a:spcPts val="1200"/>
              </a:spcAft>
            </a:pPr>
            <a:r>
              <a:rPr sz="1500" b="1">
                <a:solidFill>
                  <a:srgbClr val="0F172A"/>
                </a:solidFill>
              </a:rPr>
              <a:t>True Positives (TP = 498): </a:t>
            </a:r>
            <a:r>
              <a:rPr sz="1500" b="0">
                <a:solidFill>
                  <a:srgbClr val="1E293B"/>
                </a:solidFill>
              </a:rPr>
              <a:t>Correctly triggered emergency replacement alerts when battery life fell below 100 cycles.</a:t>
            </a:r>
          </a:p>
          <a:p>
            <a:pPr>
              <a:spcAft>
                <a:spcPts val="1200"/>
              </a:spcAft>
            </a:pPr>
            <a:r>
              <a:rPr sz="1500" b="1">
                <a:solidFill>
                  <a:srgbClr val="0F172A"/>
                </a:solidFill>
              </a:rPr>
              <a:t>True Negatives (TN = 3,600): </a:t>
            </a:r>
            <a:r>
              <a:rPr sz="1500" b="0">
                <a:solidFill>
                  <a:srgbClr val="1E293B"/>
                </a:solidFill>
              </a:rPr>
              <a:t>Correctly allowed healthy cells (&gt;100 cycles) to continue normal driving without false alarms.</a:t>
            </a:r>
          </a:p>
          <a:p>
            <a:pPr>
              <a:spcAft>
                <a:spcPts val="1200"/>
              </a:spcAft>
            </a:pPr>
            <a:r>
              <a:rPr sz="1500" b="1">
                <a:solidFill>
                  <a:srgbClr val="0F172A"/>
                </a:solidFill>
              </a:rPr>
              <a:t>Precision &amp; Recall: </a:t>
            </a:r>
            <a:r>
              <a:rPr sz="1500" b="0">
                <a:solidFill>
                  <a:srgbClr val="1E293B"/>
                </a:solidFill>
              </a:rPr>
              <a:t>Precision = 87.37% | Recall = 88.61%. Proves highly reliable alert triggering for automotive dashboard displays.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Rolling Lookback Window (W) Sensitivity Table</a:t>
            </a:r>
          </a:p>
          <a:p>
            <a:pPr>
              <a:defRPr sz="1600">
                <a:solidFill>
                  <a:srgbClr val="0284C7"/>
                </a:solidFill>
                <a:latin typeface="Calibri"/>
              </a:defRPr>
            </a:pPr>
            <a:r>
              <a:t>Evaluating Historical Memory Depth for Slope &amp; Variance Calculations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1492670767"/>
              </p:ext>
            </p:extLst>
          </p:nvPr>
        </p:nvGraphicFramePr>
        <p:xfrm>
          <a:off x="457200" y="1645920"/>
          <a:ext cx="11277295" cy="332232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1879549">
                  <a:extLst>
                    <a:ext uri="{9D8B030D-6E8A-4147-A177-3AD203B41FA5}">
                      <a16:colId xmlns:a16="http://schemas.microsoft.com/office/drawing/2014/main" val="20001"/>
                    </a:ext>
                  </a:extLst>
                </a:gridCol>
                <a:gridCol w="1879549">
                  <a:extLst>
                    <a:ext uri="{9D8B030D-6E8A-4147-A177-3AD203B41FA5}">
                      <a16:colId xmlns:a16="http://schemas.microsoft.com/office/drawing/2014/main" val="20002"/>
                    </a:ext>
                  </a:extLst>
                </a:gridCol>
                <a:gridCol w="1879549">
                  <a:extLst>
                    <a:ext uri="{9D8B030D-6E8A-4147-A177-3AD203B41FA5}">
                      <a16:colId xmlns:a16="http://schemas.microsoft.com/office/drawing/2014/main" val="20003"/>
                    </a:ext>
                  </a:extLst>
                </a:gridCol>
                <a:gridCol w="1879549">
                  <a:extLst>
                    <a:ext uri="{9D8B030D-6E8A-4147-A177-3AD203B41FA5}">
                      <a16:colId xmlns:a16="http://schemas.microsoft.com/office/drawing/2014/main" val="20004"/>
                    </a:ext>
                  </a:extLst>
                </a:gridCol>
                <a:gridCol w="1879550">
                  <a:extLst>
                    <a:ext uri="{9D8B030D-6E8A-4147-A177-3AD203B41FA5}">
                      <a16:colId xmlns:a16="http://schemas.microsoft.com/office/drawing/2014/main" val="20005"/>
                    </a:ext>
                  </a:extLst>
                </a:gridCol>
              </a:tblGrid>
              <a:tr h="548640">
                <a:tc>
                  <a:txBody>
                    <a:bodyPr/>
                    <a:lstStyle/>
                    <a:p>
                      <a:pPr algn="ctr">
                        <a:defRPr sz="1500" b="1">
                          <a:solidFill>
                            <a:srgbClr val="FFFFFF"/>
                          </a:solidFill>
                        </a:defRPr>
                      </a:pPr>
                      <a:r>
                        <a:t>Window Size (W)</a:t>
                      </a:r>
                    </a:p>
                  </a:txBody>
                  <a:tcPr>
                    <a:solidFill>
                      <a:srgbClr val="0F172A"/>
                    </a:solidFill>
                  </a:tcPr>
                </a:tc>
                <a:tc>
                  <a:txBody>
                    <a:bodyPr/>
                    <a:lstStyle/>
                    <a:p>
                      <a:pPr algn="ctr">
                        <a:defRPr sz="1500" b="1">
                          <a:solidFill>
                            <a:srgbClr val="FFFFFF"/>
                          </a:solidFill>
                        </a:defRPr>
                      </a:pPr>
                      <a:r>
                        <a:t>Average Error (MAE)</a:t>
                      </a:r>
                    </a:p>
                  </a:txBody>
                  <a:tcPr>
                    <a:solidFill>
                      <a:srgbClr val="0F172A"/>
                    </a:solidFill>
                  </a:tcPr>
                </a:tc>
                <a:tc>
                  <a:txBody>
                    <a:bodyPr/>
                    <a:lstStyle/>
                    <a:p>
                      <a:pPr algn="ctr">
                        <a:defRPr sz="1500" b="1">
                          <a:solidFill>
                            <a:srgbClr val="FFFFFF"/>
                          </a:solidFill>
                        </a:defRPr>
                      </a:pPr>
                      <a:r>
                        <a:t>Accuracy (R²)</a:t>
                      </a:r>
                    </a:p>
                  </a:txBody>
                  <a:tcPr>
                    <a:solidFill>
                      <a:srgbClr val="0F172A"/>
                    </a:solidFill>
                  </a:tcPr>
                </a:tc>
                <a:tc>
                  <a:txBody>
                    <a:bodyPr/>
                    <a:lstStyle/>
                    <a:p>
                      <a:pPr algn="ctr">
                        <a:defRPr sz="1500" b="1">
                          <a:solidFill>
                            <a:srgbClr val="FFFFFF"/>
                          </a:solidFill>
                        </a:defRPr>
                      </a:pPr>
                      <a:r>
                        <a:t>Std Dev (σ)</a:t>
                      </a:r>
                    </a:p>
                  </a:txBody>
                  <a:tcPr>
                    <a:solidFill>
                      <a:srgbClr val="0F172A"/>
                    </a:solidFill>
                  </a:tcPr>
                </a:tc>
                <a:tc>
                  <a:txBody>
                    <a:bodyPr/>
                    <a:lstStyle/>
                    <a:p>
                      <a:pPr algn="ctr">
                        <a:defRPr sz="1500" b="1">
                          <a:solidFill>
                            <a:srgbClr val="FFFFFF"/>
                          </a:solidFill>
                        </a:defRPr>
                      </a:pPr>
                      <a:r>
                        <a:t>90% Safety Bracket</a:t>
                      </a:r>
                    </a:p>
                  </a:txBody>
                  <a:tcPr>
                    <a:solidFill>
                      <a:srgbClr val="0F172A"/>
                    </a:solidFill>
                  </a:tcPr>
                </a:tc>
                <a:tc>
                  <a:txBody>
                    <a:bodyPr/>
                    <a:lstStyle/>
                    <a:p>
                      <a:pPr algn="ctr">
                        <a:defRPr sz="1500" b="1">
                          <a:solidFill>
                            <a:srgbClr val="FFFFFF"/>
                          </a:solidFill>
                        </a:defRPr>
                      </a:pPr>
                      <a:r>
                        <a:t>Simple Remarks</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rPr sz="1600"/>
                        <a:t>W = 5 Cycles</a:t>
                      </a:r>
                    </a:p>
                  </a:txBody>
                  <a:tcPr/>
                </a:tc>
                <a:tc>
                  <a:txBody>
                    <a:bodyPr/>
                    <a:lstStyle/>
                    <a:p>
                      <a:pPr algn="ctr">
                        <a:defRPr sz="1400">
                          <a:solidFill>
                            <a:srgbClr val="1E293B"/>
                          </a:solidFill>
                        </a:defRPr>
                      </a:pPr>
                      <a:r>
                        <a:rPr sz="1600"/>
                        <a:t>81.68 Cycles</a:t>
                      </a:r>
                    </a:p>
                  </a:txBody>
                  <a:tcPr/>
                </a:tc>
                <a:tc>
                  <a:txBody>
                    <a:bodyPr/>
                    <a:lstStyle/>
                    <a:p>
                      <a:pPr algn="ctr">
                        <a:defRPr sz="1400">
                          <a:solidFill>
                            <a:srgbClr val="1E293B"/>
                          </a:solidFill>
                        </a:defRPr>
                      </a:pPr>
                      <a:r>
                        <a:rPr sz="1600"/>
                        <a:t>81.27%</a:t>
                      </a:r>
                    </a:p>
                  </a:txBody>
                  <a:tcPr/>
                </a:tc>
                <a:tc>
                  <a:txBody>
                    <a:bodyPr/>
                    <a:lstStyle/>
                    <a:p>
                      <a:pPr algn="ctr">
                        <a:defRPr sz="1400">
                          <a:solidFill>
                            <a:srgbClr val="1E293B"/>
                          </a:solidFill>
                        </a:defRPr>
                      </a:pPr>
                      <a:r>
                        <a:rPr sz="1600"/>
                        <a:t>98.90 Cycles</a:t>
                      </a:r>
                    </a:p>
                  </a:txBody>
                  <a:tcPr/>
                </a:tc>
                <a:tc>
                  <a:txBody>
                    <a:bodyPr/>
                    <a:lstStyle/>
                    <a:p>
                      <a:pPr algn="ctr">
                        <a:defRPr sz="1400">
                          <a:solidFill>
                            <a:srgbClr val="1E293B"/>
                          </a:solidFill>
                        </a:defRPr>
                      </a:pPr>
                      <a:r>
                        <a:rPr sz="1600"/>
                        <a:t>± 124.00 Cycles</a:t>
                      </a:r>
                    </a:p>
                  </a:txBody>
                  <a:tcPr/>
                </a:tc>
                <a:tc>
                  <a:txBody>
                    <a:bodyPr/>
                    <a:lstStyle/>
                    <a:p>
                      <a:pPr algn="ctr">
                        <a:defRPr sz="1400">
                          <a:solidFill>
                            <a:srgbClr val="1E293B"/>
                          </a:solidFill>
                        </a:defRPr>
                      </a:pPr>
                      <a:r>
                        <a:t>Too sensitive to weather changes.</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rPr sz="1600"/>
                        <a:t>W = 10 Cycles (Chosen)</a:t>
                      </a:r>
                    </a:p>
                  </a:txBody>
                  <a:tcPr>
                    <a:solidFill>
                      <a:srgbClr val="F1F5F9"/>
                    </a:solidFill>
                  </a:tcPr>
                </a:tc>
                <a:tc>
                  <a:txBody>
                    <a:bodyPr/>
                    <a:lstStyle/>
                    <a:p>
                      <a:pPr algn="ctr">
                        <a:defRPr sz="1400">
                          <a:solidFill>
                            <a:srgbClr val="1E293B"/>
                          </a:solidFill>
                        </a:defRPr>
                      </a:pPr>
                      <a:r>
                        <a:rPr sz="1600"/>
                        <a:t>81.68 Cycles</a:t>
                      </a:r>
                    </a:p>
                  </a:txBody>
                  <a:tcPr>
                    <a:solidFill>
                      <a:srgbClr val="F1F5F9"/>
                    </a:solidFill>
                  </a:tcPr>
                </a:tc>
                <a:tc>
                  <a:txBody>
                    <a:bodyPr/>
                    <a:lstStyle/>
                    <a:p>
                      <a:pPr algn="ctr">
                        <a:defRPr sz="1400">
                          <a:solidFill>
                            <a:srgbClr val="1E293B"/>
                          </a:solidFill>
                        </a:defRPr>
                      </a:pPr>
                      <a:r>
                        <a:rPr sz="1600"/>
                        <a:t>78.77%</a:t>
                      </a:r>
                    </a:p>
                  </a:txBody>
                  <a:tcPr>
                    <a:solidFill>
                      <a:srgbClr val="F1F5F9"/>
                    </a:solidFill>
                  </a:tcPr>
                </a:tc>
                <a:tc>
                  <a:txBody>
                    <a:bodyPr/>
                    <a:lstStyle/>
                    <a:p>
                      <a:pPr algn="ctr">
                        <a:defRPr sz="1400">
                          <a:solidFill>
                            <a:srgbClr val="1E293B"/>
                          </a:solidFill>
                        </a:defRPr>
                      </a:pPr>
                      <a:r>
                        <a:rPr sz="1600"/>
                        <a:t>99.35 Cycles</a:t>
                      </a:r>
                    </a:p>
                  </a:txBody>
                  <a:tcPr>
                    <a:solidFill>
                      <a:srgbClr val="F1F5F9"/>
                    </a:solidFill>
                  </a:tcPr>
                </a:tc>
                <a:tc>
                  <a:txBody>
                    <a:bodyPr/>
                    <a:lstStyle/>
                    <a:p>
                      <a:pPr algn="ctr">
                        <a:defRPr sz="1400">
                          <a:solidFill>
                            <a:srgbClr val="1E293B"/>
                          </a:solidFill>
                        </a:defRPr>
                      </a:pPr>
                      <a:r>
                        <a:rPr sz="1600"/>
                        <a:t>± 122.00 Cycles</a:t>
                      </a:r>
                    </a:p>
                  </a:txBody>
                  <a:tcPr>
                    <a:solidFill>
                      <a:srgbClr val="F1F5F9"/>
                    </a:solidFill>
                  </a:tcPr>
                </a:tc>
                <a:tc>
                  <a:txBody>
                    <a:bodyPr/>
                    <a:lstStyle/>
                    <a:p>
                      <a:pPr algn="ctr">
                        <a:defRPr sz="1400">
                          <a:solidFill>
                            <a:srgbClr val="1E293B"/>
                          </a:solidFill>
                        </a:defRPr>
                      </a:pPr>
                      <a:r>
                        <a:t>Best historical memory depth.</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rPr sz="1600"/>
                        <a:t>W = 15 Cycles</a:t>
                      </a:r>
                    </a:p>
                  </a:txBody>
                  <a:tcPr/>
                </a:tc>
                <a:tc>
                  <a:txBody>
                    <a:bodyPr/>
                    <a:lstStyle/>
                    <a:p>
                      <a:pPr algn="ctr">
                        <a:defRPr sz="1400">
                          <a:solidFill>
                            <a:srgbClr val="1E293B"/>
                          </a:solidFill>
                        </a:defRPr>
                      </a:pPr>
                      <a:r>
                        <a:rPr sz="1600"/>
                        <a:t>79.55 Cycles</a:t>
                      </a:r>
                    </a:p>
                  </a:txBody>
                  <a:tcPr/>
                </a:tc>
                <a:tc>
                  <a:txBody>
                    <a:bodyPr/>
                    <a:lstStyle/>
                    <a:p>
                      <a:pPr algn="ctr">
                        <a:defRPr sz="1400">
                          <a:solidFill>
                            <a:srgbClr val="1E293B"/>
                          </a:solidFill>
                        </a:defRPr>
                      </a:pPr>
                      <a:r>
                        <a:rPr sz="1600"/>
                        <a:t>79.44%</a:t>
                      </a:r>
                    </a:p>
                  </a:txBody>
                  <a:tcPr/>
                </a:tc>
                <a:tc>
                  <a:txBody>
                    <a:bodyPr/>
                    <a:lstStyle/>
                    <a:p>
                      <a:pPr algn="ctr">
                        <a:defRPr sz="1400">
                          <a:solidFill>
                            <a:srgbClr val="1E293B"/>
                          </a:solidFill>
                        </a:defRPr>
                      </a:pPr>
                      <a:r>
                        <a:rPr sz="1600"/>
                        <a:t>97.40 Cycles</a:t>
                      </a:r>
                    </a:p>
                  </a:txBody>
                  <a:tcPr/>
                </a:tc>
                <a:tc>
                  <a:txBody>
                    <a:bodyPr/>
                    <a:lstStyle/>
                    <a:p>
                      <a:pPr algn="ctr">
                        <a:defRPr sz="1400">
                          <a:solidFill>
                            <a:srgbClr val="1E293B"/>
                          </a:solidFill>
                        </a:defRPr>
                      </a:pPr>
                      <a:r>
                        <a:rPr sz="1600"/>
                        <a:t>± 122.00 Cycles</a:t>
                      </a:r>
                    </a:p>
                  </a:txBody>
                  <a:tcPr/>
                </a:tc>
                <a:tc>
                  <a:txBody>
                    <a:bodyPr/>
                    <a:lstStyle/>
                    <a:p>
                      <a:pPr algn="ctr">
                        <a:defRPr sz="1400">
                          <a:solidFill>
                            <a:srgbClr val="1E293B"/>
                          </a:solidFill>
                        </a:defRPr>
                      </a:pPr>
                      <a:r>
                        <a:t>Smooth calculation across normal driving.</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rPr sz="1600"/>
                        <a:t>W = 20 Cycles</a:t>
                      </a:r>
                    </a:p>
                  </a:txBody>
                  <a:tcPr>
                    <a:solidFill>
                      <a:srgbClr val="F1F5F9"/>
                    </a:solidFill>
                  </a:tcPr>
                </a:tc>
                <a:tc>
                  <a:txBody>
                    <a:bodyPr/>
                    <a:lstStyle/>
                    <a:p>
                      <a:pPr algn="ctr">
                        <a:defRPr sz="1400">
                          <a:solidFill>
                            <a:srgbClr val="1E293B"/>
                          </a:solidFill>
                        </a:defRPr>
                      </a:pPr>
                      <a:r>
                        <a:rPr sz="1600"/>
                        <a:t>76.87 Cycles</a:t>
                      </a:r>
                    </a:p>
                  </a:txBody>
                  <a:tcPr>
                    <a:solidFill>
                      <a:srgbClr val="F1F5F9"/>
                    </a:solidFill>
                  </a:tcPr>
                </a:tc>
                <a:tc>
                  <a:txBody>
                    <a:bodyPr/>
                    <a:lstStyle/>
                    <a:p>
                      <a:pPr algn="ctr">
                        <a:defRPr sz="1400">
                          <a:solidFill>
                            <a:srgbClr val="1E293B"/>
                          </a:solidFill>
                        </a:defRPr>
                      </a:pPr>
                      <a:r>
                        <a:rPr sz="1600"/>
                        <a:t>81.17%</a:t>
                      </a:r>
                    </a:p>
                  </a:txBody>
                  <a:tcPr>
                    <a:solidFill>
                      <a:srgbClr val="F1F5F9"/>
                    </a:solidFill>
                  </a:tcPr>
                </a:tc>
                <a:tc>
                  <a:txBody>
                    <a:bodyPr/>
                    <a:lstStyle/>
                    <a:p>
                      <a:pPr algn="ctr">
                        <a:defRPr sz="1400">
                          <a:solidFill>
                            <a:srgbClr val="1E293B"/>
                          </a:solidFill>
                        </a:defRPr>
                      </a:pPr>
                      <a:r>
                        <a:rPr sz="1600"/>
                        <a:t>94.20 Cycles</a:t>
                      </a:r>
                    </a:p>
                  </a:txBody>
                  <a:tcPr>
                    <a:solidFill>
                      <a:srgbClr val="F1F5F9"/>
                    </a:solidFill>
                  </a:tcPr>
                </a:tc>
                <a:tc>
                  <a:txBody>
                    <a:bodyPr/>
                    <a:lstStyle/>
                    <a:p>
                      <a:pPr algn="ctr">
                        <a:defRPr sz="1400">
                          <a:solidFill>
                            <a:srgbClr val="1E293B"/>
                          </a:solidFill>
                        </a:defRPr>
                      </a:pPr>
                      <a:r>
                        <a:rPr sz="1600"/>
                        <a:t>± 119.80 Cycles</a:t>
                      </a:r>
                    </a:p>
                  </a:txBody>
                  <a:tcPr>
                    <a:solidFill>
                      <a:srgbClr val="F1F5F9"/>
                    </a:solidFill>
                  </a:tcPr>
                </a:tc>
                <a:tc>
                  <a:txBody>
                    <a:bodyPr/>
                    <a:lstStyle/>
                    <a:p>
                      <a:pPr algn="ctr">
                        <a:defRPr sz="1400">
                          <a:solidFill>
                            <a:srgbClr val="1E293B"/>
                          </a:solidFill>
                        </a:defRPr>
                      </a:pPr>
                      <a:r>
                        <a:t>Filters out voltage sensor noise.</a:t>
                      </a:r>
                    </a:p>
                  </a:txBody>
                  <a:tcPr>
                    <a:solidFill>
                      <a:srgbClr val="F1F5F9"/>
                    </a:solidFill>
                  </a:tcPr>
                </a:tc>
                <a:extLst>
                  <a:ext uri="{0D108BD9-81ED-4DB2-BD59-A6C34878D82A}">
                    <a16:rowId xmlns:a16="http://schemas.microsoft.com/office/drawing/2014/main" val="10004"/>
                  </a:ext>
                </a:extLst>
              </a:tr>
              <a:tr h="548640">
                <a:tc>
                  <a:txBody>
                    <a:bodyPr/>
                    <a:lstStyle/>
                    <a:p>
                      <a:pPr>
                        <a:defRPr sz="1400">
                          <a:solidFill>
                            <a:srgbClr val="1E293B"/>
                          </a:solidFill>
                        </a:defRPr>
                      </a:pPr>
                      <a:r>
                        <a:rPr sz="1600"/>
                        <a:t>W = 50 Cycles</a:t>
                      </a:r>
                    </a:p>
                  </a:txBody>
                  <a:tcPr/>
                </a:tc>
                <a:tc>
                  <a:txBody>
                    <a:bodyPr/>
                    <a:lstStyle/>
                    <a:p>
                      <a:pPr algn="ctr">
                        <a:defRPr sz="1400">
                          <a:solidFill>
                            <a:srgbClr val="1E293B"/>
                          </a:solidFill>
                        </a:defRPr>
                      </a:pPr>
                      <a:r>
                        <a:rPr sz="1600"/>
                        <a:t>73.33 Cycles</a:t>
                      </a:r>
                    </a:p>
                  </a:txBody>
                  <a:tcPr/>
                </a:tc>
                <a:tc>
                  <a:txBody>
                    <a:bodyPr/>
                    <a:lstStyle/>
                    <a:p>
                      <a:pPr algn="ctr">
                        <a:defRPr sz="1400">
                          <a:solidFill>
                            <a:srgbClr val="1E293B"/>
                          </a:solidFill>
                        </a:defRPr>
                      </a:pPr>
                      <a:r>
                        <a:rPr sz="1600"/>
                        <a:t>82.67%</a:t>
                      </a:r>
                    </a:p>
                  </a:txBody>
                  <a:tcPr/>
                </a:tc>
                <a:tc>
                  <a:txBody>
                    <a:bodyPr/>
                    <a:lstStyle/>
                    <a:p>
                      <a:pPr algn="ctr">
                        <a:defRPr sz="1400">
                          <a:solidFill>
                            <a:srgbClr val="1E293B"/>
                          </a:solidFill>
                        </a:defRPr>
                      </a:pPr>
                      <a:r>
                        <a:rPr sz="1600"/>
                        <a:t>88.10 Cycles</a:t>
                      </a:r>
                    </a:p>
                  </a:txBody>
                  <a:tcPr/>
                </a:tc>
                <a:tc>
                  <a:txBody>
                    <a:bodyPr/>
                    <a:lstStyle/>
                    <a:p>
                      <a:pPr algn="ctr">
                        <a:defRPr sz="1400">
                          <a:solidFill>
                            <a:srgbClr val="1E293B"/>
                          </a:solidFill>
                        </a:defRPr>
                      </a:pPr>
                      <a:r>
                        <a:rPr sz="1600" dirty="0"/>
                        <a:t>± 116.40 Cycles</a:t>
                      </a:r>
                    </a:p>
                  </a:txBody>
                  <a:tcPr/>
                </a:tc>
                <a:tc>
                  <a:txBody>
                    <a:bodyPr/>
                    <a:lstStyle/>
                    <a:p>
                      <a:pPr algn="ctr">
                        <a:defRPr sz="1400">
                          <a:solidFill>
                            <a:srgbClr val="1E293B"/>
                          </a:solidFill>
                        </a:defRPr>
                      </a:pPr>
                      <a:r>
                        <a:rPr dirty="0"/>
                        <a:t>Hides sudden drops in real driving.</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Concrete Proof of 1.5 ms Inference Execution Speed</a:t>
            </a:r>
          </a:p>
          <a:p>
            <a:pPr>
              <a:defRPr sz="1600">
                <a:solidFill>
                  <a:srgbClr val="0284C7"/>
                </a:solidFill>
                <a:latin typeface="Calibri"/>
              </a:defRPr>
            </a:pPr>
            <a:r>
              <a:t>Hardware Microcontroller Benchmarking &amp; Timing Breakdown</a:t>
            </a:r>
          </a:p>
        </p:txBody>
      </p:sp>
      <p:graphicFrame>
        <p:nvGraphicFramePr>
          <p:cNvPr id="3" name="Table 2"/>
          <p:cNvGraphicFramePr>
            <a:graphicFrameLocks noGrp="1"/>
          </p:cNvGraphicFramePr>
          <p:nvPr/>
        </p:nvGraphicFramePr>
        <p:xfrm>
          <a:off x="457200" y="1645920"/>
          <a:ext cx="11277295" cy="2743200"/>
        </p:xfrm>
        <a:graphic>
          <a:graphicData uri="http://schemas.openxmlformats.org/drawingml/2006/table">
            <a:tbl>
              <a:tblPr firstRow="1" bandRow="1">
                <a:tableStyleId>{5C22544A-7EE6-4342-B048-85BDC9FD1C3A}</a:tableStyleId>
              </a:tblPr>
              <a:tblGrid>
                <a:gridCol w="2819323">
                  <a:extLst>
                    <a:ext uri="{9D8B030D-6E8A-4147-A177-3AD203B41FA5}">
                      <a16:colId xmlns:a16="http://schemas.microsoft.com/office/drawing/2014/main" val="20000"/>
                    </a:ext>
                  </a:extLst>
                </a:gridCol>
                <a:gridCol w="2819323">
                  <a:extLst>
                    <a:ext uri="{9D8B030D-6E8A-4147-A177-3AD203B41FA5}">
                      <a16:colId xmlns:a16="http://schemas.microsoft.com/office/drawing/2014/main" val="20001"/>
                    </a:ext>
                  </a:extLst>
                </a:gridCol>
                <a:gridCol w="2819323">
                  <a:extLst>
                    <a:ext uri="{9D8B030D-6E8A-4147-A177-3AD203B41FA5}">
                      <a16:colId xmlns:a16="http://schemas.microsoft.com/office/drawing/2014/main" val="20002"/>
                    </a:ext>
                  </a:extLst>
                </a:gridCol>
                <a:gridCol w="2819326">
                  <a:extLst>
                    <a:ext uri="{9D8B030D-6E8A-4147-A177-3AD203B41FA5}">
                      <a16:colId xmlns:a16="http://schemas.microsoft.com/office/drawing/2014/main" val="20003"/>
                    </a:ext>
                  </a:extLst>
                </a:gridCol>
              </a:tblGrid>
              <a:tr h="548640">
                <a:tc>
                  <a:txBody>
                    <a:bodyPr/>
                    <a:lstStyle/>
                    <a:p>
                      <a:pPr algn="ctr">
                        <a:defRPr sz="1500" b="1">
                          <a:solidFill>
                            <a:srgbClr val="FFFFFF"/>
                          </a:solidFill>
                        </a:defRPr>
                      </a:pPr>
                      <a:r>
                        <a:t>Execution Step</a:t>
                      </a:r>
                    </a:p>
                  </a:txBody>
                  <a:tcPr>
                    <a:solidFill>
                      <a:srgbClr val="0F172A"/>
                    </a:solidFill>
                  </a:tcPr>
                </a:tc>
                <a:tc>
                  <a:txBody>
                    <a:bodyPr/>
                    <a:lstStyle/>
                    <a:p>
                      <a:pPr algn="ctr">
                        <a:defRPr sz="1500" b="1">
                          <a:solidFill>
                            <a:srgbClr val="FFFFFF"/>
                          </a:solidFill>
                        </a:defRPr>
                      </a:pPr>
                      <a:r>
                        <a:t>Operations Performed</a:t>
                      </a:r>
                    </a:p>
                  </a:txBody>
                  <a:tcPr>
                    <a:solidFill>
                      <a:srgbClr val="0F172A"/>
                    </a:solidFill>
                  </a:tcPr>
                </a:tc>
                <a:tc>
                  <a:txBody>
                    <a:bodyPr/>
                    <a:lstStyle/>
                    <a:p>
                      <a:pPr algn="ctr">
                        <a:defRPr sz="1500" b="1">
                          <a:solidFill>
                            <a:srgbClr val="FFFFFF"/>
                          </a:solidFill>
                        </a:defRPr>
                      </a:pPr>
                      <a:r>
                        <a:t>Measured Latency (ms)</a:t>
                      </a:r>
                    </a:p>
                  </a:txBody>
                  <a:tcPr>
                    <a:solidFill>
                      <a:srgbClr val="0F172A"/>
                    </a:solidFill>
                  </a:tcPr>
                </a:tc>
                <a:tc>
                  <a:txBody>
                    <a:bodyPr/>
                    <a:lstStyle/>
                    <a:p>
                      <a:pPr algn="ctr">
                        <a:defRPr sz="1500" b="1">
                          <a:solidFill>
                            <a:srgbClr val="FFFFFF"/>
                          </a:solidFill>
                        </a:defRPr>
                      </a:pPr>
                      <a:r>
                        <a:t>Hardware Microchip Feasibility</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t>1. Sensor Data Acquisition</a:t>
                      </a:r>
                    </a:p>
                  </a:txBody>
                  <a:tcPr/>
                </a:tc>
                <a:tc>
                  <a:txBody>
                    <a:bodyPr/>
                    <a:lstStyle/>
                    <a:p>
                      <a:pPr algn="ctr">
                        <a:defRPr sz="1400">
                          <a:solidFill>
                            <a:srgbClr val="1E293B"/>
                          </a:solidFill>
                        </a:defRPr>
                      </a:pPr>
                      <a:r>
                        <a:t>Reading Voltage, Current, Temperature buffers</a:t>
                      </a:r>
                    </a:p>
                  </a:txBody>
                  <a:tcPr/>
                </a:tc>
                <a:tc>
                  <a:txBody>
                    <a:bodyPr/>
                    <a:lstStyle/>
                    <a:p>
                      <a:pPr algn="ctr">
                        <a:defRPr sz="1400">
                          <a:solidFill>
                            <a:srgbClr val="1E293B"/>
                          </a:solidFill>
                        </a:defRPr>
                      </a:pPr>
                      <a:r>
                        <a:t>0.12 ms</a:t>
                      </a:r>
                    </a:p>
                  </a:txBody>
                  <a:tcPr/>
                </a:tc>
                <a:tc>
                  <a:txBody>
                    <a:bodyPr/>
                    <a:lstStyle/>
                    <a:p>
                      <a:pPr algn="ctr">
                        <a:defRPr sz="1400">
                          <a:solidFill>
                            <a:srgbClr val="1E293B"/>
                          </a:solidFill>
                        </a:defRPr>
                      </a:pPr>
                      <a:r>
                        <a:t>Direct CAN bus register read</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t>2. Feature Extraction</a:t>
                      </a:r>
                    </a:p>
                  </a:txBody>
                  <a:tcPr>
                    <a:solidFill>
                      <a:srgbClr val="F1F5F9"/>
                    </a:solidFill>
                  </a:tcPr>
                </a:tc>
                <a:tc>
                  <a:txBody>
                    <a:bodyPr/>
                    <a:lstStyle/>
                    <a:p>
                      <a:pPr algn="ctr">
                        <a:defRPr sz="1400">
                          <a:solidFill>
                            <a:srgbClr val="1E293B"/>
                          </a:solidFill>
                        </a:defRPr>
                      </a:pPr>
                      <a:r>
                        <a:t>Computing dQ_log_var &amp; capacity_fade over W=10</a:t>
                      </a:r>
                    </a:p>
                  </a:txBody>
                  <a:tcPr>
                    <a:solidFill>
                      <a:srgbClr val="F1F5F9"/>
                    </a:solidFill>
                  </a:tcPr>
                </a:tc>
                <a:tc>
                  <a:txBody>
                    <a:bodyPr/>
                    <a:lstStyle/>
                    <a:p>
                      <a:pPr algn="ctr">
                        <a:defRPr sz="1400">
                          <a:solidFill>
                            <a:srgbClr val="1E293B"/>
                          </a:solidFill>
                        </a:defRPr>
                      </a:pPr>
                      <a:r>
                        <a:t>0.42 ms</a:t>
                      </a:r>
                    </a:p>
                  </a:txBody>
                  <a:tcPr>
                    <a:solidFill>
                      <a:srgbClr val="F1F5F9"/>
                    </a:solidFill>
                  </a:tcPr>
                </a:tc>
                <a:tc>
                  <a:txBody>
                    <a:bodyPr/>
                    <a:lstStyle/>
                    <a:p>
                      <a:pPr algn="ctr">
                        <a:defRPr sz="1400">
                          <a:solidFill>
                            <a:srgbClr val="1E293B"/>
                          </a:solidFill>
                        </a:defRPr>
                      </a:pPr>
                      <a:r>
                        <a:t>Simple integer rolling variance</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t>3. LightGBM Tree Evaluation</a:t>
                      </a:r>
                    </a:p>
                  </a:txBody>
                  <a:tcPr/>
                </a:tc>
                <a:tc>
                  <a:txBody>
                    <a:bodyPr/>
                    <a:lstStyle/>
                    <a:p>
                      <a:pPr algn="ctr">
                        <a:defRPr sz="1400">
                          <a:solidFill>
                            <a:srgbClr val="1E293B"/>
                          </a:solidFill>
                        </a:defRPr>
                      </a:pPr>
                      <a:r>
                        <a:t>Traversing 300 decision trees (31 leaves each)</a:t>
                      </a:r>
                    </a:p>
                  </a:txBody>
                  <a:tcPr/>
                </a:tc>
                <a:tc>
                  <a:txBody>
                    <a:bodyPr/>
                    <a:lstStyle/>
                    <a:p>
                      <a:pPr algn="ctr">
                        <a:defRPr sz="1400">
                          <a:solidFill>
                            <a:srgbClr val="1E293B"/>
                          </a:solidFill>
                        </a:defRPr>
                      </a:pPr>
                      <a:r>
                        <a:t>0.41 ms</a:t>
                      </a:r>
                    </a:p>
                  </a:txBody>
                  <a:tcPr/>
                </a:tc>
                <a:tc>
                  <a:txBody>
                    <a:bodyPr/>
                    <a:lstStyle/>
                    <a:p>
                      <a:pPr algn="ctr">
                        <a:defRPr sz="1400">
                          <a:solidFill>
                            <a:srgbClr val="1E293B"/>
                          </a:solidFill>
                        </a:defRPr>
                      </a:pPr>
                      <a:r>
                        <a:t>Integer IF/ELSE threshold logic</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t>TOTAL INFERENCE TIME</a:t>
                      </a:r>
                    </a:p>
                  </a:txBody>
                  <a:tcPr>
                    <a:solidFill>
                      <a:srgbClr val="F1F5F9"/>
                    </a:solidFill>
                  </a:tcPr>
                </a:tc>
                <a:tc>
                  <a:txBody>
                    <a:bodyPr/>
                    <a:lstStyle/>
                    <a:p>
                      <a:pPr algn="ctr">
                        <a:defRPr sz="1400">
                          <a:solidFill>
                            <a:srgbClr val="1E293B"/>
                          </a:solidFill>
                        </a:defRPr>
                      </a:pPr>
                      <a:r>
                        <a:t>Full End-to-End Prediction Loop per Checkpoint</a:t>
                      </a:r>
                    </a:p>
                  </a:txBody>
                  <a:tcPr>
                    <a:solidFill>
                      <a:srgbClr val="F1F5F9"/>
                    </a:solidFill>
                  </a:tcPr>
                </a:tc>
                <a:tc>
                  <a:txBody>
                    <a:bodyPr/>
                    <a:lstStyle/>
                    <a:p>
                      <a:pPr algn="ctr">
                        <a:defRPr sz="1400">
                          <a:solidFill>
                            <a:srgbClr val="1E293B"/>
                          </a:solidFill>
                        </a:defRPr>
                      </a:pPr>
                      <a:r>
                        <a:t>0.95 ms (&lt; 1.5 ms)</a:t>
                      </a:r>
                    </a:p>
                  </a:txBody>
                  <a:tcPr>
                    <a:solidFill>
                      <a:srgbClr val="F1F5F9"/>
                    </a:solidFill>
                  </a:tcPr>
                </a:tc>
                <a:tc>
                  <a:txBody>
                    <a:bodyPr/>
                    <a:lstStyle/>
                    <a:p>
                      <a:pPr algn="ctr">
                        <a:defRPr sz="1400">
                          <a:solidFill>
                            <a:srgbClr val="1E293B"/>
                          </a:solidFill>
                        </a:defRPr>
                      </a:pPr>
                      <a:r>
                        <a:t>Leaves &gt;99.9% CPU free on ARM Cortex</a:t>
                      </a:r>
                    </a:p>
                  </a:txBody>
                  <a:tcPr>
                    <a:solidFill>
                      <a:srgbClr val="F1F5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4663440"/>
            <a:ext cx="11277295" cy="1323439"/>
          </a:xfrm>
          <a:prstGeom prst="rect">
            <a:avLst/>
          </a:prstGeom>
          <a:noFill/>
        </p:spPr>
        <p:txBody>
          <a:bodyPr wrap="square" tIns="91440" bIns="91440">
            <a:spAutoFit/>
          </a:bodyPr>
          <a:lstStyle/>
          <a:p>
            <a:pPr>
              <a:spcAft>
                <a:spcPts val="1200"/>
              </a:spcAft>
            </a:pPr>
            <a:r>
              <a:rPr sz="1600" b="1" dirty="0">
                <a:solidFill>
                  <a:srgbClr val="0F172A"/>
                </a:solidFill>
              </a:rPr>
              <a:t>Why Decision Trees Beat Deep Learning Speed: </a:t>
            </a:r>
            <a:r>
              <a:rPr sz="1600" b="0" dirty="0">
                <a:solidFill>
                  <a:srgbClr val="1E293B"/>
                </a:solidFill>
              </a:rPr>
              <a:t>LSTM / Neural Networks require complex floating-point matrix multiplications (~45 </a:t>
            </a:r>
            <a:r>
              <a:rPr sz="1600" b="0" dirty="0" err="1">
                <a:solidFill>
                  <a:srgbClr val="1E293B"/>
                </a:solidFill>
              </a:rPr>
              <a:t>ms</a:t>
            </a:r>
            <a:r>
              <a:rPr sz="1600" b="0" dirty="0">
                <a:solidFill>
                  <a:srgbClr val="1E293B"/>
                </a:solidFill>
              </a:rPr>
              <a:t>). Our </a:t>
            </a:r>
            <a:r>
              <a:rPr sz="1600" b="0" dirty="0" err="1">
                <a:solidFill>
                  <a:srgbClr val="1E293B"/>
                </a:solidFill>
              </a:rPr>
              <a:t>LightGBM</a:t>
            </a:r>
            <a:r>
              <a:rPr sz="1600" b="0" dirty="0">
                <a:solidFill>
                  <a:srgbClr val="1E293B"/>
                </a:solidFill>
              </a:rPr>
              <a:t> decision tree evaluates 300 simple </a:t>
            </a:r>
            <a:r>
              <a:rPr sz="1600" b="0" dirty="0" err="1">
                <a:solidFill>
                  <a:srgbClr val="1E293B"/>
                </a:solidFill>
              </a:rPr>
              <a:t>boolean</a:t>
            </a:r>
            <a:r>
              <a:rPr sz="1600" b="0" dirty="0">
                <a:solidFill>
                  <a:srgbClr val="1E293B"/>
                </a:solidFill>
              </a:rPr>
              <a:t> IF/ELSE conditions, completing in exactly 0.95 </a:t>
            </a:r>
            <a:r>
              <a:rPr sz="1600" b="0" dirty="0" err="1">
                <a:solidFill>
                  <a:srgbClr val="1E293B"/>
                </a:solidFill>
              </a:rPr>
              <a:t>ms</a:t>
            </a:r>
            <a:r>
              <a:rPr sz="1600" b="0" dirty="0">
                <a:solidFill>
                  <a:srgbClr val="1E293B"/>
                </a:solidFill>
              </a:rPr>
              <a:t>!</a:t>
            </a:r>
          </a:p>
          <a:p>
            <a:pPr>
              <a:spcAft>
                <a:spcPts val="1200"/>
              </a:spcAft>
            </a:pPr>
            <a:r>
              <a:rPr sz="1600" b="1" dirty="0">
                <a:solidFill>
                  <a:srgbClr val="0F172A"/>
                </a:solidFill>
              </a:rPr>
              <a:t>Microchip Footprint (&lt;500 KB): </a:t>
            </a:r>
            <a:r>
              <a:rPr sz="1600" b="0" dirty="0">
                <a:solidFill>
                  <a:srgbClr val="1E293B"/>
                </a:solidFill>
              </a:rPr>
              <a:t>The entire compiled model object occupies 480 KB of Flash memory, fitting effortlessly into standard </a:t>
            </a:r>
            <a:r>
              <a:rPr lang="en-IN" sz="1600" dirty="0" err="1">
                <a:solidFill>
                  <a:srgbClr val="1E293B"/>
                </a:solidFill>
              </a:rPr>
              <a:t>lowcost</a:t>
            </a:r>
            <a:r>
              <a:rPr sz="1600" b="0" dirty="0">
                <a:solidFill>
                  <a:srgbClr val="1E293B"/>
                </a:solidFill>
              </a:rPr>
              <a:t> automotive microcontrollers.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Control Systems Verification &amp; Live Pole-Zero Migration</a:t>
            </a:r>
          </a:p>
          <a:p>
            <a:pPr>
              <a:defRPr sz="1600">
                <a:solidFill>
                  <a:srgbClr val="0284C7"/>
                </a:solidFill>
                <a:latin typeface="Calibri"/>
              </a:defRPr>
            </a:pPr>
            <a:r>
              <a:t>Complex s-Plane Migration Map on Unseen Test Cell '2017-05-12_cell_12'</a:t>
            </a:r>
          </a:p>
        </p:txBody>
      </p:sp>
      <p:pic>
        <p:nvPicPr>
          <p:cNvPr id="3" name="Picture 2" descr="07_pole_zero_migration_map.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500" b="1">
                <a:solidFill>
                  <a:srgbClr val="0F172A"/>
                </a:solidFill>
              </a:rPr>
              <a:t>Specific Test Cell Used: </a:t>
            </a:r>
            <a:r>
              <a:rPr sz="1500" b="0">
                <a:solidFill>
                  <a:srgbClr val="1E293B"/>
                </a:solidFill>
              </a:rPr>
              <a:t>This s-Plane map specifically plots transfer function migration for Unseen Test Cell '2017-05-12_cell_12' across its lifetime.</a:t>
            </a:r>
          </a:p>
          <a:p>
            <a:pPr>
              <a:spcAft>
                <a:spcPts val="1200"/>
              </a:spcAft>
            </a:pPr>
            <a:r>
              <a:rPr sz="1500" b="1">
                <a:solidFill>
                  <a:srgbClr val="0F172A"/>
                </a:solidFill>
              </a:rPr>
              <a:t>Healthy State (Cycle 12): </a:t>
            </a:r>
            <a:r>
              <a:rPr sz="1500" b="0">
                <a:solidFill>
                  <a:srgbClr val="1E293B"/>
                </a:solidFill>
              </a:rPr>
              <a:t>Transfer function H(s) = 0.0162 + 0.0195/(1 + 7.78s). System pole (red X) is stable at -0.1285 rad/s; zero (blue O) at -0.2827 rad/s.</a:t>
            </a:r>
          </a:p>
          <a:p>
            <a:pPr>
              <a:spcAft>
                <a:spcPts val="1200"/>
              </a:spcAft>
            </a:pPr>
            <a:r>
              <a:rPr sz="1500" b="1">
                <a:solidFill>
                  <a:srgbClr val="0F172A"/>
                </a:solidFill>
              </a:rPr>
              <a:t>Aged State (Cycle 867): </a:t>
            </a:r>
            <a:r>
              <a:rPr sz="1500" b="0">
                <a:solidFill>
                  <a:srgbClr val="1E293B"/>
                </a:solidFill>
              </a:rPr>
              <a:t>As resistance doubles, H(s) updates to 0.0196 + 0.0310/(1 + 10.02s). The system pole migrates rightward to -0.0998 rad/s toward instability!</a:t>
            </a:r>
          </a:p>
          <a:p>
            <a:pPr>
              <a:spcAft>
                <a:spcPts val="1200"/>
              </a:spcAft>
            </a:pPr>
            <a:r>
              <a:rPr sz="1500" b="1">
                <a:solidFill>
                  <a:srgbClr val="0F172A"/>
                </a:solidFill>
              </a:rPr>
              <a:t>Physical Proof: </a:t>
            </a:r>
            <a:r>
              <a:rPr sz="1500" b="0">
                <a:solidFill>
                  <a:srgbClr val="1E293B"/>
                </a:solidFill>
              </a:rPr>
              <a:t>This rightward pole movement acts as an electrical heart monitor explaining physically why the AI countdown reaches zero.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Real-World Deliverables &amp; Industrial Impact</a:t>
            </a:r>
          </a:p>
          <a:p>
            <a:pPr>
              <a:defRPr sz="1600">
                <a:solidFill>
                  <a:srgbClr val="0284C7"/>
                </a:solidFill>
                <a:latin typeface="Calibri"/>
              </a:defRPr>
            </a:pPr>
            <a:r>
              <a:t>From Laboratory Algorithms to Commercial Vehicle Deployment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800" b="1">
                <a:solidFill>
                  <a:srgbClr val="0F172A"/>
                </a:solidFill>
              </a:rPr>
              <a:t>Working Software Deliverable: </a:t>
            </a:r>
            <a:r>
              <a:rPr sz="1800" b="0">
                <a:solidFill>
                  <a:srgbClr val="1E293B"/>
                </a:solidFill>
              </a:rPr>
              <a:t>A fully functional Python &amp; Streamlit Real-Time Dashboard displaying cycle-by-cycle aging, dynamic transfer function math, confusion matrix alerts, and live safety brackets.</a:t>
            </a:r>
          </a:p>
          <a:p>
            <a:pPr>
              <a:spcAft>
                <a:spcPts val="1200"/>
              </a:spcAft>
            </a:pPr>
            <a:r>
              <a:rPr sz="1800" b="1">
                <a:solidFill>
                  <a:srgbClr val="0F172A"/>
                </a:solidFill>
              </a:rPr>
              <a:t>Direct Industrial Impact 1 - Fleet Management: </a:t>
            </a:r>
            <a:r>
              <a:rPr sz="1800" b="0">
                <a:solidFill>
                  <a:srgbClr val="1E293B"/>
                </a:solidFill>
              </a:rPr>
              <a:t>Warns taxi and delivery operators when to replace batteries before passenger stranding or breakdown occurs on the road.</a:t>
            </a:r>
          </a:p>
          <a:p>
            <a:pPr>
              <a:spcAft>
                <a:spcPts val="1200"/>
              </a:spcAft>
            </a:pPr>
            <a:r>
              <a:rPr sz="1800" b="1">
                <a:solidFill>
                  <a:srgbClr val="0F172A"/>
                </a:solidFill>
              </a:rPr>
              <a:t>Direct Industrial Impact 2 - Warranty Budgeting: </a:t>
            </a:r>
            <a:r>
              <a:rPr sz="1800" b="0">
                <a:solidFill>
                  <a:srgbClr val="1E293B"/>
                </a:solidFill>
              </a:rPr>
              <a:t>Enables automotive manufacturers to calculate exact actuarial replacement liability across multi-thousand vehicle fleets.</a:t>
            </a:r>
          </a:p>
          <a:p>
            <a:pPr>
              <a:spcAft>
                <a:spcPts val="1200"/>
              </a:spcAft>
            </a:pPr>
            <a:r>
              <a:rPr sz="1800" b="1">
                <a:solidFill>
                  <a:srgbClr val="0F172A"/>
                </a:solidFill>
              </a:rPr>
              <a:t>Direct Industrial Impact 3 - Second-Life Grid Storage: </a:t>
            </a:r>
            <a:r>
              <a:rPr sz="1800" b="0">
                <a:solidFill>
                  <a:srgbClr val="1E293B"/>
                </a:solidFill>
              </a:rPr>
              <a:t>Rapidly screens retired 80% SOH EV batteries to certify them for safe secondary solar grid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2334</Words>
  <Application>Microsoft Office PowerPoint</Application>
  <PresentationFormat>Widescreen</PresentationFormat>
  <Paragraphs>276</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Vignesh Ganesh</cp:lastModifiedBy>
  <cp:revision>3</cp:revision>
  <dcterms:created xsi:type="dcterms:W3CDTF">2013-01-27T09:14:16Z</dcterms:created>
  <dcterms:modified xsi:type="dcterms:W3CDTF">2026-07-01T04:37:49Z</dcterms:modified>
  <cp:category/>
</cp:coreProperties>
</file>