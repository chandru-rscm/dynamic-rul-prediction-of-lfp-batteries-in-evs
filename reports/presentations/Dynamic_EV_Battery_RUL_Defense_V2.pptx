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Dynamic Remaining Useful Life (RUL) Prediction</a:t>
            </a:r>
            <a:br/>
            <a:r>
              <a:t>for LFP Batteries in Electric Vehicles</a:t>
            </a:r>
          </a:p>
          <a:p>
            <a:pPr algn="ctr">
              <a:spcBef>
                <a:spcPts val="2000"/>
              </a:spcBef>
              <a:defRPr sz="2200">
                <a:solidFill>
                  <a:srgbClr val="38BDF8"/>
                </a:solidFill>
              </a:defRPr>
            </a:pPr>
            <a:r>
              <a:t>A Machine Learning &amp; Control Systems Approach for Real-Time EV Prognostics</a:t>
            </a:r>
          </a:p>
          <a:p>
            <a:pPr algn="ctr">
              <a:spcBef>
                <a:spcPts val="3500"/>
              </a:spcBef>
              <a:defRPr sz="1600">
                <a:solidFill>
                  <a:srgbClr val="CBD5E1"/>
                </a:solidFill>
              </a:defRPr>
            </a:pPr>
            <a:r>
              <a:t>Final Thesis Defense Deck | Complete Empirical Benchmarks &amp; Diagnostic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Problem Statement &amp; Industrial Need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Overcoming Blind Single-Point AI Predictions in Electric Vehicle BMS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The Automotive Problem: </a:t>
            </a:r>
            <a:r>
              <a:rPr b="0" sz="1800">
                <a:solidFill>
                  <a:srgbClr val="1E293B"/>
                </a:solidFill>
              </a:rPr>
              <a:t>Standard EV battery systems assume capacity fades in a linear straight line. In reality, lithium-ion cells suffer a sudden, dangerous 'capacity plunge' right near the end of their life.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Why Normal AI Fails: </a:t>
            </a:r>
            <a:r>
              <a:rPr b="0" sz="1800">
                <a:solidFill>
                  <a:srgbClr val="1E293B"/>
                </a:solidFill>
              </a:rPr>
              <a:t>Standard machine learning gives a blind single guess (like '500 cycles left') without any safety warning or confidence bounds. If that guess is wrong by even 50 cycles, a driver can get stranded with a dead car.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Our Industrial Solution: </a:t>
            </a:r>
            <a:r>
              <a:rPr b="0" sz="1800">
                <a:solidFill>
                  <a:srgbClr val="1E293B"/>
                </a:solidFill>
              </a:rPr>
              <a:t>A dynamic tracking dashboard that polls vehicle telemetry every 5 cycles while driving, combining regularized LightGBM decision trees with physical electrical equations and a guaranteed 90% Conformal Prediction safety window.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Base Paper Comparison &amp; Our Core Contributions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Advancing from Static Snapshot Estimation to Continuous Vehicle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Base Benchmark Paper: </a:t>
            </a:r>
            <a:r>
              <a:rPr b="0" sz="1600">
                <a:solidFill>
                  <a:srgbClr val="1E293B"/>
                </a:solidFill>
              </a:rPr>
              <a:t>Severson et al., 'Data-driven prediction of battery cycle life before capacity degradation', Nature Energy (2019).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Base Paper Limitation: </a:t>
            </a:r>
            <a:r>
              <a:rPr b="0" sz="1600">
                <a:solidFill>
                  <a:srgbClr val="1E293B"/>
                </a:solidFill>
              </a:rPr>
              <a:t>They took a single static snapshot of early life (Cycles 10–100) and made one lifetime guess. It could never update again while driving if thermal stress accelerated.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Our Improvement 1 - Dynamic Real-Time Tracking: </a:t>
            </a:r>
            <a:r>
              <a:rPr b="0" sz="1600">
                <a:solidFill>
                  <a:srgbClr val="1E293B"/>
                </a:solidFill>
              </a:rPr>
              <a:t>We poll telemetry checkpoints every 5 cycles to continuously update remaining lifespan while driving.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Our Improvement 2 - Guaranteed Safety Margins: </a:t>
            </a:r>
            <a:r>
              <a:rPr b="0" sz="1600">
                <a:solidFill>
                  <a:srgbClr val="1E293B"/>
                </a:solidFill>
              </a:rPr>
              <a:t>Instead of a raw guess, we provide a 90% Conformal Prediction safety bracket giving a known worst-case maintenance window.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Our Improvement 3 - True Unseen Validation: </a:t>
            </a:r>
            <a:r>
              <a:rPr b="0" sz="1600">
                <a:solidFill>
                  <a:srgbClr val="1E293B"/>
                </a:solidFill>
              </a:rPr>
              <a:t>Instead of random row splits, we used Grouped Leave-Cells-Out validation so the AI is tested on completely hidden EV batteries.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Dataset Specifications &amp; Engineering Assumptions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Stanford / MIT / Toyota Research Institute Benchmark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Battery Cell Specs: </a:t>
            </a:r>
            <a:r>
              <a:rPr b="0" sz="1600">
                <a:solidFill>
                  <a:srgbClr val="1E293B"/>
                </a:solidFill>
              </a:rPr>
              <a:t>124 physical A123 Systems APR18650M1A Lithium Iron Phosphate (LFP) cylindrical cells (18 mm x 65 mm).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Nominal Ratings: </a:t>
            </a:r>
            <a:r>
              <a:rPr b="0" sz="1600">
                <a:solidFill>
                  <a:srgbClr val="1E293B"/>
                </a:solidFill>
              </a:rPr>
              <a:t>Capacity = 1.1 Ah; Voltage = 3.3 V (Operating range: 2.0 V to 3.6 V).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Testing Conditions: </a:t>
            </a:r>
            <a:r>
              <a:rPr b="0" sz="1600">
                <a:solidFill>
                  <a:srgbClr val="1E293B"/>
                </a:solidFill>
              </a:rPr>
              <a:t>Continuous fast-charging (1C to 6C rates) inside 30°C thermal chambers.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Retirement Cutoff: </a:t>
            </a:r>
            <a:r>
              <a:rPr b="0" sz="1600">
                <a:solidFill>
                  <a:srgbClr val="1E293B"/>
                </a:solidFill>
              </a:rPr>
              <a:t>Cycling automatically stopped when cell capacity dropped to 0.88 Ah (80% State of Health).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Assumption 1 - 1st-Order Circuit Dominance: </a:t>
            </a:r>
            <a:r>
              <a:rPr b="0" sz="1600">
                <a:solidFill>
                  <a:srgbClr val="1E293B"/>
                </a:solidFill>
              </a:rPr>
              <a:t>We assume a 1-resistor/1-capacitor equivalent circuit captures &gt;95% of dynamic voltage response without lagging microchips.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Assumption 2 - Normalized Size Invariance: </a:t>
            </a:r>
            <a:r>
              <a:rPr b="0" sz="1600">
                <a:solidFill>
                  <a:srgbClr val="1E293B"/>
                </a:solidFill>
              </a:rPr>
              <a:t>By measuring capacity as a percentage (SOH = Q / Q_nom), our aging rules apply equally to 1.1 Ah lab cells and large 100 Ah EV battery packs.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Empirical Aging Trajectories across 124 Cells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Visualizing Non-Linear Capacity Plunge at End-of-Life</a:t>
            </a:r>
          </a:p>
        </p:txBody>
      </p:sp>
      <p:pic>
        <p:nvPicPr>
          <p:cNvPr id="3" name="Picture 2" descr="04_capacity_fad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217920" cy="4075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645920"/>
            <a:ext cx="466344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Non-Linear Aging: </a:t>
            </a:r>
            <a:r>
              <a:rPr b="0" sz="1600">
                <a:solidFill>
                  <a:srgbClr val="1E293B"/>
                </a:solidFill>
              </a:rPr>
              <a:t>Notice how cell trajectories stay relatively flat during mid-life before suddenly bending downward near 80% SOH.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Spread of Lifespans: </a:t>
            </a:r>
            <a:r>
              <a:rPr b="0" sz="1600">
                <a:solidFill>
                  <a:srgbClr val="1E293B"/>
                </a:solidFill>
              </a:rPr>
              <a:t>Fast-charging protocols cause battery failure anywhere between 500 cycles and 1,400 cycles, proving why fixed-mileage replacement schedules fail.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Industrial Need: </a:t>
            </a:r>
            <a:r>
              <a:rPr b="0" sz="1600">
                <a:solidFill>
                  <a:srgbClr val="1E293B"/>
                </a:solidFill>
              </a:rPr>
              <a:t>Our dynamic tracking catches this downward inflection curve in real time before failure happens.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Extraction of 8 Dynamic Physics Features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Transforming Raw Voltage Waveforms into Diagnostic Health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1. cycle: </a:t>
            </a:r>
            <a:r>
              <a:rPr b="0" sz="1600">
                <a:solidFill>
                  <a:srgbClr val="1E293B"/>
                </a:solidFill>
              </a:rPr>
              <a:t>Present operational age of the battery.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2. SOH: </a:t>
            </a:r>
            <a:r>
              <a:rPr b="0" sz="1600">
                <a:solidFill>
                  <a:srgbClr val="1E293B"/>
                </a:solidFill>
              </a:rPr>
              <a:t>Remaining capacity ratio (Q / Q_nom).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3. capacity_fade_window: </a:t>
            </a:r>
            <a:r>
              <a:rPr b="0" sz="1600">
                <a:solidFill>
                  <a:srgbClr val="1E293B"/>
                </a:solidFill>
              </a:rPr>
              <a:t>How fast capacity dropped over past 10 cycles.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4. IR: </a:t>
            </a:r>
            <a:r>
              <a:rPr b="0" sz="1600">
                <a:solidFill>
                  <a:srgbClr val="1E293B"/>
                </a:solidFill>
              </a:rPr>
              <a:t>Electrical friction impedance (dV / dI) impeding current flow.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5. Tavg: </a:t>
            </a:r>
            <a:r>
              <a:rPr b="0" sz="1600">
                <a:solidFill>
                  <a:srgbClr val="1E293B"/>
                </a:solidFill>
              </a:rPr>
              <a:t>Mean surface temperature across cycle (~30°C).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6. dQ_log_var: </a:t>
            </a:r>
            <a:r>
              <a:rPr b="0" sz="1600">
                <a:solidFill>
                  <a:srgbClr val="1E293B"/>
                </a:solidFill>
              </a:rPr>
              <a:t>Variance of voltage curve shape (dQ/dV). Acts as a diagnostic X-ray detecting hidden electrode damage long before capacity drops.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7. dQ_min &amp; 8. dQ_mean: </a:t>
            </a:r>
            <a:r>
              <a:rPr b="0" sz="1600">
                <a:solidFill>
                  <a:srgbClr val="1E293B"/>
                </a:solidFill>
              </a:rPr>
              <a:t>Deepest negative peak and average discharge rate across voltage bins.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Feature Importance Diagnostic Breakdown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Why Voltage Curve Variance &amp; Cycle Count Dominate Inference</a:t>
            </a:r>
          </a:p>
        </p:txBody>
      </p:sp>
      <p:pic>
        <p:nvPicPr>
          <p:cNvPr id="3" name="Picture 2" descr="02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217920" cy="35091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645920"/>
            <a:ext cx="466344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Dominant Predictor (`cycle`): </a:t>
            </a:r>
            <a:r>
              <a:rPr b="0" sz="1600">
                <a:solidFill>
                  <a:srgbClr val="1E293B"/>
                </a:solidFill>
              </a:rPr>
              <a:t>Provides the foundational baseline timeline for total chemical usage.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Critical Physics Marker (`dQ_log_var`): </a:t>
            </a:r>
            <a:r>
              <a:rPr b="0" sz="1600">
                <a:solidFill>
                  <a:srgbClr val="1E293B"/>
                </a:solidFill>
              </a:rPr>
              <a:t>Differential capacity variance ranks as the top physical marker, sensitive to internal active material loss.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Slope Tracking (`capacity_fade_window`): </a:t>
            </a:r>
            <a:r>
              <a:rPr b="0" sz="1600">
                <a:solidFill>
                  <a:srgbClr val="1E293B"/>
                </a:solidFill>
              </a:rPr>
              <a:t>Immediately registers the onset of the end-of-life capacity plunge.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Checkpoint Polling Interval Evaluation Table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Evaluating Vehicle Dashboard Update Frequency vs Accuracy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772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/>
                <a:gridCol w="1611042"/>
                <a:gridCol w="1611042"/>
                <a:gridCol w="1611042"/>
                <a:gridCol w="1611042"/>
                <a:gridCol w="1611042"/>
                <a:gridCol w="1611043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Interval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MAE Error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Accuracy (R²)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Std Dev (σ)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90% Bracket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Simple Remarks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 Cycles (Chosen)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4,234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81.35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78.52%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99.35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122.00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Best balance of speed and safety.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2,124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80.68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79.02%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98.12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118.50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Good, but delays dashboard alerts.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1,421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82.11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78.44%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101.40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121.70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Slightly less precise during drops.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1,070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79.34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79.85%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97.05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116.00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Leaves 2-3 week blind spots.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 Cycles (Worst)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88.54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77.32%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108.90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130.00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Poor; lags badly and misses drops.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37760"/>
            <a:ext cx="11277295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Why 5 Cycles is Chosen: </a:t>
            </a:r>
            <a:r>
              <a:rPr b="0" sz="1500">
                <a:solidFill>
                  <a:srgbClr val="1E293B"/>
                </a:solidFill>
              </a:rPr>
              <a:t>Polling every 5 cycles updates the driver on every few charging trips, ensuring sudden internal short circuits or rapid drops are detected immediately without multi-week blind spots!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LightGBM Hyperparameter Tuning Experiments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Preventing Overfitting on Noisy Automotive Microcontrollers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772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8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Trees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Leaves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MAE Error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Accuracy (R²)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Std Dev (σ)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Simple Remarks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Config 1 (Underfit)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90.99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76.65%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111.20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Too simple; misses sudden drops.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Config 2 (Overfit)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75.92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81.23%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92.40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Too heavy for cheap car chips.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Config 3 (Unregularized)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78.76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79.90%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96.80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Jumpy countdown on rough roads.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Config 4 (Chosen Optimal)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81.35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78.52%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99.35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Best industrial car chip choice.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Config 5 (Heavy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80.17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78.61%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98.10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Slightly better, but slower chip.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37760"/>
            <a:ext cx="11277295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Why Config 4 is Chosen over Config 2: </a:t>
            </a:r>
            <a:r>
              <a:rPr b="0" sz="1500">
                <a:solidFill>
                  <a:srgbClr val="1E293B"/>
                </a:solidFill>
              </a:rPr>
              <a:t>While Config 2 has slightly lower lab error, its 127 leaves and 600 trees exceed microcontroller memory limits. Config 4 (31 leaves) runs reliably on $2 automotive chips while maintaining ~78.5% accuracy!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Unseen Test Cohort Validation Performance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Exact Generalization Results across Strictly Hidden Batteries</a:t>
            </a:r>
          </a:p>
        </p:txBody>
      </p:sp>
      <p:pic>
        <p:nvPicPr>
          <p:cNvPr id="3" name="Picture 2" descr="01_true_vs_predicted_r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217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645920"/>
            <a:ext cx="466344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Exact Training Performance: </a:t>
            </a:r>
            <a:r>
              <a:rPr b="0" sz="1600">
                <a:solidFill>
                  <a:srgbClr val="1E293B"/>
                </a:solidFill>
              </a:rPr>
              <a:t>Training MAE = 48.70 cycles | R² = 95.74% across ~100 calibration cells.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Exact Unseen Testing Performance: </a:t>
            </a:r>
            <a:r>
              <a:rPr b="0" sz="1600">
                <a:solidFill>
                  <a:srgbClr val="1E293B"/>
                </a:solidFill>
              </a:rPr>
              <a:t>Testing MAE = 81.35 cycles | R² = 78.52% | Std Dev = 99.35 cycles across 24 strictly hidden test cells.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Proving Generalization: </a:t>
            </a:r>
            <a:r>
              <a:rPr b="0" sz="1600">
                <a:solidFill>
                  <a:srgbClr val="1E293B"/>
                </a:solidFill>
              </a:rPr>
              <a:t>Points tightly cluster along the red diagonal identity line across all 1,400 cycles, proving the AI genuinely learned degradation physics rather than memorizing lab IDs.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Statistical Safety Brackets &amp; Error Distribution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Conformal Prediction Bounds for Guaranteed Maintenance Windows</a:t>
            </a:r>
          </a:p>
        </p:txBody>
      </p:sp>
      <p:pic>
        <p:nvPicPr>
          <p:cNvPr id="3" name="Picture 2" descr="03_prediction_errors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217920" cy="49037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645920"/>
            <a:ext cx="466344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Guaranteed Safety Window: </a:t>
            </a:r>
            <a:r>
              <a:rPr b="0" sz="1600">
                <a:solidFill>
                  <a:srgbClr val="1E293B"/>
                </a:solidFill>
              </a:rPr>
              <a:t>For 90% of operating time across unseen test batteries, prediction error lies strictly within ± 122 cycles.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Early-Life Conservative Outliers: </a:t>
            </a:r>
            <a:r>
              <a:rPr b="0" sz="1600">
                <a:solidFill>
                  <a:srgbClr val="1E293B"/>
                </a:solidFill>
              </a:rPr>
              <a:t>During brand new battery life (~Cycle 50), the AI conservatively overestimates remaining life by ~400 cycles, which vanishes once normal degradation starts.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Manufacturer Actionability: </a:t>
            </a:r>
            <a:r>
              <a:rPr b="0" sz="1600">
                <a:solidFill>
                  <a:srgbClr val="1E293B"/>
                </a:solidFill>
              </a:rPr>
              <a:t>Subtracting 122 cycles gives car makers a guaranteed Worst-Case Lower Bound to schedule maintenance before stranding.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Prognostic Maintenance Confusion Matrix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Evaluating Emergency Alert Classification (Replacement Threshold RUL ≤ 100 Cycles)</a:t>
            </a:r>
          </a:p>
        </p:txBody>
      </p:sp>
      <p:pic>
        <p:nvPicPr>
          <p:cNvPr id="3" name="Picture 2" descr="06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943600" cy="42454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645920"/>
            <a:ext cx="493776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High Alert Accuracy (96.79%): </a:t>
            </a:r>
            <a:r>
              <a:rPr b="0" sz="1500">
                <a:solidFill>
                  <a:srgbClr val="1E293B"/>
                </a:solidFill>
              </a:rPr>
              <a:t>Across 4,234 test evaluation points, the AI correctly classified battery state 96.79% of the time.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True Positives (TP = 498): </a:t>
            </a:r>
            <a:r>
              <a:rPr b="0" sz="1500">
                <a:solidFill>
                  <a:srgbClr val="1E293B"/>
                </a:solidFill>
              </a:rPr>
              <a:t>Correctly triggered immediate replacement alerts when battery life fell below 100 cycles.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True Negatives (TN = 3,600): </a:t>
            </a:r>
            <a:r>
              <a:rPr b="0" sz="1500">
                <a:solidFill>
                  <a:srgbClr val="1E293B"/>
                </a:solidFill>
              </a:rPr>
              <a:t>Correctly allowed healthy cells (&gt;100 cycles) to continue normal operation without false alarms.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False Positives (FP = 72) &amp; False Negatives (FN = 64): </a:t>
            </a:r>
            <a:r>
              <a:rPr b="0" sz="1500">
                <a:solidFill>
                  <a:srgbClr val="1E293B"/>
                </a:solidFill>
              </a:rPr>
              <a:t>Precision = 87.37% | Recall = 88.61%. Proves highly reliable alert triggering for automotive displays.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Rolling Lookback Window (W) Sensitivity Table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Evaluating Historical Memory Depth for Slope &amp; Variance Calculations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772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Window Size (W)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Average Error (MAE)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Accuracy (R²)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Std Dev (σ)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90% Safety Bracket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Simple Remarks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 = 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81.68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98.90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124.00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Too sensitive to weather changes.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 = 10 Cycles (Chosen)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81.68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78.77%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99.35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122.00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Best historical memory depth.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 = 15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79.55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79.44%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97.40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122.00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Smooth calculation across normal driving.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 = 20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76.87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81.17%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94.20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119.80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Filters out voltage sensor noise.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 = 50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73.33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82.67%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88.10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116.40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Hides sudden drops in real driving.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37760"/>
            <a:ext cx="11277295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Why W = 10 is Chosen over W = 50: </a:t>
            </a:r>
            <a:r>
              <a:rPr b="0" sz="1500">
                <a:solidFill>
                  <a:srgbClr val="1E293B"/>
                </a:solidFill>
              </a:rPr>
              <a:t>While W = 50 looks smoother on spreadsheets, averaging over 50 cycles (2 months) completely flattens and hides sudden end-of-life capacity plunges. W = 10 provides just enough history to compute clean variance while remaining alert to sudden drops!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Empirical Computational Speed &amp; Microchip Feasibility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Hardware Benchmarking Proving Real-Time Automotive BMS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0F172A"/>
                </a:solidFill>
              </a:rPr>
              <a:t>Empirical Benchmark Results (~0.95 ms): </a:t>
            </a:r>
            <a:r>
              <a:rPr b="0" sz="1700">
                <a:solidFill>
                  <a:srgbClr val="1E293B"/>
                </a:solidFill>
              </a:rPr>
              <a:t>Running 1,000 consecutive test inference loops proved that our trained LightGBM model executes a full countdown prediction in exactly 0.9455 milliseconds (~0.00095 seconds).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F172A"/>
                </a:solidFill>
              </a:rPr>
              <a:t>Why Decision Trees Beat Deep Learning: </a:t>
            </a:r>
            <a:r>
              <a:rPr b="0" sz="1700">
                <a:solidFill>
                  <a:srgbClr val="1E293B"/>
                </a:solidFill>
              </a:rPr>
              <a:t>Unlike LSTMs or Neural Networks that require heavy matrix multiplication and floating-point calculus, tree inference uses simple IF/ELSE integer thresholds that run instantly on ARM Cortex microcontrollers.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F172A"/>
                </a:solidFill>
              </a:rPr>
              <a:t>Ultra-Small Flash Memory (&lt;500 KB): </a:t>
            </a:r>
            <a:r>
              <a:rPr b="0" sz="1700">
                <a:solidFill>
                  <a:srgbClr val="1E293B"/>
                </a:solidFill>
              </a:rPr>
              <a:t>The entire trained model object occupies under 500 KB, leaving over 90% of vehicle microcontroller memory free for core safety tasks.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F172A"/>
                </a:solidFill>
              </a:rPr>
              <a:t>Zero CPU Overhead: </a:t>
            </a:r>
            <a:r>
              <a:rPr b="0" sz="1700">
                <a:solidFill>
                  <a:srgbClr val="1E293B"/>
                </a:solidFill>
              </a:rPr>
              <a:t>Because polling happens only once every 5 charging cycles, the computational load on the car microchip is practically 0.0001%.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Control Systems Verification &amp; Live Pole Migration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Linking Transfer Function Impedance Growth to Physical Instability</a:t>
            </a:r>
          </a:p>
        </p:txBody>
      </p:sp>
      <p:pic>
        <p:nvPicPr>
          <p:cNvPr id="3" name="Picture 2" descr="05_dynamic_trajectory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943600" cy="297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645920"/>
            <a:ext cx="493776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Live Dashboard Math Verification: </a:t>
            </a:r>
            <a:r>
              <a:rPr b="0" sz="1500">
                <a:solidFill>
                  <a:srgbClr val="1E293B"/>
                </a:solidFill>
              </a:rPr>
              <a:t>Our Streamlit UI tracks live Laplace Transfer Function H(s) = V(s)/I(s) = R0 + R1/(1 + R1*C1*s).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Healthy Cell State (Cycle 12): </a:t>
            </a:r>
            <a:r>
              <a:rPr b="0" sz="1500">
                <a:solidFill>
                  <a:srgbClr val="1E293B"/>
                </a:solidFill>
              </a:rPr>
              <a:t>At early life, R1 is low. Formula shows H(s) = 0.0162 + 0.0195/(1 + 7.78s) with stable system pole at -0.1285 rad/s.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Aged Cell State (Cycle 867): </a:t>
            </a:r>
            <a:r>
              <a:rPr b="0" sz="1500">
                <a:solidFill>
                  <a:srgbClr val="1E293B"/>
                </a:solidFill>
              </a:rPr>
              <a:t>As internal resistance doubles near retirement, formula updates to H(s) = 0.0196 + 0.0310/(1 + 10.02s) with pole migrating right to -0.0998 rad/s.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Physical Proof: </a:t>
            </a:r>
            <a:r>
              <a:rPr b="0" sz="1500">
                <a:solidFill>
                  <a:srgbClr val="1E293B"/>
                </a:solidFill>
              </a:rPr>
              <a:t>This live pole movement toward the zero boundary acts like an electrical heart monitor explaining physically why the AI reaches zero!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Real-World Deliverables &amp; Industrial Impact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From Laboratory Algorithms to Commercial Vehicle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Working Software Deliverable: </a:t>
            </a:r>
            <a:r>
              <a:rPr b="0" sz="1800">
                <a:solidFill>
                  <a:srgbClr val="1E293B"/>
                </a:solidFill>
              </a:rPr>
              <a:t>A fully functional Python &amp; Streamlit Real-Time Dashboard displaying cycle-by-cycle aging, dynamic transfer function math, confusion matrix alerts, and live safety brackets.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Direct Industrial Impact 1 - Fleet Management: </a:t>
            </a:r>
            <a:r>
              <a:rPr b="0" sz="1800">
                <a:solidFill>
                  <a:srgbClr val="1E293B"/>
                </a:solidFill>
              </a:rPr>
              <a:t>Warns taxi and delivery operators when to replace batteries before passenger stranding or breakdown occurs on the road.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Direct Industrial Impact 2 - Warranty Budgeting: </a:t>
            </a:r>
            <a:r>
              <a:rPr b="0" sz="1800">
                <a:solidFill>
                  <a:srgbClr val="1E293B"/>
                </a:solidFill>
              </a:rPr>
              <a:t>Enables automotive manufacturers to calculate exact actuarial replacement liability across multi-thousand vehicle fleets.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Direct Industrial Impact 3 - Second-Life Grid Storage: </a:t>
            </a:r>
            <a:r>
              <a:rPr b="0" sz="1800">
                <a:solidFill>
                  <a:srgbClr val="1E293B"/>
                </a:solidFill>
              </a:rPr>
              <a:t>Rapidly screens retired 80% SOH EV batteries to certify them for safe secondary solar grid storage.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