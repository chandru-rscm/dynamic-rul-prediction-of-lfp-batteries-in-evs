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2" r:id="rId6"/>
    <p:sldId id="264" r:id="rId7"/>
    <p:sldId id="260" r:id="rId8"/>
    <p:sldId id="261" r:id="rId9"/>
    <p:sldId id="263" r:id="rId10"/>
    <p:sldId id="265" r:id="rId11"/>
    <p:sldId id="266" r:id="rId12"/>
    <p:sldId id="276" r:id="rId13"/>
    <p:sldId id="272" r:id="rId14"/>
    <p:sldId id="277" r:id="rId15"/>
    <p:sldId id="267" r:id="rId16"/>
    <p:sldId id="278" r:id="rId17"/>
    <p:sldId id="279" r:id="rId18"/>
    <p:sldId id="268" r:id="rId19"/>
    <p:sldId id="269" r:id="rId20"/>
    <p:sldId id="270" r:id="rId21"/>
    <p:sldId id="271" r:id="rId22"/>
    <p:sldId id="274" r:id="rId23"/>
    <p:sldId id="273" r:id="rId24"/>
    <p:sldId id="275"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172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552" y="1927125"/>
            <a:ext cx="10362895" cy="1754326"/>
          </a:xfrm>
          <a:prstGeom prst="rect">
            <a:avLst/>
          </a:prstGeom>
          <a:noFill/>
        </p:spPr>
        <p:txBody>
          <a:bodyPr wrap="square">
            <a:spAutoFit/>
          </a:bodyPr>
          <a:lstStyle/>
          <a:p>
            <a:pPr algn="ctr">
              <a:defRPr sz="3600" b="1">
                <a:solidFill>
                  <a:srgbClr val="FFFFFF"/>
                </a:solidFill>
              </a:defRPr>
            </a:pPr>
            <a:r>
              <a:rPr dirty="0">
                <a:solidFill>
                  <a:srgbClr val="0F172A"/>
                </a:solidFill>
              </a:rPr>
              <a:t>Dynamic Remaining Useful Life (RUL) Prediction</a:t>
            </a:r>
            <a:br>
              <a:rPr dirty="0">
                <a:solidFill>
                  <a:srgbClr val="0F172A"/>
                </a:solidFill>
              </a:rPr>
            </a:br>
            <a:r>
              <a:rPr dirty="0">
                <a:solidFill>
                  <a:srgbClr val="0F172A"/>
                </a:solidFill>
              </a:rPr>
              <a:t>for LFP Batteries </a:t>
            </a:r>
            <a:r>
              <a:rPr lang="en-IN" dirty="0">
                <a:solidFill>
                  <a:srgbClr val="0F172A"/>
                </a:solidFill>
              </a:rPr>
              <a:t>with Conformal Uncertainty Quantification</a:t>
            </a:r>
            <a:endParaRPr dirty="0">
              <a:solidFill>
                <a:srgbClr val="0F172A"/>
              </a:solidFill>
            </a:endParaRPr>
          </a:p>
        </p:txBody>
      </p:sp>
      <p:sp>
        <p:nvSpPr>
          <p:cNvPr id="5" name="TextBox 4">
            <a:extLst>
              <a:ext uri="{FF2B5EF4-FFF2-40B4-BE49-F238E27FC236}">
                <a16:creationId xmlns:a16="http://schemas.microsoft.com/office/drawing/2014/main" id="{A4006224-18C0-F1E6-6A9C-5A204432D613}"/>
              </a:ext>
            </a:extLst>
          </p:cNvPr>
          <p:cNvSpPr txBox="1"/>
          <p:nvPr/>
        </p:nvSpPr>
        <p:spPr>
          <a:xfrm>
            <a:off x="304800" y="5713840"/>
            <a:ext cx="6253316" cy="830997"/>
          </a:xfrm>
          <a:prstGeom prst="rect">
            <a:avLst/>
          </a:prstGeom>
          <a:noFill/>
        </p:spPr>
        <p:txBody>
          <a:bodyPr wrap="square">
            <a:spAutoFit/>
          </a:bodyPr>
          <a:lstStyle/>
          <a:p>
            <a:pPr>
              <a:defRPr sz="1200" b="1">
                <a:solidFill>
                  <a:srgbClr val="FFFFFF"/>
                </a:solidFill>
                <a:latin typeface="Calibri"/>
              </a:defRPr>
            </a:pPr>
            <a:r>
              <a:rPr lang="en-US" sz="1600" dirty="0">
                <a:solidFill>
                  <a:schemeClr val="tx1">
                    <a:lumMod val="95000"/>
                    <a:lumOff val="5000"/>
                  </a:schemeClr>
                </a:solidFill>
              </a:rPr>
              <a:t>Name: R S Chandramohan</a:t>
            </a:r>
          </a:p>
          <a:p>
            <a:pPr>
              <a:defRPr sz="1200" b="1">
                <a:solidFill>
                  <a:srgbClr val="FFFFFF"/>
                </a:solidFill>
                <a:latin typeface="Calibri"/>
              </a:defRPr>
            </a:pPr>
            <a:r>
              <a:rPr lang="en-US" sz="1600" dirty="0">
                <a:solidFill>
                  <a:schemeClr val="tx1">
                    <a:lumMod val="95000"/>
                    <a:lumOff val="5000"/>
                  </a:schemeClr>
                </a:solidFill>
              </a:rPr>
              <a:t>Branch: ECE  |  Year of Study: 4th Year</a:t>
            </a:r>
          </a:p>
          <a:p>
            <a:pPr>
              <a:defRPr sz="1200" b="1">
                <a:solidFill>
                  <a:srgbClr val="FFFFFF"/>
                </a:solidFill>
                <a:latin typeface="Calibri"/>
              </a:defRPr>
            </a:pPr>
            <a:r>
              <a:rPr lang="en-US" sz="1600" dirty="0">
                <a:solidFill>
                  <a:schemeClr val="tx1">
                    <a:lumMod val="95000"/>
                    <a:lumOff val="5000"/>
                  </a:schemeClr>
                </a:solidFill>
              </a:rPr>
              <a:t>College: Sastra Deemed to be University, Thanjavur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430887"/>
          </a:xfrm>
          <a:prstGeom prst="rect">
            <a:avLst/>
          </a:prstGeom>
          <a:noFill/>
        </p:spPr>
        <p:txBody>
          <a:bodyPr wrap="square" lIns="0" tIns="0" rIns="0" bIns="0">
            <a:spAutoFit/>
          </a:bodyPr>
          <a:lstStyle/>
          <a:p>
            <a:pPr>
              <a:defRPr sz="2800" b="1">
                <a:solidFill>
                  <a:srgbClr val="0F172A"/>
                </a:solidFill>
                <a:latin typeface="Calibri"/>
              </a:defRPr>
            </a:pPr>
            <a:r>
              <a:rPr dirty="0"/>
              <a:t>What is RUL &amp; Why is it Critical?</a:t>
            </a:r>
          </a:p>
        </p:txBody>
      </p:sp>
      <p:sp>
        <p:nvSpPr>
          <p:cNvPr id="3" name="Rounded Rectangle 2"/>
          <p:cNvSpPr/>
          <p:nvPr/>
        </p:nvSpPr>
        <p:spPr>
          <a:xfrm>
            <a:off x="548640" y="1645920"/>
            <a:ext cx="3474720" cy="45720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920240"/>
            <a:ext cx="3108960" cy="4206240"/>
          </a:xfrm>
          <a:prstGeom prst="rect">
            <a:avLst/>
          </a:prstGeom>
          <a:noFill/>
        </p:spPr>
        <p:txBody>
          <a:bodyPr wrap="square">
            <a:spAutoFit/>
          </a:bodyPr>
          <a:lstStyle/>
          <a:p>
            <a:pPr>
              <a:spcAft>
                <a:spcPts val="1400"/>
              </a:spcAft>
              <a:defRPr sz="2000" b="1">
                <a:solidFill>
                  <a:srgbClr val="0F172A"/>
                </a:solidFill>
                <a:latin typeface="Calibri"/>
              </a:defRPr>
            </a:pPr>
            <a:r>
              <a:t>What is RUL?</a:t>
            </a:r>
          </a:p>
          <a:p>
            <a:pPr>
              <a:defRPr sz="1500">
                <a:solidFill>
                  <a:srgbClr val="1E293B"/>
                </a:solidFill>
                <a:latin typeface="Calibri"/>
              </a:defRPr>
            </a:pPr>
            <a:r>
              <a:t>Remaining Useful Life is the exact number of charge/discharge cycles remaining before an EV battery degrades to its end of life retirement threshold (80% State of Health).</a:t>
            </a:r>
          </a:p>
        </p:txBody>
      </p:sp>
      <p:sp>
        <p:nvSpPr>
          <p:cNvPr id="5" name="Rounded Rectangle 4"/>
          <p:cNvSpPr/>
          <p:nvPr/>
        </p:nvSpPr>
        <p:spPr>
          <a:xfrm>
            <a:off x="4297680" y="1645920"/>
            <a:ext cx="3474720" cy="457200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480560" y="1920240"/>
            <a:ext cx="3108960" cy="1733808"/>
          </a:xfrm>
          <a:prstGeom prst="rect">
            <a:avLst/>
          </a:prstGeom>
          <a:noFill/>
        </p:spPr>
        <p:txBody>
          <a:bodyPr wrap="square">
            <a:spAutoFit/>
          </a:bodyPr>
          <a:lstStyle/>
          <a:p>
            <a:pPr>
              <a:spcAft>
                <a:spcPts val="1400"/>
              </a:spcAft>
              <a:defRPr sz="2000" b="1">
                <a:solidFill>
                  <a:srgbClr val="0F172A"/>
                </a:solidFill>
                <a:latin typeface="Calibri"/>
              </a:defRPr>
            </a:pPr>
            <a:r>
              <a:rPr dirty="0"/>
              <a:t>Why is it Needed?</a:t>
            </a:r>
          </a:p>
          <a:p>
            <a:pPr>
              <a:defRPr sz="1500">
                <a:solidFill>
                  <a:srgbClr val="1E293B"/>
                </a:solidFill>
                <a:latin typeface="Calibri"/>
              </a:defRPr>
            </a:pPr>
            <a:r>
              <a:rPr dirty="0"/>
              <a:t>EV drivers constantly face 'Range Anxiety' and sudden battery failures. Traditional BMS only measure current state</a:t>
            </a:r>
            <a:r>
              <a:rPr lang="en-IN" dirty="0"/>
              <a:t>,</a:t>
            </a:r>
            <a:r>
              <a:rPr dirty="0"/>
              <a:t> they can't warn drivers when the battery will permanently fail. </a:t>
            </a:r>
          </a:p>
        </p:txBody>
      </p:sp>
      <p:sp>
        <p:nvSpPr>
          <p:cNvPr id="7" name="Rounded Rectangle 6"/>
          <p:cNvSpPr/>
          <p:nvPr/>
        </p:nvSpPr>
        <p:spPr>
          <a:xfrm>
            <a:off x="8046720" y="1645920"/>
            <a:ext cx="3566160" cy="457200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0" y="1920240"/>
            <a:ext cx="3200400" cy="2195473"/>
          </a:xfrm>
          <a:prstGeom prst="rect">
            <a:avLst/>
          </a:prstGeom>
          <a:noFill/>
        </p:spPr>
        <p:txBody>
          <a:bodyPr wrap="square">
            <a:spAutoFit/>
          </a:bodyPr>
          <a:lstStyle/>
          <a:p>
            <a:pPr>
              <a:spcAft>
                <a:spcPts val="1400"/>
              </a:spcAft>
              <a:defRPr sz="2000" b="1">
                <a:solidFill>
                  <a:srgbClr val="FFFFFF"/>
                </a:solidFill>
                <a:latin typeface="Calibri"/>
              </a:defRPr>
            </a:pPr>
            <a:r>
              <a:rPr dirty="0"/>
              <a:t>What We're Doing</a:t>
            </a:r>
          </a:p>
          <a:p>
            <a:pPr>
              <a:defRPr sz="1500">
                <a:solidFill>
                  <a:srgbClr val="FFFFFF"/>
                </a:solidFill>
                <a:latin typeface="Calibri"/>
              </a:defRPr>
            </a:pPr>
            <a:r>
              <a:rPr dirty="0"/>
              <a:t>We're building a Dynamic AI Predictive Dashboard that continuously monitors vehicle sensor data while driving</a:t>
            </a:r>
            <a:r>
              <a:rPr lang="en-IN" dirty="0"/>
              <a:t>,</a:t>
            </a:r>
            <a:r>
              <a:rPr dirty="0"/>
              <a:t> forecasting the exact remaining lifespan and providing a mathematically guaranteed worst-case safety warning window.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Problem Statement &amp; Industrial Need</a:t>
            </a:r>
          </a:p>
          <a:p>
            <a:pPr>
              <a:defRPr sz="1600">
                <a:solidFill>
                  <a:srgbClr val="0284C7"/>
                </a:solidFill>
                <a:latin typeface="Calibri"/>
              </a:defRPr>
            </a:pPr>
            <a:r>
              <a:t>Overcoming Blind Single-Point AI Predictions in Electric Vehicle BMS</a:t>
            </a:r>
          </a:p>
        </p:txBody>
      </p:sp>
      <p:sp>
        <p:nvSpPr>
          <p:cNvPr id="3" name="TextBox 2"/>
          <p:cNvSpPr txBox="1"/>
          <p:nvPr/>
        </p:nvSpPr>
        <p:spPr>
          <a:xfrm>
            <a:off x="731520" y="1645920"/>
            <a:ext cx="10698480" cy="4572000"/>
          </a:xfrm>
          <a:prstGeom prst="rect">
            <a:avLst/>
          </a:prstGeom>
          <a:noFill/>
        </p:spPr>
        <p:txBody>
          <a:bodyPr wrap="square" tIns="91440" bIns="91440">
            <a:spAutoFit/>
          </a:bodyPr>
          <a:lstStyle/>
          <a:p>
            <a:pPr>
              <a:spcAft>
                <a:spcPts val="1200"/>
              </a:spcAft>
            </a:pPr>
            <a:r>
              <a:rPr sz="1800" b="1">
                <a:solidFill>
                  <a:srgbClr val="0F172A"/>
                </a:solidFill>
              </a:rPr>
              <a:t>The Automotive Problem: </a:t>
            </a:r>
            <a:r>
              <a:rPr sz="1800" b="0">
                <a:solidFill>
                  <a:srgbClr val="1E293B"/>
                </a:solidFill>
              </a:rPr>
              <a:t>Standard EV battery systems assume capacity fades in a linear straight line. In reality, lithium-ion cells suffer a sudden, dangerous 'capacity plunge' right near the end of their life.</a:t>
            </a:r>
          </a:p>
          <a:p>
            <a:pPr>
              <a:spcAft>
                <a:spcPts val="1200"/>
              </a:spcAft>
            </a:pPr>
            <a:r>
              <a:rPr sz="1800" b="1">
                <a:solidFill>
                  <a:srgbClr val="0F172A"/>
                </a:solidFill>
              </a:rPr>
              <a:t>Why Normal AI Fails: </a:t>
            </a:r>
            <a:r>
              <a:rPr sz="1800" b="0">
                <a:solidFill>
                  <a:srgbClr val="1E293B"/>
                </a:solidFill>
              </a:rPr>
              <a:t>Standard machine learning gives a blind single guess without any safety warning or confidence bounds. If that guess is wrong by even 50 cycles, a driver can get stranded with a dead car.</a:t>
            </a:r>
          </a:p>
          <a:p>
            <a:pPr>
              <a:spcAft>
                <a:spcPts val="1200"/>
              </a:spcAft>
            </a:pPr>
            <a:r>
              <a:rPr sz="1800" b="1">
                <a:solidFill>
                  <a:srgbClr val="0F172A"/>
                </a:solidFill>
              </a:rPr>
              <a:t>Our Industrial Solution: </a:t>
            </a:r>
            <a:r>
              <a:rPr sz="1800" b="0">
                <a:solidFill>
                  <a:srgbClr val="1E293B"/>
                </a:solidFill>
              </a:rPr>
              <a:t>A dynamic tracking dashboard that polls vehicle telemetry every 5 cycles while driving, combining regularized LightGBM decision trees with physical electrical equations and a guaranteed 90% Conformal Prediction safety window.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430887"/>
          </a:xfrm>
          <a:prstGeom prst="rect">
            <a:avLst/>
          </a:prstGeom>
          <a:noFill/>
        </p:spPr>
        <p:txBody>
          <a:bodyPr wrap="square" lIns="0" tIns="0" rIns="0" bIns="0">
            <a:spAutoFit/>
          </a:bodyPr>
          <a:lstStyle/>
          <a:p>
            <a:pPr>
              <a:defRPr sz="2800" b="1">
                <a:solidFill>
                  <a:srgbClr val="0F172A"/>
                </a:solidFill>
                <a:latin typeface="Calibri"/>
              </a:defRPr>
            </a:pPr>
            <a:r>
              <a:rPr dirty="0"/>
              <a:t>Base Paper Comparison &amp; Our Core Contributions</a:t>
            </a:r>
          </a:p>
        </p:txBody>
      </p:sp>
      <p:sp>
        <p:nvSpPr>
          <p:cNvPr id="3" name="TextBox 2"/>
          <p:cNvSpPr txBox="1"/>
          <p:nvPr/>
        </p:nvSpPr>
        <p:spPr>
          <a:xfrm>
            <a:off x="731520" y="1645920"/>
            <a:ext cx="10698480" cy="4572000"/>
          </a:xfrm>
          <a:prstGeom prst="rect">
            <a:avLst/>
          </a:prstGeom>
          <a:noFill/>
        </p:spPr>
        <p:txBody>
          <a:bodyPr wrap="square" tIns="91440" bIns="91440">
            <a:spAutoFit/>
          </a:bodyPr>
          <a:lstStyle/>
          <a:p>
            <a:pPr>
              <a:spcAft>
                <a:spcPts val="1200"/>
              </a:spcAft>
            </a:pPr>
            <a:r>
              <a:rPr sz="1700" b="1">
                <a:solidFill>
                  <a:srgbClr val="0F172A"/>
                </a:solidFill>
              </a:rPr>
              <a:t>Base Benchmark Paper: </a:t>
            </a:r>
            <a:r>
              <a:rPr sz="1700" b="0">
                <a:solidFill>
                  <a:srgbClr val="1E293B"/>
                </a:solidFill>
              </a:rPr>
              <a:t>Severson et al., 'Data-driven prediction of battery cycle life before capacity degradation', Nature Energy (2019).</a:t>
            </a:r>
          </a:p>
          <a:p>
            <a:pPr>
              <a:spcAft>
                <a:spcPts val="1200"/>
              </a:spcAft>
            </a:pPr>
            <a:r>
              <a:rPr sz="1700" b="1">
                <a:solidFill>
                  <a:srgbClr val="0F172A"/>
                </a:solidFill>
              </a:rPr>
              <a:t>Base Paper Limitation: </a:t>
            </a:r>
            <a:r>
              <a:rPr sz="1700" b="0">
                <a:solidFill>
                  <a:srgbClr val="1E293B"/>
                </a:solidFill>
              </a:rPr>
              <a:t>They took a single static snapshot of early life (Cycles 10–100) and made one lifetime guess. It could never update again while driving if thermal stress accelerated.</a:t>
            </a:r>
          </a:p>
          <a:p>
            <a:pPr>
              <a:spcAft>
                <a:spcPts val="1200"/>
              </a:spcAft>
            </a:pPr>
            <a:r>
              <a:rPr sz="1700" b="1">
                <a:solidFill>
                  <a:srgbClr val="0F172A"/>
                </a:solidFill>
              </a:rPr>
              <a:t>Our Improvement 1 - Dynamic Real-Time Tracking: </a:t>
            </a:r>
            <a:r>
              <a:rPr sz="1700" b="0">
                <a:solidFill>
                  <a:srgbClr val="1E293B"/>
                </a:solidFill>
              </a:rPr>
              <a:t>We poll telemetry checkpoints every 5 cycles to continuously update remaining lifespan while driving.</a:t>
            </a:r>
          </a:p>
          <a:p>
            <a:pPr>
              <a:spcAft>
                <a:spcPts val="1200"/>
              </a:spcAft>
            </a:pPr>
            <a:r>
              <a:rPr sz="1700" b="1">
                <a:solidFill>
                  <a:srgbClr val="0F172A"/>
                </a:solidFill>
              </a:rPr>
              <a:t>Our Improvement 2 - Guaranteed Safety Margins: </a:t>
            </a:r>
            <a:r>
              <a:rPr sz="1700" b="0">
                <a:solidFill>
                  <a:srgbClr val="1E293B"/>
                </a:solidFill>
              </a:rPr>
              <a:t>Instead of a raw guess, we provide a 90% Conformal Prediction safety bracket giving a known worst-case maintenance window.</a:t>
            </a:r>
          </a:p>
          <a:p>
            <a:pPr>
              <a:spcAft>
                <a:spcPts val="1200"/>
              </a:spcAft>
            </a:pPr>
            <a:r>
              <a:rPr sz="1700" b="1">
                <a:solidFill>
                  <a:srgbClr val="0F172A"/>
                </a:solidFill>
              </a:rPr>
              <a:t>Our Improvement 3 - True Unseen Validation: </a:t>
            </a:r>
            <a:r>
              <a:rPr sz="1700" b="0">
                <a:solidFill>
                  <a:srgbClr val="1E293B"/>
                </a:solidFill>
              </a:rPr>
              <a:t>We used Grouped Leave-Cells-Out validation so the AI is tested on completely hidden EV batteries.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Dataset Specifications &amp; Engineering Assumptions</a:t>
            </a:r>
          </a:p>
          <a:p>
            <a:pPr>
              <a:defRPr sz="1600">
                <a:solidFill>
                  <a:srgbClr val="0284C7"/>
                </a:solidFill>
                <a:latin typeface="Calibri"/>
              </a:defRPr>
            </a:pPr>
            <a:r>
              <a:t>Stanford / MIT / Toyota Research Institute Benchmark Dataset</a:t>
            </a:r>
          </a:p>
        </p:txBody>
      </p:sp>
      <p:sp>
        <p:nvSpPr>
          <p:cNvPr id="3" name="TextBox 2"/>
          <p:cNvSpPr txBox="1"/>
          <p:nvPr/>
        </p:nvSpPr>
        <p:spPr>
          <a:xfrm>
            <a:off x="731520" y="1645920"/>
            <a:ext cx="10698480" cy="4572000"/>
          </a:xfrm>
          <a:prstGeom prst="rect">
            <a:avLst/>
          </a:prstGeom>
          <a:noFill/>
        </p:spPr>
        <p:txBody>
          <a:bodyPr wrap="square" tIns="91440" bIns="91440">
            <a:spAutoFit/>
          </a:bodyPr>
          <a:lstStyle/>
          <a:p>
            <a:pPr>
              <a:spcAft>
                <a:spcPts val="1200"/>
              </a:spcAft>
            </a:pPr>
            <a:r>
              <a:rPr sz="1600" b="1">
                <a:solidFill>
                  <a:srgbClr val="0F172A"/>
                </a:solidFill>
              </a:rPr>
              <a:t>Battery Cell Specs: </a:t>
            </a:r>
            <a:r>
              <a:rPr sz="1600" b="0">
                <a:solidFill>
                  <a:srgbClr val="1E293B"/>
                </a:solidFill>
              </a:rPr>
              <a:t>124 physical A123 Systems APR18650M1A Lithium Iron Phosphate (LFP) cylindrical cells (18 mm x 65 mm).</a:t>
            </a:r>
          </a:p>
          <a:p>
            <a:pPr>
              <a:spcAft>
                <a:spcPts val="1200"/>
              </a:spcAft>
            </a:pPr>
            <a:r>
              <a:rPr sz="1600" b="1">
                <a:solidFill>
                  <a:srgbClr val="0F172A"/>
                </a:solidFill>
              </a:rPr>
              <a:t>Nominal Ratings: </a:t>
            </a:r>
            <a:r>
              <a:rPr sz="1600" b="0">
                <a:solidFill>
                  <a:srgbClr val="1E293B"/>
                </a:solidFill>
              </a:rPr>
              <a:t>Capacity = 1.1 Ah; Voltage = 3.3 V (Operating range: 2.0 V to 3.6 V).</a:t>
            </a:r>
          </a:p>
          <a:p>
            <a:pPr>
              <a:spcAft>
                <a:spcPts val="1200"/>
              </a:spcAft>
            </a:pPr>
            <a:r>
              <a:rPr sz="1600" b="1">
                <a:solidFill>
                  <a:srgbClr val="0F172A"/>
                </a:solidFill>
              </a:rPr>
              <a:t>Testing Conditions: </a:t>
            </a:r>
            <a:r>
              <a:rPr sz="1600" b="0">
                <a:solidFill>
                  <a:srgbClr val="1E293B"/>
                </a:solidFill>
              </a:rPr>
              <a:t>Continuous fast-charging (1C to 6C rates) inside 30°C thermal chambers until 80% State of Health (0.88 Ah).</a:t>
            </a:r>
          </a:p>
          <a:p>
            <a:pPr>
              <a:spcAft>
                <a:spcPts val="1200"/>
              </a:spcAft>
            </a:pPr>
            <a:r>
              <a:rPr sz="1600" b="1">
                <a:solidFill>
                  <a:srgbClr val="0F172A"/>
                </a:solidFill>
              </a:rPr>
              <a:t>Unseen Test Cell Identity: </a:t>
            </a:r>
            <a:r>
              <a:rPr sz="1600" b="0">
                <a:solidFill>
                  <a:srgbClr val="1E293B"/>
                </a:solidFill>
              </a:rPr>
              <a:t>In our trajectory and control plots, we specifically highlight Unseen Test Cell '2017-05-12_cell_12' as our real-world validation proof.</a:t>
            </a:r>
          </a:p>
          <a:p>
            <a:pPr>
              <a:spcAft>
                <a:spcPts val="1200"/>
              </a:spcAft>
            </a:pPr>
            <a:r>
              <a:rPr sz="1600" b="1">
                <a:solidFill>
                  <a:srgbClr val="0F172A"/>
                </a:solidFill>
              </a:rPr>
              <a:t>Assumption 1 - 1st-Order Circuit Dominance: </a:t>
            </a:r>
            <a:r>
              <a:rPr sz="1600" b="0">
                <a:solidFill>
                  <a:srgbClr val="1E293B"/>
                </a:solidFill>
              </a:rPr>
              <a:t>We assume a 1-resistor/1-capacitor equivalent circuit captures &gt;95% of dynamic voltage response without lagging microchips.</a:t>
            </a:r>
          </a:p>
          <a:p>
            <a:pPr>
              <a:spcAft>
                <a:spcPts val="1200"/>
              </a:spcAft>
            </a:pPr>
            <a:r>
              <a:rPr sz="1600" b="1">
                <a:solidFill>
                  <a:srgbClr val="0F172A"/>
                </a:solidFill>
              </a:rPr>
              <a:t>Assumption 2 - Normalized Size Invariance: </a:t>
            </a:r>
            <a:r>
              <a:rPr sz="1600" b="0">
                <a:solidFill>
                  <a:srgbClr val="1E293B"/>
                </a:solidFill>
              </a:rPr>
              <a:t>By measuring capacity as a percentage (SOH = Q / Q_nom), our aging rules apply equally to 1.1 Ah lab cells and large 100 Ah EV battery packs.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Extraction of 8 Dynamic Physics Features</a:t>
            </a:r>
          </a:p>
          <a:p>
            <a:pPr>
              <a:defRPr sz="1600">
                <a:solidFill>
                  <a:srgbClr val="0284C7"/>
                </a:solidFill>
                <a:latin typeface="Calibri"/>
              </a:defRPr>
            </a:pPr>
            <a:r>
              <a:t>Transforming Raw Voltage Waveforms into Diagnostic Health Indicators</a:t>
            </a:r>
          </a:p>
        </p:txBody>
      </p:sp>
      <p:graphicFrame>
        <p:nvGraphicFramePr>
          <p:cNvPr id="3" name="Table 2"/>
          <p:cNvGraphicFramePr>
            <a:graphicFrameLocks noGrp="1"/>
          </p:cNvGraphicFramePr>
          <p:nvPr/>
        </p:nvGraphicFramePr>
        <p:xfrm>
          <a:off x="457200" y="1371600"/>
          <a:ext cx="11274552" cy="5029200"/>
        </p:xfrm>
        <a:graphic>
          <a:graphicData uri="http://schemas.openxmlformats.org/drawingml/2006/table">
            <a:tbl>
              <a:tblPr firstRow="1" bandRow="1">
                <a:tableStyleId>{5C22544A-7EE6-4342-B048-85BDC9FD1C3A}</a:tableStyleId>
              </a:tblPr>
              <a:tblGrid>
                <a:gridCol w="1143000"/>
                <a:gridCol w="1965960"/>
                <a:gridCol w="4507992"/>
                <a:gridCol w="3657600"/>
              </a:tblGrid>
              <a:tr h="558800">
                <a:tc>
                  <a:txBody>
                    <a:bodyPr/>
                    <a:lstStyle/>
                    <a:p>
                      <a:pPr algn="ctr"/>
                      <a:r>
                        <a:rPr sz="1350" i="0" b="1">
                          <a:solidFill>
                            <a:srgbClr val="FFFFFF"/>
                          </a:solidFill>
                          <a:latin typeface="Calibri"/>
                        </a:rPr>
                        <a:t>Symbol</a:t>
                      </a:r>
                    </a:p>
                  </a:txBody>
                  <a:tcPr anchor="ctr">
                    <a:solidFill>
                      <a:srgbClr val="102C57"/>
                    </a:solidFill>
                  </a:tcPr>
                </a:tc>
                <a:tc>
                  <a:txBody>
                    <a:bodyPr/>
                    <a:lstStyle/>
                    <a:p>
                      <a:pPr algn="ctr"/>
                      <a:r>
                        <a:rPr sz="1350" i="0" b="1">
                          <a:solidFill>
                            <a:srgbClr val="FFFFFF"/>
                          </a:solidFill>
                          <a:latin typeface="Calibri"/>
                        </a:rPr>
                        <a:t>Feature Name</a:t>
                      </a:r>
                    </a:p>
                  </a:txBody>
                  <a:tcPr anchor="ctr">
                    <a:solidFill>
                      <a:srgbClr val="102C57"/>
                    </a:solidFill>
                  </a:tcPr>
                </a:tc>
                <a:tc>
                  <a:txBody>
                    <a:bodyPr/>
                    <a:lstStyle/>
                    <a:p>
                      <a:pPr algn="ctr"/>
                      <a:r>
                        <a:rPr sz="1350" i="0" b="1">
                          <a:solidFill>
                            <a:srgbClr val="FFFFFF"/>
                          </a:solidFill>
                          <a:latin typeface="Calibri"/>
                        </a:rPr>
                        <a:t>Physical Meaning &amp; Degradation Link</a:t>
                      </a:r>
                    </a:p>
                  </a:txBody>
                  <a:tcPr anchor="ctr">
                    <a:solidFill>
                      <a:srgbClr val="102C57"/>
                    </a:solidFill>
                  </a:tcPr>
                </a:tc>
                <a:tc>
                  <a:txBody>
                    <a:bodyPr/>
                    <a:lstStyle/>
                    <a:p>
                      <a:pPr algn="ctr"/>
                      <a:r>
                        <a:rPr sz="1350" i="0" b="1">
                          <a:solidFill>
                            <a:srgbClr val="FFFFFF"/>
                          </a:solidFill>
                          <a:latin typeface="Calibri"/>
                        </a:rPr>
                        <a:t>Computation Formula</a:t>
                      </a:r>
                    </a:p>
                  </a:txBody>
                  <a:tcPr anchor="ctr">
                    <a:solidFill>
                      <a:srgbClr val="102C57"/>
                    </a:solidFill>
                  </a:tcPr>
                </a:tc>
              </a:tr>
              <a:tr h="558800">
                <a:tc>
                  <a:txBody>
                    <a:bodyPr/>
                    <a:lstStyle/>
                    <a:p>
                      <a:pPr algn="ctr"/>
                      <a:r>
                        <a:rPr sz="1200" i="1" b="1">
                          <a:solidFill>
                            <a:srgbClr val="212529"/>
                          </a:solidFill>
                          <a:latin typeface="Cambria Math"/>
                        </a:rPr>
                        <a:t>k</a:t>
                      </a:r>
                    </a:p>
                  </a:txBody>
                  <a:tcPr anchor="ctr">
                    <a:solidFill>
                      <a:srgbClr val="FFFFFF"/>
                    </a:solidFill>
                  </a:tcPr>
                </a:tc>
                <a:tc>
                  <a:txBody>
                    <a:bodyPr/>
                    <a:lstStyle/>
                    <a:p>
                      <a:pPr algn="l"/>
                      <a:r>
                        <a:rPr sz="1150" i="0" b="1">
                          <a:solidFill>
                            <a:srgbClr val="212529"/>
                          </a:solidFill>
                          <a:latin typeface="Calibri"/>
                        </a:rPr>
                        <a:t>Cycle Number</a:t>
                      </a:r>
                    </a:p>
                  </a:txBody>
                  <a:tcPr anchor="ctr">
                    <a:solidFill>
                      <a:srgbClr val="FFFFFF"/>
                    </a:solidFill>
                  </a:tcPr>
                </a:tc>
                <a:tc>
                  <a:txBody>
                    <a:bodyPr/>
                    <a:lstStyle/>
                    <a:p>
                      <a:pPr algn="l"/>
                      <a:r>
                        <a:rPr sz="1100" i="0" b="0">
                          <a:solidFill>
                            <a:srgbClr val="212529"/>
                          </a:solidFill>
                          <a:latin typeface="Calibri"/>
                        </a:rPr>
                        <a:t>Tracks baseline temporal aging progression and cumulative operational charge-discharge duration of the cell.</a:t>
                      </a:r>
                    </a:p>
                  </a:txBody>
                  <a:tcPr anchor="ctr">
                    <a:solidFill>
                      <a:srgbClr val="FFFFFF"/>
                    </a:solidFill>
                  </a:tcPr>
                </a:tc>
                <a:tc>
                  <a:txBody>
                    <a:bodyPr/>
                    <a:lstStyle/>
                    <a:p>
                      <a:pPr algn="l"/>
                      <a:r>
                        <a:rPr sz="1150" i="0" b="0">
                          <a:solidFill>
                            <a:srgbClr val="212529"/>
                          </a:solidFill>
                          <a:latin typeface="Calibri"/>
                        </a:rPr>
                        <a:t>Current operational cycle index </a:t>
                      </a:r>
                      <a:r>
                        <a:rPr sz="1200" i="1" b="1">
                          <a:solidFill>
                            <a:srgbClr val="212529"/>
                          </a:solidFill>
                          <a:latin typeface="Cambria Math"/>
                        </a:rPr>
                        <a:t>k</a:t>
                      </a:r>
                      <a:r>
                        <a:rPr sz="1150" i="0" b="0">
                          <a:solidFill>
                            <a:srgbClr val="212529"/>
                          </a:solidFill>
                          <a:latin typeface="Calibri"/>
                        </a:rPr>
                        <a:t> at checkpoint</a:t>
                      </a:r>
                    </a:p>
                  </a:txBody>
                  <a:tcPr anchor="ctr">
                    <a:solidFill>
                      <a:srgbClr val="FFFFFF"/>
                    </a:solidFill>
                  </a:tcPr>
                </a:tc>
              </a:tr>
              <a:tr h="558800">
                <a:tc>
                  <a:txBody>
                    <a:bodyPr/>
                    <a:lstStyle/>
                    <a:p>
                      <a:pPr algn="ctr"/>
                      <a:r>
                        <a:rPr sz="1200" i="0" b="1">
                          <a:solidFill>
                            <a:srgbClr val="212529"/>
                          </a:solidFill>
                          <a:latin typeface="Calibri"/>
                        </a:rPr>
                        <a:t>SOH</a:t>
                      </a:r>
                    </a:p>
                  </a:txBody>
                  <a:tcPr anchor="ctr">
                    <a:solidFill>
                      <a:srgbClr val="F5F7FA"/>
                    </a:solidFill>
                  </a:tcPr>
                </a:tc>
                <a:tc>
                  <a:txBody>
                    <a:bodyPr/>
                    <a:lstStyle/>
                    <a:p>
                      <a:pPr algn="l"/>
                      <a:r>
                        <a:rPr sz="1150" i="0" b="1">
                          <a:solidFill>
                            <a:srgbClr val="212529"/>
                          </a:solidFill>
                          <a:latin typeface="Calibri"/>
                        </a:rPr>
                        <a:t>State of Health</a:t>
                      </a:r>
                    </a:p>
                  </a:txBody>
                  <a:tcPr anchor="ctr">
                    <a:solidFill>
                      <a:srgbClr val="F5F7FA"/>
                    </a:solidFill>
                  </a:tcPr>
                </a:tc>
                <a:tc>
                  <a:txBody>
                    <a:bodyPr/>
                    <a:lstStyle/>
                    <a:p>
                      <a:pPr algn="l"/>
                      <a:r>
                        <a:rPr sz="1100" i="0" b="0">
                          <a:solidFill>
                            <a:srgbClr val="212529"/>
                          </a:solidFill>
                          <a:latin typeface="Calibri"/>
                        </a:rPr>
                        <a:t>Normalized remaining capacity ratio; primary macro-level health indicator across cell form factors.</a:t>
                      </a:r>
                    </a:p>
                  </a:txBody>
                  <a:tcPr anchor="ctr">
                    <a:solidFill>
                      <a:srgbClr val="F5F7FA"/>
                    </a:solidFill>
                  </a:tcPr>
                </a:tc>
                <a:tc>
                  <a:txBody>
                    <a:bodyPr/>
                    <a:lstStyle/>
                    <a:p>
                      <a:pPr algn="l"/>
                      <a:r>
                        <a:rPr sz="1200" i="1" b="1">
                          <a:solidFill>
                            <a:srgbClr val="212529"/>
                          </a:solidFill>
                          <a:latin typeface="Cambria Math"/>
                        </a:rPr>
                        <a:t>Q</a:t>
                      </a:r>
                      <a:r>
                        <a:rPr sz="950" i="0" b="0" baseline="-25000">
                          <a:solidFill>
                            <a:srgbClr val="212529"/>
                          </a:solidFill>
                          <a:latin typeface="Calibri"/>
                        </a:rPr>
                        <a:t>dis</a:t>
                      </a:r>
                      <a:r>
                        <a:rPr sz="1200" i="0" b="0">
                          <a:solidFill>
                            <a:srgbClr val="212529"/>
                          </a:solidFill>
                          <a:latin typeface="Cambria Math"/>
                        </a:rPr>
                        <a:t>(</a:t>
                      </a:r>
                      <a:r>
                        <a:rPr sz="1200" i="1" b="1">
                          <a:solidFill>
                            <a:srgbClr val="212529"/>
                          </a:solidFill>
                          <a:latin typeface="Cambria Math"/>
                        </a:rPr>
                        <a:t>k</a:t>
                      </a:r>
                      <a:r>
                        <a:rPr sz="1200" i="1" b="1">
                          <a:solidFill>
                            <a:srgbClr val="212529"/>
                          </a:solidFill>
                          <a:latin typeface="Cambria Math"/>
                        </a:rPr>
                        <a:t>) / Q</a:t>
                      </a:r>
                      <a:r>
                        <a:rPr sz="950" i="0" b="0" baseline="-25000">
                          <a:solidFill>
                            <a:srgbClr val="212529"/>
                          </a:solidFill>
                          <a:latin typeface="Calibri"/>
                        </a:rPr>
                        <a:t>nominal</a:t>
                      </a:r>
                    </a:p>
                  </a:txBody>
                  <a:tcPr anchor="ctr">
                    <a:solidFill>
                      <a:srgbClr val="F5F7FA"/>
                    </a:solidFill>
                  </a:tcPr>
                </a:tc>
              </a:tr>
              <a:tr h="558800">
                <a:tc>
                  <a:txBody>
                    <a:bodyPr/>
                    <a:lstStyle/>
                    <a:p>
                      <a:pPr algn="ctr"/>
                      <a:r>
                        <a:rPr sz="1200" i="0" b="1">
                          <a:solidFill>
                            <a:srgbClr val="212529"/>
                          </a:solidFill>
                          <a:latin typeface="Calibri"/>
                        </a:rPr>
                        <a:t>IR</a:t>
                      </a:r>
                    </a:p>
                  </a:txBody>
                  <a:tcPr anchor="ctr">
                    <a:solidFill>
                      <a:srgbClr val="FFFFFF"/>
                    </a:solidFill>
                  </a:tcPr>
                </a:tc>
                <a:tc>
                  <a:txBody>
                    <a:bodyPr/>
                    <a:lstStyle/>
                    <a:p>
                      <a:pPr algn="l"/>
                      <a:r>
                        <a:rPr sz="1150" i="0" b="1">
                          <a:solidFill>
                            <a:srgbClr val="212529"/>
                          </a:solidFill>
                          <a:latin typeface="Calibri"/>
                        </a:rPr>
                        <a:t>Internal Resistance</a:t>
                      </a:r>
                    </a:p>
                  </a:txBody>
                  <a:tcPr anchor="ctr">
                    <a:solidFill>
                      <a:srgbClr val="FFFFFF"/>
                    </a:solidFill>
                  </a:tcPr>
                </a:tc>
                <a:tc>
                  <a:txBody>
                    <a:bodyPr/>
                    <a:lstStyle/>
                    <a:p>
                      <a:pPr algn="l"/>
                      <a:r>
                        <a:rPr sz="1100" i="0" b="0">
                          <a:solidFill>
                            <a:srgbClr val="212529"/>
                          </a:solidFill>
                          <a:latin typeface="Calibri"/>
                        </a:rPr>
                        <a:t>Measures ohmic + SEI conduction resistance; primary indicator of electrolyte decomposition and interfacial thickening.</a:t>
                      </a:r>
                    </a:p>
                  </a:txBody>
                  <a:tcPr anchor="ctr">
                    <a:solidFill>
                      <a:srgbClr val="FFFFFF"/>
                    </a:solidFill>
                  </a:tcPr>
                </a:tc>
                <a:tc>
                  <a:txBody>
                    <a:bodyPr/>
                    <a:lstStyle/>
                    <a:p>
                      <a:pPr algn="l"/>
                      <a:r>
                        <a:rPr sz="1150" i="0" b="0">
                          <a:solidFill>
                            <a:srgbClr val="212529"/>
                          </a:solidFill>
                          <a:latin typeface="Cambria Math"/>
                        </a:rPr>
                        <a:t>Mean( </a:t>
                      </a:r>
                      <a:r>
                        <a:rPr sz="1150" i="1" b="1">
                          <a:solidFill>
                            <a:srgbClr val="212529"/>
                          </a:solidFill>
                          <a:latin typeface="Cambria Math"/>
                        </a:rPr>
                        <a:t>dV</a:t>
                      </a:r>
                      <a:r>
                        <a:rPr sz="1150" i="0" b="0">
                          <a:solidFill>
                            <a:srgbClr val="212529"/>
                          </a:solidFill>
                          <a:latin typeface="Cambria Math"/>
                        </a:rPr>
                        <a:t> / </a:t>
                      </a:r>
                      <a:r>
                        <a:rPr sz="1150" i="1" b="1">
                          <a:solidFill>
                            <a:srgbClr val="212529"/>
                          </a:solidFill>
                          <a:latin typeface="Cambria Math"/>
                        </a:rPr>
                        <a:t>dI</a:t>
                      </a:r>
                      <a:r>
                        <a:rPr sz="1150" i="0" b="0">
                          <a:solidFill>
                            <a:srgbClr val="212529"/>
                          </a:solidFill>
                          <a:latin typeface="Cambria Math"/>
                        </a:rPr>
                        <a:t> )</a:t>
                      </a:r>
                      <a:r>
                        <a:rPr sz="950" i="0" b="0" baseline="-25000">
                          <a:solidFill>
                            <a:srgbClr val="212529"/>
                          </a:solidFill>
                          <a:latin typeface="Calibri"/>
                        </a:rPr>
                        <a:t>10% SOC pulse</a:t>
                      </a:r>
                    </a:p>
                  </a:txBody>
                  <a:tcPr anchor="ctr">
                    <a:solidFill>
                      <a:srgbClr val="FFFFFF"/>
                    </a:solidFill>
                  </a:tcPr>
                </a:tc>
              </a:tr>
              <a:tr h="558800">
                <a:tc>
                  <a:txBody>
                    <a:bodyPr/>
                    <a:lstStyle/>
                    <a:p>
                      <a:pPr algn="ctr"/>
                      <a:r>
                        <a:rPr sz="1200" i="1" b="1">
                          <a:solidFill>
                            <a:srgbClr val="212529"/>
                          </a:solidFill>
                          <a:latin typeface="Cambria Math"/>
                        </a:rPr>
                        <a:t>T</a:t>
                      </a:r>
                      <a:r>
                        <a:rPr sz="950" i="0" b="0" baseline="-25000">
                          <a:solidFill>
                            <a:srgbClr val="212529"/>
                          </a:solidFill>
                          <a:latin typeface="Calibri"/>
                        </a:rPr>
                        <a:t>mean</a:t>
                      </a:r>
                    </a:p>
                  </a:txBody>
                  <a:tcPr anchor="ctr">
                    <a:solidFill>
                      <a:srgbClr val="F5F7FA"/>
                    </a:solidFill>
                  </a:tcPr>
                </a:tc>
                <a:tc>
                  <a:txBody>
                    <a:bodyPr/>
                    <a:lstStyle/>
                    <a:p>
                      <a:pPr algn="l"/>
                      <a:r>
                        <a:rPr sz="1150" i="0" b="1">
                          <a:solidFill>
                            <a:srgbClr val="212529"/>
                          </a:solidFill>
                          <a:latin typeface="Calibri"/>
                        </a:rPr>
                        <a:t>Mean Discharge Temp</a:t>
                      </a:r>
                    </a:p>
                  </a:txBody>
                  <a:tcPr anchor="ctr">
                    <a:solidFill>
                      <a:srgbClr val="F5F7FA"/>
                    </a:solidFill>
                  </a:tcPr>
                </a:tc>
                <a:tc>
                  <a:txBody>
                    <a:bodyPr/>
                    <a:lstStyle/>
                    <a:p>
                      <a:pPr algn="l"/>
                      <a:r>
                        <a:rPr sz="1100" i="0" b="0">
                          <a:solidFill>
                            <a:srgbClr val="212529"/>
                          </a:solidFill>
                          <a:latin typeface="Calibri"/>
                        </a:rPr>
                        <a:t>Monitors thermal stress during operational discharge; drives Arrhenius aging acceleration and SEI growth.</a:t>
                      </a:r>
                    </a:p>
                  </a:txBody>
                  <a:tcPr anchor="ctr">
                    <a:solidFill>
                      <a:srgbClr val="F5F7FA"/>
                    </a:solidFill>
                  </a:tcPr>
                </a:tc>
                <a:tc>
                  <a:txBody>
                    <a:bodyPr/>
                    <a:lstStyle/>
                    <a:p>
                      <a:pPr algn="l"/>
                      <a:r>
                        <a:rPr sz="1200" i="1" b="1">
                          <a:solidFill>
                            <a:srgbClr val="212529"/>
                          </a:solidFill>
                          <a:latin typeface="Cambria Math"/>
                        </a:rPr>
                        <a:t>T̄</a:t>
                      </a:r>
                      <a:r>
                        <a:rPr sz="950" i="0" b="0" baseline="-25000">
                          <a:solidFill>
                            <a:srgbClr val="212529"/>
                          </a:solidFill>
                          <a:latin typeface="Calibri"/>
                        </a:rPr>
                        <a:t>surface/core</a:t>
                      </a:r>
                      <a:r>
                        <a:rPr sz="1150" i="0" b="0">
                          <a:solidFill>
                            <a:srgbClr val="212529"/>
                          </a:solidFill>
                          <a:latin typeface="Calibri"/>
                        </a:rPr>
                        <a:t> over </a:t>
                      </a:r>
                      <a:r>
                        <a:rPr sz="1200" i="1" b="1">
                          <a:solidFill>
                            <a:srgbClr val="212529"/>
                          </a:solidFill>
                          <a:latin typeface="Cambria Math"/>
                        </a:rPr>
                        <a:t>W</a:t>
                      </a:r>
                      <a:r>
                        <a:rPr sz="1200" i="0" b="0">
                          <a:solidFill>
                            <a:srgbClr val="212529"/>
                          </a:solidFill>
                          <a:latin typeface="Cambria Math"/>
                        </a:rPr>
                        <a:t> = 10</a:t>
                      </a:r>
                    </a:p>
                  </a:txBody>
                  <a:tcPr anchor="ctr">
                    <a:solidFill>
                      <a:srgbClr val="F5F7FA"/>
                    </a:solidFill>
                  </a:tcPr>
                </a:tc>
              </a:tr>
              <a:tr h="558800">
                <a:tc>
                  <a:txBody>
                    <a:bodyPr/>
                    <a:lstStyle/>
                    <a:p>
                      <a:pPr algn="ctr"/>
                      <a:r>
                        <a:rPr sz="1200" i="0" b="1">
                          <a:solidFill>
                            <a:srgbClr val="212529"/>
                          </a:solidFill>
                          <a:latin typeface="Calibri"/>
                        </a:rPr>
                        <a:t>ΔSOH</a:t>
                      </a:r>
                    </a:p>
                  </a:txBody>
                  <a:tcPr anchor="ctr">
                    <a:solidFill>
                      <a:srgbClr val="FFFFFF"/>
                    </a:solidFill>
                  </a:tcPr>
                </a:tc>
                <a:tc>
                  <a:txBody>
                    <a:bodyPr/>
                    <a:lstStyle/>
                    <a:p>
                      <a:pPr algn="l"/>
                      <a:r>
                        <a:rPr sz="1150" i="0" b="1">
                          <a:solidFill>
                            <a:srgbClr val="212529"/>
                          </a:solidFill>
                          <a:latin typeface="Calibri"/>
                        </a:rPr>
                        <a:t>Capacity Fade Rate</a:t>
                      </a:r>
                    </a:p>
                  </a:txBody>
                  <a:tcPr anchor="ctr">
                    <a:solidFill>
                      <a:srgbClr val="FFFFFF"/>
                    </a:solidFill>
                  </a:tcPr>
                </a:tc>
                <a:tc>
                  <a:txBody>
                    <a:bodyPr/>
                    <a:lstStyle/>
                    <a:p>
                      <a:pPr algn="l"/>
                      <a:r>
                        <a:rPr sz="1100" i="0" b="0">
                          <a:solidFill>
                            <a:srgbClr val="212529"/>
                          </a:solidFill>
                          <a:latin typeface="Calibri"/>
                        </a:rPr>
                        <a:t>Normalized rate of capacity loss over lookback window; measures local degradation velocity (ΔSOH).</a:t>
                      </a:r>
                    </a:p>
                  </a:txBody>
                  <a:tcPr anchor="ctr">
                    <a:solidFill>
                      <a:srgbClr val="FFFFFF"/>
                    </a:solidFill>
                  </a:tcPr>
                </a:tc>
                <a:tc>
                  <a:txBody>
                    <a:bodyPr/>
                    <a:lstStyle/>
                    <a:p>
                      <a:pPr algn="l"/>
                      <a:r>
                        <a:rPr sz="1150" i="0" b="0">
                          <a:solidFill>
                            <a:srgbClr val="212529"/>
                          </a:solidFill>
                          <a:latin typeface="Cambria Math"/>
                        </a:rPr>
                        <a:t>[ </a:t>
                      </a:r>
                      <a:r>
                        <a:rPr sz="1150" i="1" b="1">
                          <a:solidFill>
                            <a:srgbClr val="212529"/>
                          </a:solidFill>
                          <a:latin typeface="Cambria Math"/>
                        </a:rPr>
                        <a:t>Q</a:t>
                      </a:r>
                      <a:r>
                        <a:rPr sz="950" i="0" b="0" baseline="-25000">
                          <a:solidFill>
                            <a:srgbClr val="212529"/>
                          </a:solidFill>
                          <a:latin typeface="Calibri"/>
                        </a:rPr>
                        <a:t>dis</a:t>
                      </a:r>
                      <a:r>
                        <a:rPr sz="1150" i="0" b="0">
                          <a:solidFill>
                            <a:srgbClr val="212529"/>
                          </a:solidFill>
                          <a:latin typeface="Cambria Math"/>
                        </a:rPr>
                        <a:t>(</a:t>
                      </a:r>
                      <a:r>
                        <a:rPr sz="1150" i="1" b="1">
                          <a:solidFill>
                            <a:srgbClr val="212529"/>
                          </a:solidFill>
                          <a:latin typeface="Cambria Math"/>
                        </a:rPr>
                        <a:t>k</a:t>
                      </a:r>
                      <a:r>
                        <a:rPr sz="1150" i="0" b="0">
                          <a:solidFill>
                            <a:srgbClr val="212529"/>
                          </a:solidFill>
                          <a:latin typeface="Cambria Math"/>
                        </a:rPr>
                        <a:t> - 10) - </a:t>
                      </a:r>
                      <a:r>
                        <a:rPr sz="1150" i="1" b="1">
                          <a:solidFill>
                            <a:srgbClr val="212529"/>
                          </a:solidFill>
                          <a:latin typeface="Cambria Math"/>
                        </a:rPr>
                        <a:t>Q</a:t>
                      </a:r>
                      <a:r>
                        <a:rPr sz="950" i="0" b="0" baseline="-25000">
                          <a:solidFill>
                            <a:srgbClr val="212529"/>
                          </a:solidFill>
                          <a:latin typeface="Calibri"/>
                        </a:rPr>
                        <a:t>dis</a:t>
                      </a:r>
                      <a:r>
                        <a:rPr sz="1150" i="0" b="0">
                          <a:solidFill>
                            <a:srgbClr val="212529"/>
                          </a:solidFill>
                          <a:latin typeface="Cambria Math"/>
                        </a:rPr>
                        <a:t>(</a:t>
                      </a:r>
                      <a:r>
                        <a:rPr sz="1150" i="1" b="1">
                          <a:solidFill>
                            <a:srgbClr val="212529"/>
                          </a:solidFill>
                          <a:latin typeface="Cambria Math"/>
                        </a:rPr>
                        <a:t>k</a:t>
                      </a:r>
                      <a:r>
                        <a:rPr sz="1150" i="0" b="0">
                          <a:solidFill>
                            <a:srgbClr val="212529"/>
                          </a:solidFill>
                          <a:latin typeface="Cambria Math"/>
                        </a:rPr>
                        <a:t>) ] / </a:t>
                      </a:r>
                      <a:r>
                        <a:rPr sz="1150" i="1" b="1">
                          <a:solidFill>
                            <a:srgbClr val="212529"/>
                          </a:solidFill>
                          <a:latin typeface="Cambria Math"/>
                        </a:rPr>
                        <a:t>Q</a:t>
                      </a:r>
                      <a:r>
                        <a:rPr sz="950" i="0" b="0" baseline="-25000">
                          <a:solidFill>
                            <a:srgbClr val="212529"/>
                          </a:solidFill>
                          <a:latin typeface="Calibri"/>
                        </a:rPr>
                        <a:t>nominal</a:t>
                      </a:r>
                    </a:p>
                  </a:txBody>
                  <a:tcPr anchor="ctr">
                    <a:solidFill>
                      <a:srgbClr val="FFFFFF"/>
                    </a:solidFill>
                  </a:tcPr>
                </a:tc>
              </a:tr>
              <a:tr h="558800">
                <a:tc>
                  <a:txBody>
                    <a:bodyPr/>
                    <a:lstStyle/>
                    <a:p>
                      <a:pPr algn="ctr"/>
                      <a:r>
                        <a:rPr sz="1200" i="1" b="1">
                          <a:solidFill>
                            <a:srgbClr val="212529"/>
                          </a:solidFill>
                          <a:latin typeface="Cambria Math"/>
                        </a:rPr>
                        <a:t>ΔQ</a:t>
                      </a:r>
                      <a:r>
                        <a:rPr sz="950" i="0" b="0" baseline="-25000">
                          <a:solidFill>
                            <a:srgbClr val="212529"/>
                          </a:solidFill>
                          <a:latin typeface="Calibri"/>
                        </a:rPr>
                        <a:t>log var</a:t>
                      </a:r>
                    </a:p>
                  </a:txBody>
                  <a:tcPr anchor="ctr">
                    <a:solidFill>
                      <a:srgbClr val="F5F7FA"/>
                    </a:solidFill>
                  </a:tcPr>
                </a:tc>
                <a:tc>
                  <a:txBody>
                    <a:bodyPr/>
                    <a:lstStyle/>
                    <a:p>
                      <a:pPr algn="l"/>
                      <a:r>
                        <a:rPr sz="1150" i="0" b="1">
                          <a:solidFill>
                            <a:srgbClr val="212529"/>
                          </a:solidFill>
                          <a:latin typeface="Calibri"/>
                        </a:rPr>
                        <a:t>IC Curve Log-Variance</a:t>
                      </a:r>
                    </a:p>
                  </a:txBody>
                  <a:tcPr anchor="ctr">
                    <a:solidFill>
                      <a:srgbClr val="F5F7FA"/>
                    </a:solidFill>
                  </a:tcPr>
                </a:tc>
                <a:tc>
                  <a:txBody>
                    <a:bodyPr/>
                    <a:lstStyle/>
                    <a:p>
                      <a:pPr algn="l"/>
                      <a:r>
                        <a:rPr sz="1100" i="0" b="0">
                          <a:solidFill>
                            <a:srgbClr val="212529"/>
                          </a:solidFill>
                          <a:latin typeface="Calibri"/>
                        </a:rPr>
                        <a:t>Captures thermodynamic peak broadening in incremental capacity curve; acts as an early warning sentinel.</a:t>
                      </a:r>
                    </a:p>
                  </a:txBody>
                  <a:tcPr anchor="ctr">
                    <a:solidFill>
                      <a:srgbClr val="F5F7FA"/>
                    </a:solidFill>
                  </a:tcPr>
                </a:tc>
                <a:tc>
                  <a:txBody>
                    <a:bodyPr/>
                    <a:lstStyle/>
                    <a:p>
                      <a:pPr algn="l"/>
                      <a:r>
                        <a:rPr sz="1150" i="0" b="0">
                          <a:solidFill>
                            <a:srgbClr val="212529"/>
                          </a:solidFill>
                          <a:latin typeface="Cambria Math"/>
                        </a:rPr>
                        <a:t>log[ Var( </a:t>
                      </a:r>
                      <a:r>
                        <a:rPr sz="1150" i="1" b="1">
                          <a:solidFill>
                            <a:srgbClr val="212529"/>
                          </a:solidFill>
                          <a:latin typeface="Cambria Math"/>
                        </a:rPr>
                        <a:t>dQ</a:t>
                      </a:r>
                      <a:r>
                        <a:rPr sz="1150" i="0" b="0">
                          <a:solidFill>
                            <a:srgbClr val="212529"/>
                          </a:solidFill>
                          <a:latin typeface="Cambria Math"/>
                        </a:rPr>
                        <a:t> / </a:t>
                      </a:r>
                      <a:r>
                        <a:rPr sz="1150" i="1" b="1">
                          <a:solidFill>
                            <a:srgbClr val="212529"/>
                          </a:solidFill>
                          <a:latin typeface="Cambria Math"/>
                        </a:rPr>
                        <a:t>dV</a:t>
                      </a:r>
                      <a:r>
                        <a:rPr sz="1150" i="0" b="0">
                          <a:solidFill>
                            <a:srgbClr val="212529"/>
                          </a:solidFill>
                          <a:latin typeface="Cambria Math"/>
                        </a:rPr>
                        <a:t> ) ]</a:t>
                      </a:r>
                      <a:r>
                        <a:rPr sz="950" i="0" b="0" baseline="-25000">
                          <a:solidFill>
                            <a:srgbClr val="212529"/>
                          </a:solidFill>
                          <a:latin typeface="Calibri"/>
                        </a:rPr>
                        <a:t>W=10</a:t>
                      </a:r>
                    </a:p>
                  </a:txBody>
                  <a:tcPr anchor="ctr">
                    <a:solidFill>
                      <a:srgbClr val="F5F7FA"/>
                    </a:solidFill>
                  </a:tcPr>
                </a:tc>
              </a:tr>
              <a:tr h="558800">
                <a:tc>
                  <a:txBody>
                    <a:bodyPr/>
                    <a:lstStyle/>
                    <a:p>
                      <a:pPr algn="ctr"/>
                      <a:r>
                        <a:rPr sz="1200" i="1" b="1">
                          <a:solidFill>
                            <a:srgbClr val="212529"/>
                          </a:solidFill>
                          <a:latin typeface="Cambria Math"/>
                        </a:rPr>
                        <a:t>ΔQ</a:t>
                      </a:r>
                      <a:r>
                        <a:rPr sz="950" i="0" b="0" baseline="-25000">
                          <a:solidFill>
                            <a:srgbClr val="212529"/>
                          </a:solidFill>
                          <a:latin typeface="Calibri"/>
                        </a:rPr>
                        <a:t>min</a:t>
                      </a:r>
                    </a:p>
                  </a:txBody>
                  <a:tcPr anchor="ctr">
                    <a:solidFill>
                      <a:srgbClr val="FFFFFF"/>
                    </a:solidFill>
                  </a:tcPr>
                </a:tc>
                <a:tc>
                  <a:txBody>
                    <a:bodyPr/>
                    <a:lstStyle/>
                    <a:p>
                      <a:pPr algn="l"/>
                      <a:r>
                        <a:rPr sz="1150" i="0" b="1">
                          <a:solidFill>
                            <a:srgbClr val="212529"/>
                          </a:solidFill>
                          <a:latin typeface="Calibri"/>
                        </a:rPr>
                        <a:t>IC Curve Min Shift</a:t>
                      </a:r>
                    </a:p>
                  </a:txBody>
                  <a:tcPr anchor="ctr">
                    <a:solidFill>
                      <a:srgbClr val="FFFFFF"/>
                    </a:solidFill>
                  </a:tcPr>
                </a:tc>
                <a:tc>
                  <a:txBody>
                    <a:bodyPr/>
                    <a:lstStyle/>
                    <a:p>
                      <a:pPr algn="l"/>
                      <a:r>
                        <a:rPr sz="1100" i="0" b="0">
                          <a:solidFill>
                            <a:srgbClr val="212529"/>
                          </a:solidFill>
                          <a:latin typeface="Calibri"/>
                        </a:rPr>
                        <a:t>Maximum localized downward shift (valley) in the differential capacity profile over the rolling lookback window.</a:t>
                      </a:r>
                    </a:p>
                  </a:txBody>
                  <a:tcPr anchor="ctr">
                    <a:solidFill>
                      <a:srgbClr val="FFFFFF"/>
                    </a:solidFill>
                  </a:tcPr>
                </a:tc>
                <a:tc>
                  <a:txBody>
                    <a:bodyPr/>
                    <a:lstStyle/>
                    <a:p>
                      <a:pPr algn="l"/>
                      <a:r>
                        <a:rPr sz="1150" i="0" b="0">
                          <a:solidFill>
                            <a:srgbClr val="212529"/>
                          </a:solidFill>
                          <a:latin typeface="Cambria Math"/>
                        </a:rPr>
                        <a:t>min[ Δ( </a:t>
                      </a:r>
                      <a:r>
                        <a:rPr sz="1150" i="1" b="1">
                          <a:solidFill>
                            <a:srgbClr val="212529"/>
                          </a:solidFill>
                          <a:latin typeface="Cambria Math"/>
                        </a:rPr>
                        <a:t>dQ</a:t>
                      </a:r>
                      <a:r>
                        <a:rPr sz="1150" i="0" b="0">
                          <a:solidFill>
                            <a:srgbClr val="212529"/>
                          </a:solidFill>
                          <a:latin typeface="Cambria Math"/>
                        </a:rPr>
                        <a:t> / </a:t>
                      </a:r>
                      <a:r>
                        <a:rPr sz="1150" i="1" b="1">
                          <a:solidFill>
                            <a:srgbClr val="212529"/>
                          </a:solidFill>
                          <a:latin typeface="Cambria Math"/>
                        </a:rPr>
                        <a:t>dV</a:t>
                      </a:r>
                      <a:r>
                        <a:rPr sz="1150" i="0" b="0">
                          <a:solidFill>
                            <a:srgbClr val="212529"/>
                          </a:solidFill>
                          <a:latin typeface="Cambria Math"/>
                        </a:rPr>
                        <a:t> ) ]</a:t>
                      </a:r>
                      <a:r>
                        <a:rPr sz="950" i="0" b="0" baseline="-25000">
                          <a:solidFill>
                            <a:srgbClr val="212529"/>
                          </a:solidFill>
                          <a:latin typeface="Calibri"/>
                        </a:rPr>
                        <a:t>W=10</a:t>
                      </a:r>
                    </a:p>
                  </a:txBody>
                  <a:tcPr anchor="ctr">
                    <a:solidFill>
                      <a:srgbClr val="FFFFFF"/>
                    </a:solidFill>
                  </a:tcPr>
                </a:tc>
              </a:tr>
              <a:tr h="558800">
                <a:tc>
                  <a:txBody>
                    <a:bodyPr/>
                    <a:lstStyle/>
                    <a:p>
                      <a:pPr algn="ctr"/>
                      <a:r>
                        <a:rPr sz="1200" i="1" b="1">
                          <a:solidFill>
                            <a:srgbClr val="212529"/>
                          </a:solidFill>
                          <a:latin typeface="Cambria Math"/>
                        </a:rPr>
                        <a:t>ΔQ</a:t>
                      </a:r>
                      <a:r>
                        <a:rPr sz="950" i="0" b="0" baseline="-25000">
                          <a:solidFill>
                            <a:srgbClr val="212529"/>
                          </a:solidFill>
                          <a:latin typeface="Calibri"/>
                        </a:rPr>
                        <a:t>mean</a:t>
                      </a:r>
                    </a:p>
                  </a:txBody>
                  <a:tcPr anchor="ctr">
                    <a:solidFill>
                      <a:srgbClr val="F5F7FA"/>
                    </a:solidFill>
                  </a:tcPr>
                </a:tc>
                <a:tc>
                  <a:txBody>
                    <a:bodyPr/>
                    <a:lstStyle/>
                    <a:p>
                      <a:pPr algn="l"/>
                      <a:r>
                        <a:rPr sz="1150" i="0" b="1">
                          <a:solidFill>
                            <a:srgbClr val="212529"/>
                          </a:solidFill>
                          <a:latin typeface="Calibri"/>
                        </a:rPr>
                        <a:t>IC Curve Mean Shift</a:t>
                      </a:r>
                    </a:p>
                  </a:txBody>
                  <a:tcPr anchor="ctr">
                    <a:solidFill>
                      <a:srgbClr val="F5F7FA"/>
                    </a:solidFill>
                  </a:tcPr>
                </a:tc>
                <a:tc>
                  <a:txBody>
                    <a:bodyPr/>
                    <a:lstStyle/>
                    <a:p>
                      <a:pPr algn="l"/>
                      <a:r>
                        <a:rPr sz="1100" i="0" b="0">
                          <a:solidFill>
                            <a:srgbClr val="212529"/>
                          </a:solidFill>
                          <a:latin typeface="Calibri"/>
                        </a:rPr>
                        <a:t>Average baseline shift of incremental capacity curve; tracks global thermodynamic drift and stoichiometric imbalance.</a:t>
                      </a:r>
                    </a:p>
                  </a:txBody>
                  <a:tcPr anchor="ctr">
                    <a:solidFill>
                      <a:srgbClr val="F5F7FA"/>
                    </a:solidFill>
                  </a:tcPr>
                </a:tc>
                <a:tc>
                  <a:txBody>
                    <a:bodyPr/>
                    <a:lstStyle/>
                    <a:p>
                      <a:pPr algn="l"/>
                      <a:r>
                        <a:rPr sz="1150" i="0" b="0">
                          <a:solidFill>
                            <a:srgbClr val="212529"/>
                          </a:solidFill>
                          <a:latin typeface="Cambria Math"/>
                        </a:rPr>
                        <a:t>mean[ Δ( </a:t>
                      </a:r>
                      <a:r>
                        <a:rPr sz="1150" i="1" b="1">
                          <a:solidFill>
                            <a:srgbClr val="212529"/>
                          </a:solidFill>
                          <a:latin typeface="Cambria Math"/>
                        </a:rPr>
                        <a:t>dQ</a:t>
                      </a:r>
                      <a:r>
                        <a:rPr sz="1150" i="0" b="0">
                          <a:solidFill>
                            <a:srgbClr val="212529"/>
                          </a:solidFill>
                          <a:latin typeface="Cambria Math"/>
                        </a:rPr>
                        <a:t> / </a:t>
                      </a:r>
                      <a:r>
                        <a:rPr sz="1150" i="1" b="1">
                          <a:solidFill>
                            <a:srgbClr val="212529"/>
                          </a:solidFill>
                          <a:latin typeface="Cambria Math"/>
                        </a:rPr>
                        <a:t>dV</a:t>
                      </a:r>
                      <a:r>
                        <a:rPr sz="1150" i="0" b="0">
                          <a:solidFill>
                            <a:srgbClr val="212529"/>
                          </a:solidFill>
                          <a:latin typeface="Cambria Math"/>
                        </a:rPr>
                        <a:t> ) ]</a:t>
                      </a:r>
                      <a:r>
                        <a:rPr sz="950" i="0" b="0" baseline="-25000">
                          <a:solidFill>
                            <a:srgbClr val="212529"/>
                          </a:solidFill>
                          <a:latin typeface="Calibri"/>
                        </a:rPr>
                        <a:t>W=10</a:t>
                      </a:r>
                    </a:p>
                  </a:txBody>
                  <a:tcPr anchor="ctr">
                    <a:solidFill>
                      <a:srgbClr val="F5F7FA"/>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LightGBM — Light Gradient Boosting Machine</a:t>
            </a:r>
          </a:p>
          <a:p>
            <a:pPr>
              <a:defRPr sz="1600">
                <a:solidFill>
                  <a:srgbClr val="0284C7"/>
                </a:solidFill>
                <a:latin typeface="Calibri"/>
              </a:defRPr>
            </a:pPr>
            <a:r>
              <a:t>Sequential error correction optimized specifically for tabular sensor data</a:t>
            </a:r>
          </a:p>
        </p:txBody>
      </p:sp>
      <p:sp>
        <p:nvSpPr>
          <p:cNvPr id="3" name="Rounded Rectangle 2"/>
          <p:cNvSpPr/>
          <p:nvPr/>
        </p:nvSpPr>
        <p:spPr>
          <a:xfrm>
            <a:off x="5943600" y="1645920"/>
            <a:ext cx="1188720" cy="9144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0" y="1737360"/>
            <a:ext cx="1188720" cy="731520"/>
          </a:xfrm>
          <a:prstGeom prst="rect">
            <a:avLst/>
          </a:prstGeom>
          <a:noFill/>
        </p:spPr>
        <p:txBody>
          <a:bodyPr wrap="square">
            <a:spAutoFit/>
          </a:bodyPr>
          <a:lstStyle/>
          <a:p>
            <a:pPr algn="ctr">
              <a:defRPr sz="1600" b="1">
                <a:solidFill>
                  <a:srgbClr val="FFFFFF"/>
                </a:solidFill>
              </a:defRPr>
            </a:pPr>
            <a:r>
              <a:t>Tree 1</a:t>
            </a:r>
          </a:p>
        </p:txBody>
      </p:sp>
      <p:sp>
        <p:nvSpPr>
          <p:cNvPr id="5" name="Rounded Rectangle 4"/>
          <p:cNvSpPr/>
          <p:nvPr/>
        </p:nvSpPr>
        <p:spPr>
          <a:xfrm>
            <a:off x="7498079" y="1645920"/>
            <a:ext cx="1188720" cy="9144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98079" y="1737360"/>
            <a:ext cx="1188720" cy="731520"/>
          </a:xfrm>
          <a:prstGeom prst="rect">
            <a:avLst/>
          </a:prstGeom>
          <a:noFill/>
        </p:spPr>
        <p:txBody>
          <a:bodyPr wrap="square">
            <a:spAutoFit/>
          </a:bodyPr>
          <a:lstStyle/>
          <a:p>
            <a:pPr algn="ctr">
              <a:defRPr sz="1600" b="1">
                <a:solidFill>
                  <a:srgbClr val="FFFFFF"/>
                </a:solidFill>
              </a:defRPr>
            </a:pPr>
            <a:r>
              <a:t>Tree 2</a:t>
            </a:r>
          </a:p>
        </p:txBody>
      </p:sp>
      <p:sp>
        <p:nvSpPr>
          <p:cNvPr id="7" name="Rounded Rectangle 6"/>
          <p:cNvSpPr/>
          <p:nvPr/>
        </p:nvSpPr>
        <p:spPr>
          <a:xfrm>
            <a:off x="9052560" y="1645920"/>
            <a:ext cx="1188720" cy="9144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052560" y="1737360"/>
            <a:ext cx="1188720" cy="731520"/>
          </a:xfrm>
          <a:prstGeom prst="rect">
            <a:avLst/>
          </a:prstGeom>
          <a:noFill/>
        </p:spPr>
        <p:txBody>
          <a:bodyPr wrap="square">
            <a:spAutoFit/>
          </a:bodyPr>
          <a:lstStyle/>
          <a:p>
            <a:pPr algn="ctr">
              <a:defRPr sz="1600" b="1">
                <a:solidFill>
                  <a:srgbClr val="FFFFFF"/>
                </a:solidFill>
              </a:defRPr>
            </a:pPr>
            <a:r>
              <a:t>Tree 3</a:t>
            </a:r>
          </a:p>
        </p:txBody>
      </p:sp>
      <p:sp>
        <p:nvSpPr>
          <p:cNvPr id="9" name="Rounded Rectangle 8"/>
          <p:cNvSpPr/>
          <p:nvPr/>
        </p:nvSpPr>
        <p:spPr>
          <a:xfrm>
            <a:off x="10607040" y="1645920"/>
            <a:ext cx="1188720" cy="91440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07040" y="1737360"/>
            <a:ext cx="1188720" cy="731520"/>
          </a:xfrm>
          <a:prstGeom prst="rect">
            <a:avLst/>
          </a:prstGeom>
          <a:noFill/>
        </p:spPr>
        <p:txBody>
          <a:bodyPr wrap="square">
            <a:spAutoFit/>
          </a:bodyPr>
          <a:lstStyle/>
          <a:p>
            <a:pPr algn="ctr">
              <a:defRPr sz="1600" b="1">
                <a:solidFill>
                  <a:srgbClr val="FFFFFF"/>
                </a:solidFill>
              </a:defRPr>
            </a:pPr>
            <a:r>
              <a:t>Tree N</a:t>
            </a:r>
          </a:p>
        </p:txBody>
      </p:sp>
      <p:sp>
        <p:nvSpPr>
          <p:cNvPr id="11" name="TextBox 10"/>
          <p:cNvSpPr txBox="1"/>
          <p:nvPr/>
        </p:nvSpPr>
        <p:spPr>
          <a:xfrm>
            <a:off x="7178040" y="1828800"/>
            <a:ext cx="365760" cy="548640"/>
          </a:xfrm>
          <a:prstGeom prst="rect">
            <a:avLst/>
          </a:prstGeom>
          <a:noFill/>
        </p:spPr>
        <p:txBody>
          <a:bodyPr wrap="none">
            <a:spAutoFit/>
          </a:bodyPr>
          <a:lstStyle/>
          <a:p>
            <a:pPr>
              <a:defRPr sz="2400" b="1">
                <a:solidFill>
                  <a:srgbClr val="0D9488"/>
                </a:solidFill>
              </a:defRPr>
            </a:pPr>
            <a:r>
              <a:t>→</a:t>
            </a:r>
          </a:p>
        </p:txBody>
      </p:sp>
      <p:sp>
        <p:nvSpPr>
          <p:cNvPr id="12" name="TextBox 11"/>
          <p:cNvSpPr txBox="1"/>
          <p:nvPr/>
        </p:nvSpPr>
        <p:spPr>
          <a:xfrm>
            <a:off x="8732520" y="1828800"/>
            <a:ext cx="365760" cy="548640"/>
          </a:xfrm>
          <a:prstGeom prst="rect">
            <a:avLst/>
          </a:prstGeom>
          <a:noFill/>
        </p:spPr>
        <p:txBody>
          <a:bodyPr wrap="none">
            <a:spAutoFit/>
          </a:bodyPr>
          <a:lstStyle/>
          <a:p>
            <a:pPr>
              <a:defRPr sz="2400" b="1">
                <a:solidFill>
                  <a:srgbClr val="0D9488"/>
                </a:solidFill>
              </a:defRPr>
            </a:pPr>
            <a:r>
              <a:t>→</a:t>
            </a:r>
          </a:p>
        </p:txBody>
      </p:sp>
      <p:sp>
        <p:nvSpPr>
          <p:cNvPr id="13" name="TextBox 12"/>
          <p:cNvSpPr txBox="1"/>
          <p:nvPr/>
        </p:nvSpPr>
        <p:spPr>
          <a:xfrm>
            <a:off x="10287000" y="1828800"/>
            <a:ext cx="365760" cy="548640"/>
          </a:xfrm>
          <a:prstGeom prst="rect">
            <a:avLst/>
          </a:prstGeom>
          <a:noFill/>
        </p:spPr>
        <p:txBody>
          <a:bodyPr wrap="none">
            <a:spAutoFit/>
          </a:bodyPr>
          <a:lstStyle/>
          <a:p>
            <a:pPr>
              <a:defRPr sz="2400" b="1">
                <a:solidFill>
                  <a:srgbClr val="0D9488"/>
                </a:solidFill>
              </a:defRPr>
            </a:pPr>
            <a:r>
              <a:t>→</a:t>
            </a:r>
          </a:p>
        </p:txBody>
      </p:sp>
      <p:sp>
        <p:nvSpPr>
          <p:cNvPr id="14" name="TextBox 13"/>
          <p:cNvSpPr txBox="1"/>
          <p:nvPr/>
        </p:nvSpPr>
        <p:spPr>
          <a:xfrm>
            <a:off x="5943600" y="2651760"/>
            <a:ext cx="5852160" cy="457200"/>
          </a:xfrm>
          <a:prstGeom prst="rect">
            <a:avLst/>
          </a:prstGeom>
          <a:noFill/>
        </p:spPr>
        <p:txBody>
          <a:bodyPr wrap="none">
            <a:spAutoFit/>
          </a:bodyPr>
          <a:lstStyle/>
          <a:p>
            <a:pPr>
              <a:defRPr sz="1300" i="1">
                <a:solidFill>
                  <a:srgbClr val="475569"/>
                </a:solidFill>
              </a:defRPr>
            </a:pPr>
            <a:r>
              <a:t>Each tree learns from the residual error of the trees before it.</a:t>
            </a:r>
          </a:p>
        </p:txBody>
      </p:sp>
      <p:sp>
        <p:nvSpPr>
          <p:cNvPr id="15" name="TextBox 14"/>
          <p:cNvSpPr txBox="1"/>
          <p:nvPr/>
        </p:nvSpPr>
        <p:spPr>
          <a:xfrm>
            <a:off x="548640" y="1645920"/>
            <a:ext cx="5120640" cy="2286000"/>
          </a:xfrm>
          <a:prstGeom prst="rect">
            <a:avLst/>
          </a:prstGeom>
          <a:noFill/>
        </p:spPr>
        <p:txBody>
          <a:bodyPr wrap="square" tIns="91440" bIns="91440">
            <a:spAutoFit/>
          </a:bodyPr>
          <a:lstStyle/>
          <a:p>
            <a:pPr>
              <a:spcAft>
                <a:spcPts val="1200"/>
              </a:spcAft>
            </a:pPr>
            <a:r>
              <a:rPr sz="1500" b="1">
                <a:solidFill>
                  <a:srgbClr val="0F172A"/>
                </a:solidFill>
              </a:rPr>
              <a:t>How it learns: </a:t>
            </a:r>
            <a:r>
              <a:rPr sz="1500" b="0">
                <a:solidFill>
                  <a:srgbClr val="1E293B"/>
                </a:solidFill>
              </a:rPr>
              <a:t>Builds hundreds of sequential Decision Trees.</a:t>
            </a:r>
          </a:p>
          <a:p>
            <a:pPr>
              <a:spcAft>
                <a:spcPts val="1200"/>
              </a:spcAft>
            </a:pPr>
            <a:r>
              <a:rPr sz="1500" b="1">
                <a:solidFill>
                  <a:srgbClr val="0F172A"/>
                </a:solidFill>
              </a:rPr>
              <a:t>Gradient Boosting: </a:t>
            </a:r>
            <a:r>
              <a:rPr sz="1500" b="0">
                <a:solidFill>
                  <a:srgbClr val="1E293B"/>
                </a:solidFill>
              </a:rPr>
              <a:t>Each new tree is mathematically designed to correct the residual errors made by the previous tree.</a:t>
            </a:r>
          </a:p>
          <a:p>
            <a:pPr>
              <a:spcAft>
                <a:spcPts val="1200"/>
              </a:spcAft>
            </a:pPr>
            <a:r>
              <a:rPr sz="1500" b="1">
                <a:solidFill>
                  <a:srgbClr val="0F172A"/>
                </a:solidFill>
              </a:rPr>
              <a:t>High Efficiency: </a:t>
            </a:r>
            <a:r>
              <a:rPr sz="1500" b="0">
                <a:solidFill>
                  <a:srgbClr val="1E293B"/>
                </a:solidFill>
              </a:rPr>
              <a:t>Neural networks are computationally heavy. LightGBM runs in under 1 millisecond on car microcontrollers.</a:t>
            </a:r>
          </a:p>
        </p:txBody>
      </p:sp>
      <p:sp>
        <p:nvSpPr>
          <p:cNvPr id="16" name="Rounded Rectangle 15"/>
          <p:cNvSpPr/>
          <p:nvPr/>
        </p:nvSpPr>
        <p:spPr>
          <a:xfrm>
            <a:off x="548640" y="3931920"/>
            <a:ext cx="5120640" cy="2560320"/>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4206240"/>
            <a:ext cx="4754880" cy="2194560"/>
          </a:xfrm>
          <a:prstGeom prst="rect">
            <a:avLst/>
          </a:prstGeom>
          <a:noFill/>
        </p:spPr>
        <p:txBody>
          <a:bodyPr wrap="square">
            <a:spAutoFit/>
          </a:bodyPr>
          <a:lstStyle/>
          <a:p>
            <a:pPr>
              <a:spcAft>
                <a:spcPts val="1400"/>
              </a:spcAft>
              <a:defRPr sz="2000" b="1">
                <a:solidFill>
                  <a:srgbClr val="0F172A"/>
                </a:solidFill>
                <a:latin typeface="Calibri"/>
              </a:defRPr>
            </a:pPr>
            <a:r>
              <a:t>Validation Plan</a:t>
            </a:r>
          </a:p>
          <a:p>
            <a:pPr>
              <a:defRPr sz="1500">
                <a:solidFill>
                  <a:srgbClr val="1E293B"/>
                </a:solidFill>
                <a:latin typeface="Calibri"/>
              </a:defRPr>
            </a:pPr>
            <a:r>
              <a:t>Validated using Grouped Leave-Cells-Out Validation (GroupShuffleSplit). Of 124 batteries, 100 complete cell lifespans trained the model, while 24 randomly sampled physical batteries were locked away as strictly unseen test cases to prevent data leakage.</a:t>
            </a:r>
          </a:p>
        </p:txBody>
      </p:sp>
      <p:sp>
        <p:nvSpPr>
          <p:cNvPr id="18" name="Rounded Rectangle 17"/>
          <p:cNvSpPr/>
          <p:nvPr/>
        </p:nvSpPr>
        <p:spPr>
          <a:xfrm>
            <a:off x="5943600" y="3291840"/>
            <a:ext cx="5852160" cy="3200400"/>
          </a:xfrm>
          <a:prstGeom prst="roundRect">
            <a:avLst/>
          </a:prstGeom>
          <a:solidFill>
            <a:srgbClr val="FFFFFF"/>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26480" y="3657600"/>
            <a:ext cx="2560320" cy="2286000"/>
          </a:xfrm>
          <a:prstGeom prst="rect">
            <a:avLst/>
          </a:prstGeom>
          <a:noFill/>
        </p:spPr>
        <p:txBody>
          <a:bodyPr wrap="none">
            <a:spAutoFit/>
          </a:bodyPr>
          <a:lstStyle/>
          <a:p>
            <a:pPr algn="ctr">
              <a:defRPr sz="6400" b="1">
                <a:solidFill>
                  <a:srgbClr val="0D9488"/>
                </a:solidFill>
              </a:defRPr>
            </a:pPr>
            <a:r>
              <a:t>8</a:t>
            </a:r>
          </a:p>
          <a:p>
            <a:pPr algn="ctr">
              <a:defRPr sz="1400">
                <a:solidFill>
                  <a:srgbClr val="475569"/>
                </a:solidFill>
              </a:defRPr>
            </a:pPr>
            <a:r>
              <a:t>physics features per prediction window</a:t>
            </a:r>
          </a:p>
        </p:txBody>
      </p:sp>
      <p:sp>
        <p:nvSpPr>
          <p:cNvPr id="20" name="TextBox 19"/>
          <p:cNvSpPr txBox="1"/>
          <p:nvPr/>
        </p:nvSpPr>
        <p:spPr>
          <a:xfrm>
            <a:off x="8961120" y="3657600"/>
            <a:ext cx="2560320" cy="2286000"/>
          </a:xfrm>
          <a:prstGeom prst="rect">
            <a:avLst/>
          </a:prstGeom>
          <a:noFill/>
        </p:spPr>
        <p:txBody>
          <a:bodyPr wrap="none">
            <a:spAutoFit/>
          </a:bodyPr>
          <a:lstStyle/>
          <a:p>
            <a:pPr algn="ctr">
              <a:defRPr sz="6400" b="1">
                <a:solidFill>
                  <a:srgbClr val="0D9488"/>
                </a:solidFill>
              </a:defRPr>
            </a:pPr>
            <a:r>
              <a:t>124</a:t>
            </a:r>
          </a:p>
          <a:p>
            <a:pPr algn="ctr">
              <a:defRPr sz="1400">
                <a:solidFill>
                  <a:srgbClr val="475569"/>
                </a:solidFill>
              </a:defRPr>
            </a:pPr>
            <a:r>
              <a:t>physical battery cells in the dataset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677108"/>
          </a:xfrm>
          <a:prstGeom prst="rect">
            <a:avLst/>
          </a:prstGeom>
          <a:noFill/>
        </p:spPr>
        <p:txBody>
          <a:bodyPr wrap="square" lIns="0" tIns="0" rIns="0" bIns="0">
            <a:spAutoFit/>
          </a:bodyPr>
          <a:lstStyle/>
          <a:p>
            <a:pPr>
              <a:defRPr sz="2800" b="1">
                <a:solidFill>
                  <a:srgbClr val="0F172A"/>
                </a:solidFill>
                <a:latin typeface="Calibri"/>
              </a:defRPr>
            </a:pPr>
            <a:r>
              <a:rPr dirty="0"/>
              <a:t>Training &amp; Validation Flow Architecture</a:t>
            </a:r>
          </a:p>
          <a:p>
            <a:pPr>
              <a:defRPr sz="1600">
                <a:solidFill>
                  <a:srgbClr val="0284C7"/>
                </a:solidFill>
                <a:latin typeface="Calibri"/>
              </a:defRPr>
            </a:pPr>
            <a:r>
              <a:rPr lang="en-IN" dirty="0"/>
              <a:t>Shuffled </a:t>
            </a:r>
            <a:r>
              <a:rPr dirty="0"/>
              <a:t>Splitting &amp; Guaranteed Safety Brackets</a:t>
            </a:r>
          </a:p>
        </p:txBody>
      </p:sp>
      <p:sp>
        <p:nvSpPr>
          <p:cNvPr id="3" name="Rounded Rectangle 2"/>
          <p:cNvSpPr/>
          <p:nvPr/>
        </p:nvSpPr>
        <p:spPr>
          <a:xfrm>
            <a:off x="3291840" y="1463040"/>
            <a:ext cx="5577840" cy="8229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91840" y="1554480"/>
            <a:ext cx="5577840" cy="640080"/>
          </a:xfrm>
          <a:prstGeom prst="rect">
            <a:avLst/>
          </a:prstGeom>
          <a:noFill/>
        </p:spPr>
        <p:txBody>
          <a:bodyPr wrap="square">
            <a:spAutoFit/>
          </a:bodyPr>
          <a:lstStyle/>
          <a:p>
            <a:pPr algn="ctr">
              <a:defRPr sz="1600" b="1">
                <a:solidFill>
                  <a:srgbClr val="FFFFFF"/>
                </a:solidFill>
              </a:defRPr>
            </a:pPr>
            <a:r>
              <a:t>124 Total Physical Batteries</a:t>
            </a:r>
          </a:p>
        </p:txBody>
      </p:sp>
      <p:sp>
        <p:nvSpPr>
          <p:cNvPr id="5" name="Rounded Rectangle 4"/>
          <p:cNvSpPr/>
          <p:nvPr/>
        </p:nvSpPr>
        <p:spPr>
          <a:xfrm>
            <a:off x="1097280" y="2651760"/>
            <a:ext cx="4754880" cy="13716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2851354"/>
            <a:ext cx="4754880" cy="892552"/>
          </a:xfrm>
          <a:prstGeom prst="rect">
            <a:avLst/>
          </a:prstGeom>
          <a:noFill/>
        </p:spPr>
        <p:txBody>
          <a:bodyPr wrap="square">
            <a:spAutoFit/>
          </a:bodyPr>
          <a:lstStyle/>
          <a:p>
            <a:pPr algn="ctr">
              <a:defRPr sz="1600" b="1">
                <a:solidFill>
                  <a:srgbClr val="FFFFFF"/>
                </a:solidFill>
              </a:defRPr>
            </a:pPr>
            <a:r>
              <a:rPr dirty="0"/>
              <a:t>Training Vault</a:t>
            </a:r>
          </a:p>
          <a:p>
            <a:pPr algn="ctr">
              <a:defRPr sz="1200">
                <a:solidFill>
                  <a:srgbClr val="FFFFFF"/>
                </a:solidFill>
              </a:defRPr>
            </a:pPr>
            <a:endParaRPr lang="en-IN" dirty="0"/>
          </a:p>
          <a:p>
            <a:pPr algn="ctr">
              <a:defRPr sz="1200">
                <a:solidFill>
                  <a:srgbClr val="FFFFFF"/>
                </a:solidFill>
              </a:defRPr>
            </a:pPr>
            <a:r>
              <a:rPr dirty="0"/>
              <a:t>Contains ~100 Batteries</a:t>
            </a:r>
            <a:br>
              <a:rPr dirty="0"/>
            </a:br>
            <a:r>
              <a:rPr dirty="0"/>
              <a:t>Used to train the </a:t>
            </a:r>
            <a:r>
              <a:rPr dirty="0" err="1"/>
              <a:t>LightGBM</a:t>
            </a:r>
            <a:r>
              <a:rPr dirty="0"/>
              <a:t> algorithm • AI learns from its own mistakes</a:t>
            </a:r>
          </a:p>
        </p:txBody>
      </p:sp>
      <p:sp>
        <p:nvSpPr>
          <p:cNvPr id="7" name="Rounded Rectangle 6"/>
          <p:cNvSpPr/>
          <p:nvPr/>
        </p:nvSpPr>
        <p:spPr>
          <a:xfrm>
            <a:off x="6309360" y="2651760"/>
            <a:ext cx="4754880" cy="1371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09360" y="2880850"/>
            <a:ext cx="4754880" cy="892552"/>
          </a:xfrm>
          <a:prstGeom prst="rect">
            <a:avLst/>
          </a:prstGeom>
          <a:noFill/>
        </p:spPr>
        <p:txBody>
          <a:bodyPr wrap="square">
            <a:spAutoFit/>
          </a:bodyPr>
          <a:lstStyle/>
          <a:p>
            <a:pPr algn="ctr">
              <a:defRPr sz="1600" b="1">
                <a:solidFill>
                  <a:srgbClr val="FFFFFF"/>
                </a:solidFill>
              </a:defRPr>
            </a:pPr>
            <a:r>
              <a:rPr dirty="0"/>
              <a:t>Testing Vault</a:t>
            </a:r>
          </a:p>
          <a:p>
            <a:pPr algn="ctr">
              <a:defRPr sz="1200">
                <a:solidFill>
                  <a:srgbClr val="FFFFFF"/>
                </a:solidFill>
              </a:defRPr>
            </a:pPr>
            <a:endParaRPr lang="en-IN" dirty="0"/>
          </a:p>
          <a:p>
            <a:pPr algn="ctr">
              <a:defRPr sz="1200">
                <a:solidFill>
                  <a:srgbClr val="FFFFFF"/>
                </a:solidFill>
              </a:defRPr>
            </a:pPr>
            <a:r>
              <a:rPr dirty="0"/>
              <a:t>24 strictly hidden Batteries</a:t>
            </a:r>
            <a:br>
              <a:rPr dirty="0"/>
            </a:br>
            <a:r>
              <a:rPr dirty="0"/>
              <a:t>AI never sees these during training • Pure real-world evaluation</a:t>
            </a:r>
          </a:p>
        </p:txBody>
      </p:sp>
      <p:sp>
        <p:nvSpPr>
          <p:cNvPr id="13" name="Rounded Rectangle 12"/>
          <p:cNvSpPr/>
          <p:nvPr/>
        </p:nvSpPr>
        <p:spPr>
          <a:xfrm>
            <a:off x="1097280" y="5212080"/>
            <a:ext cx="9966960" cy="118872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5303520"/>
            <a:ext cx="9966960" cy="707886"/>
          </a:xfrm>
          <a:prstGeom prst="rect">
            <a:avLst/>
          </a:prstGeom>
          <a:noFill/>
        </p:spPr>
        <p:txBody>
          <a:bodyPr wrap="square">
            <a:spAutoFit/>
          </a:bodyPr>
          <a:lstStyle/>
          <a:p>
            <a:pPr algn="ctr">
              <a:defRPr sz="1600" b="1">
                <a:solidFill>
                  <a:srgbClr val="FFFFFF"/>
                </a:solidFill>
              </a:defRPr>
            </a:pPr>
            <a:r>
              <a:rPr dirty="0"/>
              <a:t>Guaranteed 90% Safety Bracket</a:t>
            </a:r>
          </a:p>
          <a:p>
            <a:pPr algn="ctr">
              <a:defRPr sz="1200">
                <a:solidFill>
                  <a:srgbClr val="FFFFFF"/>
                </a:solidFill>
              </a:defRPr>
            </a:pPr>
            <a:r>
              <a:rPr dirty="0"/>
              <a:t>Calculate</a:t>
            </a:r>
            <a:r>
              <a:rPr lang="en-IN" dirty="0"/>
              <a:t>d</a:t>
            </a:r>
            <a:r>
              <a:rPr dirty="0"/>
              <a:t> errors on unseen driving data</a:t>
            </a:r>
            <a:br>
              <a:rPr dirty="0"/>
            </a:br>
            <a:r>
              <a:rPr dirty="0"/>
              <a:t>90% of the time, real-world prediction errors are strictly within ± 122 cycles!</a:t>
            </a:r>
          </a:p>
        </p:txBody>
      </p:sp>
      <p:cxnSp>
        <p:nvCxnSpPr>
          <p:cNvPr id="16" name="Straight Arrow Connector 15">
            <a:extLst>
              <a:ext uri="{FF2B5EF4-FFF2-40B4-BE49-F238E27FC236}">
                <a16:creationId xmlns:a16="http://schemas.microsoft.com/office/drawing/2014/main" id="{A9C9DE68-B815-BEF6-4F5A-B8B181CAEE1C}"/>
              </a:ext>
            </a:extLst>
          </p:cNvPr>
          <p:cNvCxnSpPr>
            <a:stCxn id="3" idx="2"/>
            <a:endCxn id="5" idx="0"/>
          </p:cNvCxnSpPr>
          <p:nvPr/>
        </p:nvCxnSpPr>
        <p:spPr>
          <a:xfrm flipH="1">
            <a:off x="3474720" y="2286000"/>
            <a:ext cx="2606040" cy="3657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2A974A51-8E2B-6A0A-A1F3-EC60C18E1F16}"/>
              </a:ext>
            </a:extLst>
          </p:cNvPr>
          <p:cNvCxnSpPr>
            <a:stCxn id="3" idx="2"/>
            <a:endCxn id="7" idx="0"/>
          </p:cNvCxnSpPr>
          <p:nvPr/>
        </p:nvCxnSpPr>
        <p:spPr>
          <a:xfrm>
            <a:off x="6080760" y="2286000"/>
            <a:ext cx="2606040" cy="3657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677108"/>
          </a:xfrm>
          <a:prstGeom prst="rect">
            <a:avLst/>
          </a:prstGeom>
          <a:noFill/>
        </p:spPr>
        <p:txBody>
          <a:bodyPr wrap="square" lIns="0" tIns="0" rIns="0" bIns="0">
            <a:spAutoFit/>
          </a:bodyPr>
          <a:lstStyle/>
          <a:p>
            <a:pPr>
              <a:defRPr sz="2800" b="1">
                <a:solidFill>
                  <a:srgbClr val="0F172A"/>
                </a:solidFill>
                <a:latin typeface="Calibri"/>
              </a:defRPr>
            </a:pPr>
            <a:r>
              <a:rPr dirty="0"/>
              <a:t>Empirical Aging Trajectories across 24 Cells</a:t>
            </a:r>
          </a:p>
          <a:p>
            <a:pPr>
              <a:defRPr sz="1600">
                <a:solidFill>
                  <a:srgbClr val="0284C7"/>
                </a:solidFill>
                <a:latin typeface="Calibri"/>
              </a:defRPr>
            </a:pPr>
            <a:r>
              <a:rPr dirty="0"/>
              <a:t>Visualizing Non-Linear Capacity Plunge at End-of-Life</a:t>
            </a:r>
          </a:p>
        </p:txBody>
      </p:sp>
      <p:pic>
        <p:nvPicPr>
          <p:cNvPr id="3" name="Picture 2" descr="04_capacity_fade_curves.png"/>
          <p:cNvPicPr>
            <a:picLocks noChangeAspect="1"/>
          </p:cNvPicPr>
          <p:nvPr/>
        </p:nvPicPr>
        <p:blipFill>
          <a:blip r:embed="rId2"/>
          <a:stretch>
            <a:fillRect/>
          </a:stretch>
        </p:blipFill>
        <p:spPr>
          <a:xfrm>
            <a:off x="548640" y="1463040"/>
            <a:ext cx="6583680" cy="4315156"/>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sz="1600" b="1">
                <a:solidFill>
                  <a:srgbClr val="0F172A"/>
                </a:solidFill>
              </a:rPr>
              <a:t>Non-Linear Plunge: </a:t>
            </a:r>
            <a:r>
              <a:rPr sz="1600" b="0">
                <a:solidFill>
                  <a:srgbClr val="1E293B"/>
                </a:solidFill>
              </a:rPr>
              <a:t>Notice how cell trajectories stay relatively flat during mid-life before suddenly bending downward near 80% SOH.</a:t>
            </a:r>
          </a:p>
          <a:p>
            <a:pPr>
              <a:spcAft>
                <a:spcPts val="1200"/>
              </a:spcAft>
            </a:pPr>
            <a:r>
              <a:rPr sz="1600" b="1">
                <a:solidFill>
                  <a:srgbClr val="0F172A"/>
                </a:solidFill>
              </a:rPr>
              <a:t>Extreme Variance: </a:t>
            </a:r>
            <a:r>
              <a:rPr sz="1600" b="0">
                <a:solidFill>
                  <a:srgbClr val="1E293B"/>
                </a:solidFill>
              </a:rPr>
              <a:t>Fast-charging protocols cause battery failure anywhere between 500 cycles and 1,400 cycles.</a:t>
            </a:r>
          </a:p>
          <a:p>
            <a:pPr>
              <a:spcAft>
                <a:spcPts val="1200"/>
              </a:spcAft>
            </a:pPr>
            <a:r>
              <a:rPr sz="1600" b="1">
                <a:solidFill>
                  <a:srgbClr val="0F172A"/>
                </a:solidFill>
              </a:rPr>
              <a:t>Why Fixed Schedules Fail: </a:t>
            </a:r>
            <a:r>
              <a:rPr sz="1600" b="0">
                <a:solidFill>
                  <a:srgbClr val="1E293B"/>
                </a:solidFill>
              </a:rPr>
              <a:t>Replacing batteries at fixed mileage wastes healthy cells or causes unexpected road breakdowns. Dynamic tracking is mandatory.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Feature Importance Diagnostic Breakdown</a:t>
            </a:r>
          </a:p>
          <a:p>
            <a:pPr>
              <a:defRPr sz="1600">
                <a:solidFill>
                  <a:srgbClr val="0284C7"/>
                </a:solidFill>
                <a:latin typeface="Calibri"/>
              </a:defRPr>
            </a:pPr>
            <a:r>
              <a:t>Why Internal Resistance (IR) &amp; Temperature Dominate Inference</a:t>
            </a:r>
          </a:p>
        </p:txBody>
      </p:sp>
      <p:pic>
        <p:nvPicPr>
          <p:cNvPr id="3" name="Picture 2" descr="02_feature_importance.png"/>
          <p:cNvPicPr>
            <a:picLocks noChangeAspect="1"/>
          </p:cNvPicPr>
          <p:nvPr/>
        </p:nvPicPr>
        <p:blipFill>
          <a:blip r:embed="rId2"/>
          <a:stretch>
            <a:fillRect/>
          </a:stretch>
        </p:blipFill>
        <p:spPr>
          <a:xfrm>
            <a:off x="548640" y="1463040"/>
            <a:ext cx="6583680" cy="3715542"/>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sz="1500" b="1">
                <a:solidFill>
                  <a:srgbClr val="0F172A"/>
                </a:solidFill>
              </a:rPr>
              <a:t>Dominant Physics Predictor (`IR`): </a:t>
            </a:r>
            <a:r>
              <a:rPr sz="1500" b="0">
                <a:solidFill>
                  <a:srgbClr val="1E293B"/>
                </a:solidFill>
              </a:rPr>
              <a:t>Ranks #1 by a massive margin (~2,000 splits). Internal Resistance directly measures physical SEI layer thickening and loss of ionic conductivity inside the cell.</a:t>
            </a:r>
          </a:p>
          <a:p>
            <a:pPr>
              <a:spcAft>
                <a:spcPts val="1200"/>
              </a:spcAft>
            </a:pPr>
            <a:r>
              <a:rPr sz="1500" b="1">
                <a:solidFill>
                  <a:srgbClr val="0F172A"/>
                </a:solidFill>
              </a:rPr>
              <a:t>Thermal &amp; Capacity Anchors (`Tavg` &amp; `SOH`): </a:t>
            </a:r>
            <a:r>
              <a:rPr sz="1500" b="0">
                <a:solidFill>
                  <a:srgbClr val="1E293B"/>
                </a:solidFill>
              </a:rPr>
              <a:t>Rank #2 and #3. Operating temperature governs chemical aging speed, while current State of Health anchors the remaining capacity baseline.</a:t>
            </a:r>
          </a:p>
          <a:p>
            <a:pPr>
              <a:spcAft>
                <a:spcPts val="1200"/>
              </a:spcAft>
            </a:pPr>
            <a:r>
              <a:rPr sz="1500" b="1">
                <a:solidFill>
                  <a:srgbClr val="0F172A"/>
                </a:solidFill>
              </a:rPr>
              <a:t>Timeline &amp; Slope Tracking (`cycle` &amp; `capacity_fade_window`): </a:t>
            </a:r>
            <a:r>
              <a:rPr sz="1500" b="0">
                <a:solidFill>
                  <a:srgbClr val="1E293B"/>
                </a:solidFill>
              </a:rPr>
              <a:t>Track total operational mileage and immediately register the onset of the end-of-life capacity plunge.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Checkpoint Polling Interval Evaluation Table</a:t>
            </a:r>
          </a:p>
          <a:p>
            <a:pPr>
              <a:defRPr sz="1600">
                <a:solidFill>
                  <a:srgbClr val="0284C7"/>
                </a:solidFill>
                <a:latin typeface="Calibri"/>
              </a:defRPr>
            </a:pPr>
            <a:r>
              <a:t>Evaluating Vehicle Dashboard Update Frequency vs Accuracy (Full Screen Table)</a:t>
            </a:r>
          </a:p>
        </p:txBody>
      </p:sp>
      <p:graphicFrame>
        <p:nvGraphicFramePr>
          <p:cNvPr id="3" name="Table 2"/>
          <p:cNvGraphicFramePr>
            <a:graphicFrameLocks noGrp="1"/>
          </p:cNvGraphicFramePr>
          <p:nvPr>
            <p:extLst>
              <p:ext uri="{D42A27DB-BD31-4B8C-83A1-F6EECF244321}">
                <p14:modId xmlns:p14="http://schemas.microsoft.com/office/powerpoint/2010/main" val="3561680826"/>
              </p:ext>
            </p:extLst>
          </p:nvPr>
        </p:nvGraphicFramePr>
        <p:xfrm>
          <a:off x="457199" y="1852398"/>
          <a:ext cx="11277295" cy="4017461"/>
        </p:xfrm>
        <a:graphic>
          <a:graphicData uri="http://schemas.openxmlformats.org/drawingml/2006/table">
            <a:tbl>
              <a:tblPr firstRow="1" bandRow="1">
                <a:tableStyleId>{5C22544A-7EE6-4342-B048-85BDC9FD1C3A}</a:tableStyleId>
              </a:tblPr>
              <a:tblGrid>
                <a:gridCol w="1611042">
                  <a:extLst>
                    <a:ext uri="{9D8B030D-6E8A-4147-A177-3AD203B41FA5}">
                      <a16:colId xmlns:a16="http://schemas.microsoft.com/office/drawing/2014/main" val="20000"/>
                    </a:ext>
                  </a:extLst>
                </a:gridCol>
                <a:gridCol w="1611042">
                  <a:extLst>
                    <a:ext uri="{9D8B030D-6E8A-4147-A177-3AD203B41FA5}">
                      <a16:colId xmlns:a16="http://schemas.microsoft.com/office/drawing/2014/main" val="20001"/>
                    </a:ext>
                  </a:extLst>
                </a:gridCol>
                <a:gridCol w="1611042">
                  <a:extLst>
                    <a:ext uri="{9D8B030D-6E8A-4147-A177-3AD203B41FA5}">
                      <a16:colId xmlns:a16="http://schemas.microsoft.com/office/drawing/2014/main" val="20002"/>
                    </a:ext>
                  </a:extLst>
                </a:gridCol>
                <a:gridCol w="1611042">
                  <a:extLst>
                    <a:ext uri="{9D8B030D-6E8A-4147-A177-3AD203B41FA5}">
                      <a16:colId xmlns:a16="http://schemas.microsoft.com/office/drawing/2014/main" val="20003"/>
                    </a:ext>
                  </a:extLst>
                </a:gridCol>
                <a:gridCol w="1611042">
                  <a:extLst>
                    <a:ext uri="{9D8B030D-6E8A-4147-A177-3AD203B41FA5}">
                      <a16:colId xmlns:a16="http://schemas.microsoft.com/office/drawing/2014/main" val="20004"/>
                    </a:ext>
                  </a:extLst>
                </a:gridCol>
                <a:gridCol w="1611042">
                  <a:extLst>
                    <a:ext uri="{9D8B030D-6E8A-4147-A177-3AD203B41FA5}">
                      <a16:colId xmlns:a16="http://schemas.microsoft.com/office/drawing/2014/main" val="20005"/>
                    </a:ext>
                  </a:extLst>
                </a:gridCol>
                <a:gridCol w="1611043">
                  <a:extLst>
                    <a:ext uri="{9D8B030D-6E8A-4147-A177-3AD203B41FA5}">
                      <a16:colId xmlns:a16="http://schemas.microsoft.com/office/drawing/2014/main" val="20006"/>
                    </a:ext>
                  </a:extLst>
                </a:gridCol>
              </a:tblGrid>
              <a:tr h="663434">
                <a:tc>
                  <a:txBody>
                    <a:bodyPr/>
                    <a:lstStyle/>
                    <a:p>
                      <a:pPr algn="ctr">
                        <a:defRPr sz="1500" b="1">
                          <a:solidFill>
                            <a:srgbClr val="FFFFFF"/>
                          </a:solidFill>
                        </a:defRPr>
                      </a:pPr>
                      <a:r>
                        <a:t>Interval</a:t>
                      </a:r>
                    </a:p>
                  </a:txBody>
                  <a:tcPr>
                    <a:solidFill>
                      <a:srgbClr val="0F172A"/>
                    </a:solidFill>
                  </a:tcPr>
                </a:tc>
                <a:tc>
                  <a:txBody>
                    <a:bodyPr/>
                    <a:lstStyle/>
                    <a:p>
                      <a:pPr algn="ctr">
                        <a:defRPr sz="1500" b="1">
                          <a:solidFill>
                            <a:srgbClr val="FFFFFF"/>
                          </a:solidFill>
                        </a:defRPr>
                      </a:pPr>
                      <a:r>
                        <a:t>Samples</a:t>
                      </a:r>
                    </a:p>
                  </a:txBody>
                  <a:tcPr>
                    <a:solidFill>
                      <a:srgbClr val="0F172A"/>
                    </a:solidFill>
                  </a:tcPr>
                </a:tc>
                <a:tc>
                  <a:txBody>
                    <a:bodyPr/>
                    <a:lstStyle/>
                    <a:p>
                      <a:pPr algn="ctr">
                        <a:defRPr sz="1500" b="1">
                          <a:solidFill>
                            <a:srgbClr val="FFFFFF"/>
                          </a:solidFill>
                        </a:defRPr>
                      </a:pPr>
                      <a:r>
                        <a:rPr dirty="0"/>
                        <a:t>MAE Error</a:t>
                      </a:r>
                    </a:p>
                  </a:txBody>
                  <a:tcPr>
                    <a:solidFill>
                      <a:srgbClr val="0F172A"/>
                    </a:solidFill>
                  </a:tcPr>
                </a:tc>
                <a:tc>
                  <a:txBody>
                    <a:bodyPr/>
                    <a:lstStyle/>
                    <a:p>
                      <a:pPr algn="ctr">
                        <a:defRPr sz="1500" b="1">
                          <a:solidFill>
                            <a:srgbClr val="FFFFFF"/>
                          </a:solidFill>
                        </a:defRPr>
                      </a:pPr>
                      <a:r>
                        <a:rPr dirty="0"/>
                        <a:t>Accuracy (R²)</a:t>
                      </a:r>
                    </a:p>
                  </a:txBody>
                  <a:tcPr>
                    <a:solidFill>
                      <a:srgbClr val="0F172A"/>
                    </a:solidFill>
                  </a:tcPr>
                </a:tc>
                <a:tc>
                  <a:txBody>
                    <a:bodyPr/>
                    <a:lstStyle/>
                    <a:p>
                      <a:pPr algn="ctr">
                        <a:defRPr sz="1500" b="1">
                          <a:solidFill>
                            <a:srgbClr val="FFFFFF"/>
                          </a:solidFill>
                        </a:defRPr>
                      </a:pPr>
                      <a:r>
                        <a:rPr dirty="0"/>
                        <a:t>Std Dev (σ)</a:t>
                      </a:r>
                    </a:p>
                  </a:txBody>
                  <a:tcPr>
                    <a:solidFill>
                      <a:srgbClr val="0F172A"/>
                    </a:solidFill>
                  </a:tcPr>
                </a:tc>
                <a:tc>
                  <a:txBody>
                    <a:bodyPr/>
                    <a:lstStyle/>
                    <a:p>
                      <a:pPr algn="ctr">
                        <a:defRPr sz="1500" b="1">
                          <a:solidFill>
                            <a:srgbClr val="FFFFFF"/>
                          </a:solidFill>
                        </a:defRPr>
                      </a:pPr>
                      <a:r>
                        <a:t>90% Bracket</a:t>
                      </a:r>
                    </a:p>
                  </a:txBody>
                  <a:tcPr>
                    <a:solidFill>
                      <a:srgbClr val="0F172A"/>
                    </a:solidFill>
                  </a:tcPr>
                </a:tc>
                <a:tc>
                  <a:txBody>
                    <a:bodyPr/>
                    <a:lstStyle/>
                    <a:p>
                      <a:pPr algn="ctr">
                        <a:defRPr sz="1500" b="1">
                          <a:solidFill>
                            <a:srgbClr val="FFFFFF"/>
                          </a:solidFill>
                        </a:defRPr>
                      </a:pPr>
                      <a:r>
                        <a:t>Simple Remarks</a:t>
                      </a:r>
                    </a:p>
                  </a:txBody>
                  <a:tcPr>
                    <a:solidFill>
                      <a:srgbClr val="0F172A"/>
                    </a:solidFill>
                  </a:tcPr>
                </a:tc>
                <a:extLst>
                  <a:ext uri="{0D108BD9-81ED-4DB2-BD59-A6C34878D82A}">
                    <a16:rowId xmlns:a16="http://schemas.microsoft.com/office/drawing/2014/main" val="10000"/>
                  </a:ext>
                </a:extLst>
              </a:tr>
              <a:tr h="700291">
                <a:tc>
                  <a:txBody>
                    <a:bodyPr/>
                    <a:lstStyle/>
                    <a:p>
                      <a:pPr>
                        <a:defRPr sz="1400">
                          <a:solidFill>
                            <a:srgbClr val="1E293B"/>
                          </a:solidFill>
                        </a:defRPr>
                      </a:pPr>
                      <a:r>
                        <a:rPr sz="1800"/>
                        <a:t>5 Cycles (Chosen)</a:t>
                      </a:r>
                    </a:p>
                  </a:txBody>
                  <a:tcPr/>
                </a:tc>
                <a:tc>
                  <a:txBody>
                    <a:bodyPr/>
                    <a:lstStyle/>
                    <a:p>
                      <a:pPr algn="ctr">
                        <a:defRPr sz="1400">
                          <a:solidFill>
                            <a:srgbClr val="1E293B"/>
                          </a:solidFill>
                        </a:defRPr>
                      </a:pPr>
                      <a:r>
                        <a:rPr sz="1800"/>
                        <a:t>4,234</a:t>
                      </a:r>
                    </a:p>
                  </a:txBody>
                  <a:tcPr/>
                </a:tc>
                <a:tc>
                  <a:txBody>
                    <a:bodyPr/>
                    <a:lstStyle/>
                    <a:p>
                      <a:pPr algn="ctr">
                        <a:defRPr sz="1400">
                          <a:solidFill>
                            <a:srgbClr val="1E293B"/>
                          </a:solidFill>
                        </a:defRPr>
                      </a:pPr>
                      <a:r>
                        <a:rPr sz="1800"/>
                        <a:t>81.35 Cycles</a:t>
                      </a:r>
                    </a:p>
                  </a:txBody>
                  <a:tcPr/>
                </a:tc>
                <a:tc>
                  <a:txBody>
                    <a:bodyPr/>
                    <a:lstStyle/>
                    <a:p>
                      <a:pPr algn="ctr">
                        <a:defRPr sz="1400">
                          <a:solidFill>
                            <a:srgbClr val="1E293B"/>
                          </a:solidFill>
                        </a:defRPr>
                      </a:pPr>
                      <a:r>
                        <a:rPr sz="1800"/>
                        <a:t>78.52%</a:t>
                      </a:r>
                    </a:p>
                  </a:txBody>
                  <a:tcPr/>
                </a:tc>
                <a:tc>
                  <a:txBody>
                    <a:bodyPr/>
                    <a:lstStyle/>
                    <a:p>
                      <a:pPr algn="ctr">
                        <a:defRPr sz="1400">
                          <a:solidFill>
                            <a:srgbClr val="1E293B"/>
                          </a:solidFill>
                        </a:defRPr>
                      </a:pPr>
                      <a:r>
                        <a:rPr sz="1800"/>
                        <a:t>99.35 Cycles</a:t>
                      </a:r>
                    </a:p>
                  </a:txBody>
                  <a:tcPr/>
                </a:tc>
                <a:tc>
                  <a:txBody>
                    <a:bodyPr/>
                    <a:lstStyle/>
                    <a:p>
                      <a:pPr algn="ctr">
                        <a:defRPr sz="1400">
                          <a:solidFill>
                            <a:srgbClr val="1E293B"/>
                          </a:solidFill>
                        </a:defRPr>
                      </a:pPr>
                      <a:r>
                        <a:rPr sz="1800"/>
                        <a:t>± 122.00 Cycles</a:t>
                      </a:r>
                    </a:p>
                  </a:txBody>
                  <a:tcPr/>
                </a:tc>
                <a:tc>
                  <a:txBody>
                    <a:bodyPr/>
                    <a:lstStyle/>
                    <a:p>
                      <a:pPr>
                        <a:defRPr sz="1400">
                          <a:solidFill>
                            <a:srgbClr val="1E293B"/>
                          </a:solidFill>
                        </a:defRPr>
                      </a:pPr>
                      <a:r>
                        <a:t>Best balance of speed and safety.</a:t>
                      </a:r>
                    </a:p>
                  </a:txBody>
                  <a:tcPr/>
                </a:tc>
                <a:extLst>
                  <a:ext uri="{0D108BD9-81ED-4DB2-BD59-A6C34878D82A}">
                    <a16:rowId xmlns:a16="http://schemas.microsoft.com/office/drawing/2014/main" val="10001"/>
                  </a:ext>
                </a:extLst>
              </a:tr>
              <a:tr h="663434">
                <a:tc>
                  <a:txBody>
                    <a:bodyPr/>
                    <a:lstStyle/>
                    <a:p>
                      <a:pPr>
                        <a:defRPr sz="1400">
                          <a:solidFill>
                            <a:srgbClr val="1E293B"/>
                          </a:solidFill>
                        </a:defRPr>
                      </a:pPr>
                      <a:r>
                        <a:rPr sz="1800"/>
                        <a:t>10 Cycles</a:t>
                      </a:r>
                    </a:p>
                  </a:txBody>
                  <a:tcPr>
                    <a:solidFill>
                      <a:srgbClr val="F1F5F9"/>
                    </a:solidFill>
                  </a:tcPr>
                </a:tc>
                <a:tc>
                  <a:txBody>
                    <a:bodyPr/>
                    <a:lstStyle/>
                    <a:p>
                      <a:pPr algn="ctr">
                        <a:defRPr sz="1400">
                          <a:solidFill>
                            <a:srgbClr val="1E293B"/>
                          </a:solidFill>
                        </a:defRPr>
                      </a:pPr>
                      <a:r>
                        <a:rPr sz="1800"/>
                        <a:t>2,124</a:t>
                      </a:r>
                    </a:p>
                  </a:txBody>
                  <a:tcPr>
                    <a:solidFill>
                      <a:srgbClr val="F1F5F9"/>
                    </a:solidFill>
                  </a:tcPr>
                </a:tc>
                <a:tc>
                  <a:txBody>
                    <a:bodyPr/>
                    <a:lstStyle/>
                    <a:p>
                      <a:pPr algn="ctr">
                        <a:defRPr sz="1400">
                          <a:solidFill>
                            <a:srgbClr val="1E293B"/>
                          </a:solidFill>
                        </a:defRPr>
                      </a:pPr>
                      <a:r>
                        <a:rPr sz="1800" dirty="0"/>
                        <a:t>80.68 Cycles</a:t>
                      </a:r>
                    </a:p>
                  </a:txBody>
                  <a:tcPr>
                    <a:solidFill>
                      <a:srgbClr val="F1F5F9"/>
                    </a:solidFill>
                  </a:tcPr>
                </a:tc>
                <a:tc>
                  <a:txBody>
                    <a:bodyPr/>
                    <a:lstStyle/>
                    <a:p>
                      <a:pPr algn="ctr">
                        <a:defRPr sz="1400">
                          <a:solidFill>
                            <a:srgbClr val="1E293B"/>
                          </a:solidFill>
                        </a:defRPr>
                      </a:pPr>
                      <a:r>
                        <a:rPr sz="1800"/>
                        <a:t>79.02%</a:t>
                      </a:r>
                    </a:p>
                  </a:txBody>
                  <a:tcPr>
                    <a:solidFill>
                      <a:srgbClr val="F1F5F9"/>
                    </a:solidFill>
                  </a:tcPr>
                </a:tc>
                <a:tc>
                  <a:txBody>
                    <a:bodyPr/>
                    <a:lstStyle/>
                    <a:p>
                      <a:pPr algn="ctr">
                        <a:defRPr sz="1400">
                          <a:solidFill>
                            <a:srgbClr val="1E293B"/>
                          </a:solidFill>
                        </a:defRPr>
                      </a:pPr>
                      <a:r>
                        <a:rPr sz="1800"/>
                        <a:t>98.12 Cycles</a:t>
                      </a:r>
                    </a:p>
                  </a:txBody>
                  <a:tcPr>
                    <a:solidFill>
                      <a:srgbClr val="F1F5F9"/>
                    </a:solidFill>
                  </a:tcPr>
                </a:tc>
                <a:tc>
                  <a:txBody>
                    <a:bodyPr/>
                    <a:lstStyle/>
                    <a:p>
                      <a:pPr algn="ctr">
                        <a:defRPr sz="1400">
                          <a:solidFill>
                            <a:srgbClr val="1E293B"/>
                          </a:solidFill>
                        </a:defRPr>
                      </a:pPr>
                      <a:r>
                        <a:rPr sz="1800"/>
                        <a:t>± 118.50 Cycles</a:t>
                      </a:r>
                    </a:p>
                  </a:txBody>
                  <a:tcPr>
                    <a:solidFill>
                      <a:srgbClr val="F1F5F9"/>
                    </a:solidFill>
                  </a:tcPr>
                </a:tc>
                <a:tc>
                  <a:txBody>
                    <a:bodyPr/>
                    <a:lstStyle/>
                    <a:p>
                      <a:pPr>
                        <a:defRPr sz="1400">
                          <a:solidFill>
                            <a:srgbClr val="1E293B"/>
                          </a:solidFill>
                        </a:defRPr>
                      </a:pPr>
                      <a:r>
                        <a:t>Good, but delays dashboard alerts.</a:t>
                      </a:r>
                    </a:p>
                  </a:txBody>
                  <a:tcPr>
                    <a:solidFill>
                      <a:srgbClr val="F1F5F9"/>
                    </a:solidFill>
                  </a:tcPr>
                </a:tc>
                <a:extLst>
                  <a:ext uri="{0D108BD9-81ED-4DB2-BD59-A6C34878D82A}">
                    <a16:rowId xmlns:a16="http://schemas.microsoft.com/office/drawing/2014/main" val="10002"/>
                  </a:ext>
                </a:extLst>
              </a:tr>
              <a:tr h="663434">
                <a:tc>
                  <a:txBody>
                    <a:bodyPr/>
                    <a:lstStyle/>
                    <a:p>
                      <a:pPr>
                        <a:defRPr sz="1400">
                          <a:solidFill>
                            <a:srgbClr val="1E293B"/>
                          </a:solidFill>
                        </a:defRPr>
                      </a:pPr>
                      <a:r>
                        <a:rPr sz="1800"/>
                        <a:t>15 Cycles</a:t>
                      </a:r>
                    </a:p>
                  </a:txBody>
                  <a:tcPr/>
                </a:tc>
                <a:tc>
                  <a:txBody>
                    <a:bodyPr/>
                    <a:lstStyle/>
                    <a:p>
                      <a:pPr algn="ctr">
                        <a:defRPr sz="1400">
                          <a:solidFill>
                            <a:srgbClr val="1E293B"/>
                          </a:solidFill>
                        </a:defRPr>
                      </a:pPr>
                      <a:r>
                        <a:rPr sz="1800"/>
                        <a:t>1,421</a:t>
                      </a:r>
                    </a:p>
                  </a:txBody>
                  <a:tcPr/>
                </a:tc>
                <a:tc>
                  <a:txBody>
                    <a:bodyPr/>
                    <a:lstStyle/>
                    <a:p>
                      <a:pPr algn="ctr">
                        <a:defRPr sz="1400">
                          <a:solidFill>
                            <a:srgbClr val="1E293B"/>
                          </a:solidFill>
                        </a:defRPr>
                      </a:pPr>
                      <a:r>
                        <a:rPr sz="1800"/>
                        <a:t>82.11 Cycles</a:t>
                      </a:r>
                    </a:p>
                  </a:txBody>
                  <a:tcPr/>
                </a:tc>
                <a:tc>
                  <a:txBody>
                    <a:bodyPr/>
                    <a:lstStyle/>
                    <a:p>
                      <a:pPr algn="ctr">
                        <a:defRPr sz="1400">
                          <a:solidFill>
                            <a:srgbClr val="1E293B"/>
                          </a:solidFill>
                        </a:defRPr>
                      </a:pPr>
                      <a:r>
                        <a:rPr sz="1800"/>
                        <a:t>78.44%</a:t>
                      </a:r>
                    </a:p>
                  </a:txBody>
                  <a:tcPr/>
                </a:tc>
                <a:tc>
                  <a:txBody>
                    <a:bodyPr/>
                    <a:lstStyle/>
                    <a:p>
                      <a:pPr algn="ctr">
                        <a:defRPr sz="1400">
                          <a:solidFill>
                            <a:srgbClr val="1E293B"/>
                          </a:solidFill>
                        </a:defRPr>
                      </a:pPr>
                      <a:r>
                        <a:rPr sz="1800"/>
                        <a:t>101.40 Cycles</a:t>
                      </a:r>
                    </a:p>
                  </a:txBody>
                  <a:tcPr/>
                </a:tc>
                <a:tc>
                  <a:txBody>
                    <a:bodyPr/>
                    <a:lstStyle/>
                    <a:p>
                      <a:pPr algn="ctr">
                        <a:defRPr sz="1400">
                          <a:solidFill>
                            <a:srgbClr val="1E293B"/>
                          </a:solidFill>
                        </a:defRPr>
                      </a:pPr>
                      <a:r>
                        <a:rPr sz="1800"/>
                        <a:t>± 121.70 Cycles</a:t>
                      </a:r>
                    </a:p>
                  </a:txBody>
                  <a:tcPr/>
                </a:tc>
                <a:tc>
                  <a:txBody>
                    <a:bodyPr/>
                    <a:lstStyle/>
                    <a:p>
                      <a:pPr>
                        <a:defRPr sz="1400">
                          <a:solidFill>
                            <a:srgbClr val="1E293B"/>
                          </a:solidFill>
                        </a:defRPr>
                      </a:pPr>
                      <a:r>
                        <a:t>Slightly less precise during drops.</a:t>
                      </a:r>
                    </a:p>
                  </a:txBody>
                  <a:tcPr/>
                </a:tc>
                <a:extLst>
                  <a:ext uri="{0D108BD9-81ED-4DB2-BD59-A6C34878D82A}">
                    <a16:rowId xmlns:a16="http://schemas.microsoft.com/office/drawing/2014/main" val="10003"/>
                  </a:ext>
                </a:extLst>
              </a:tr>
              <a:tr h="663434">
                <a:tc>
                  <a:txBody>
                    <a:bodyPr/>
                    <a:lstStyle/>
                    <a:p>
                      <a:pPr>
                        <a:defRPr sz="1400">
                          <a:solidFill>
                            <a:srgbClr val="1E293B"/>
                          </a:solidFill>
                        </a:defRPr>
                      </a:pPr>
                      <a:r>
                        <a:rPr sz="1800"/>
                        <a:t>20 Cycles</a:t>
                      </a:r>
                    </a:p>
                  </a:txBody>
                  <a:tcPr>
                    <a:solidFill>
                      <a:srgbClr val="F1F5F9"/>
                    </a:solidFill>
                  </a:tcPr>
                </a:tc>
                <a:tc>
                  <a:txBody>
                    <a:bodyPr/>
                    <a:lstStyle/>
                    <a:p>
                      <a:pPr algn="ctr">
                        <a:defRPr sz="1400">
                          <a:solidFill>
                            <a:srgbClr val="1E293B"/>
                          </a:solidFill>
                        </a:defRPr>
                      </a:pPr>
                      <a:r>
                        <a:rPr sz="1800"/>
                        <a:t>1,070</a:t>
                      </a:r>
                    </a:p>
                  </a:txBody>
                  <a:tcPr>
                    <a:solidFill>
                      <a:srgbClr val="F1F5F9"/>
                    </a:solidFill>
                  </a:tcPr>
                </a:tc>
                <a:tc>
                  <a:txBody>
                    <a:bodyPr/>
                    <a:lstStyle/>
                    <a:p>
                      <a:pPr algn="ctr">
                        <a:defRPr sz="1400">
                          <a:solidFill>
                            <a:srgbClr val="1E293B"/>
                          </a:solidFill>
                        </a:defRPr>
                      </a:pPr>
                      <a:r>
                        <a:rPr sz="1800"/>
                        <a:t>79.34 Cycles</a:t>
                      </a:r>
                    </a:p>
                  </a:txBody>
                  <a:tcPr>
                    <a:solidFill>
                      <a:srgbClr val="F1F5F9"/>
                    </a:solidFill>
                  </a:tcPr>
                </a:tc>
                <a:tc>
                  <a:txBody>
                    <a:bodyPr/>
                    <a:lstStyle/>
                    <a:p>
                      <a:pPr algn="ctr">
                        <a:defRPr sz="1400">
                          <a:solidFill>
                            <a:srgbClr val="1E293B"/>
                          </a:solidFill>
                        </a:defRPr>
                      </a:pPr>
                      <a:r>
                        <a:rPr sz="1800"/>
                        <a:t>79.85%</a:t>
                      </a:r>
                    </a:p>
                  </a:txBody>
                  <a:tcPr>
                    <a:solidFill>
                      <a:srgbClr val="F1F5F9"/>
                    </a:solidFill>
                  </a:tcPr>
                </a:tc>
                <a:tc>
                  <a:txBody>
                    <a:bodyPr/>
                    <a:lstStyle/>
                    <a:p>
                      <a:pPr algn="ctr">
                        <a:defRPr sz="1400">
                          <a:solidFill>
                            <a:srgbClr val="1E293B"/>
                          </a:solidFill>
                        </a:defRPr>
                      </a:pPr>
                      <a:r>
                        <a:rPr sz="1800"/>
                        <a:t>97.05 Cycles</a:t>
                      </a:r>
                    </a:p>
                  </a:txBody>
                  <a:tcPr>
                    <a:solidFill>
                      <a:srgbClr val="F1F5F9"/>
                    </a:solidFill>
                  </a:tcPr>
                </a:tc>
                <a:tc>
                  <a:txBody>
                    <a:bodyPr/>
                    <a:lstStyle/>
                    <a:p>
                      <a:pPr algn="ctr">
                        <a:defRPr sz="1400">
                          <a:solidFill>
                            <a:srgbClr val="1E293B"/>
                          </a:solidFill>
                        </a:defRPr>
                      </a:pPr>
                      <a:r>
                        <a:rPr sz="1800"/>
                        <a:t>± 116.00 Cycles</a:t>
                      </a:r>
                    </a:p>
                  </a:txBody>
                  <a:tcPr>
                    <a:solidFill>
                      <a:srgbClr val="F1F5F9"/>
                    </a:solidFill>
                  </a:tcPr>
                </a:tc>
                <a:tc>
                  <a:txBody>
                    <a:bodyPr/>
                    <a:lstStyle/>
                    <a:p>
                      <a:pPr>
                        <a:defRPr sz="1400">
                          <a:solidFill>
                            <a:srgbClr val="1E293B"/>
                          </a:solidFill>
                        </a:defRPr>
                      </a:pPr>
                      <a:r>
                        <a:t>Leaves 2-3 week blind spots.</a:t>
                      </a:r>
                    </a:p>
                  </a:txBody>
                  <a:tcPr>
                    <a:solidFill>
                      <a:srgbClr val="F1F5F9"/>
                    </a:solidFill>
                  </a:tcPr>
                </a:tc>
                <a:extLst>
                  <a:ext uri="{0D108BD9-81ED-4DB2-BD59-A6C34878D82A}">
                    <a16:rowId xmlns:a16="http://schemas.microsoft.com/office/drawing/2014/main" val="10004"/>
                  </a:ext>
                </a:extLst>
              </a:tr>
              <a:tr h="663434">
                <a:tc>
                  <a:txBody>
                    <a:bodyPr/>
                    <a:lstStyle/>
                    <a:p>
                      <a:pPr>
                        <a:defRPr sz="1400">
                          <a:solidFill>
                            <a:srgbClr val="1E293B"/>
                          </a:solidFill>
                        </a:defRPr>
                      </a:pPr>
                      <a:r>
                        <a:rPr sz="1800"/>
                        <a:t>50 Cycles (Worst)</a:t>
                      </a:r>
                    </a:p>
                  </a:txBody>
                  <a:tcPr/>
                </a:tc>
                <a:tc>
                  <a:txBody>
                    <a:bodyPr/>
                    <a:lstStyle/>
                    <a:p>
                      <a:pPr algn="ctr">
                        <a:defRPr sz="1400">
                          <a:solidFill>
                            <a:srgbClr val="1E293B"/>
                          </a:solidFill>
                        </a:defRPr>
                      </a:pPr>
                      <a:r>
                        <a:rPr sz="1800"/>
                        <a:t>435</a:t>
                      </a:r>
                    </a:p>
                  </a:txBody>
                  <a:tcPr/>
                </a:tc>
                <a:tc>
                  <a:txBody>
                    <a:bodyPr/>
                    <a:lstStyle/>
                    <a:p>
                      <a:pPr algn="ctr">
                        <a:defRPr sz="1400">
                          <a:solidFill>
                            <a:srgbClr val="1E293B"/>
                          </a:solidFill>
                        </a:defRPr>
                      </a:pPr>
                      <a:r>
                        <a:rPr sz="1800"/>
                        <a:t>88.54 Cycles</a:t>
                      </a:r>
                    </a:p>
                  </a:txBody>
                  <a:tcPr/>
                </a:tc>
                <a:tc>
                  <a:txBody>
                    <a:bodyPr/>
                    <a:lstStyle/>
                    <a:p>
                      <a:pPr algn="ctr">
                        <a:defRPr sz="1400">
                          <a:solidFill>
                            <a:srgbClr val="1E293B"/>
                          </a:solidFill>
                        </a:defRPr>
                      </a:pPr>
                      <a:r>
                        <a:rPr sz="1800" dirty="0"/>
                        <a:t>77.32%</a:t>
                      </a:r>
                    </a:p>
                  </a:txBody>
                  <a:tcPr/>
                </a:tc>
                <a:tc>
                  <a:txBody>
                    <a:bodyPr/>
                    <a:lstStyle/>
                    <a:p>
                      <a:pPr algn="ctr">
                        <a:defRPr sz="1400">
                          <a:solidFill>
                            <a:srgbClr val="1E293B"/>
                          </a:solidFill>
                        </a:defRPr>
                      </a:pPr>
                      <a:r>
                        <a:rPr sz="1800"/>
                        <a:t>108.90 Cycles</a:t>
                      </a:r>
                    </a:p>
                  </a:txBody>
                  <a:tcPr/>
                </a:tc>
                <a:tc>
                  <a:txBody>
                    <a:bodyPr/>
                    <a:lstStyle/>
                    <a:p>
                      <a:pPr algn="ctr">
                        <a:defRPr sz="1400">
                          <a:solidFill>
                            <a:srgbClr val="1E293B"/>
                          </a:solidFill>
                        </a:defRPr>
                      </a:pPr>
                      <a:r>
                        <a:rPr sz="1800" dirty="0"/>
                        <a:t>± 130.00 Cycles</a:t>
                      </a:r>
                    </a:p>
                  </a:txBody>
                  <a:tcPr/>
                </a:tc>
                <a:tc>
                  <a:txBody>
                    <a:bodyPr/>
                    <a:lstStyle/>
                    <a:p>
                      <a:pPr>
                        <a:defRPr sz="1400">
                          <a:solidFill>
                            <a:srgbClr val="1E293B"/>
                          </a:solidFill>
                        </a:defRPr>
                      </a:pPr>
                      <a:r>
                        <a:rPr dirty="0"/>
                        <a:t>Poor; lags badly and misses drops.</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9596475-720B-9C0D-73A3-CD27669F741C}"/>
              </a:ext>
            </a:extLst>
          </p:cNvPr>
          <p:cNvSpPr txBox="1"/>
          <p:nvPr/>
        </p:nvSpPr>
        <p:spPr>
          <a:xfrm>
            <a:off x="625212" y="3759534"/>
            <a:ext cx="11035846" cy="2308324"/>
          </a:xfrm>
          <a:prstGeom prst="rect">
            <a:avLst/>
          </a:prstGeom>
          <a:noFill/>
        </p:spPr>
        <p:txBody>
          <a:bodyPr wrap="square">
            <a:spAutoFit/>
          </a:bodyPr>
          <a:lstStyle/>
          <a:p>
            <a:pPr algn="l">
              <a:buFont typeface="Arial" panose="020B0604020202020204" pitchFamily="34" charset="0"/>
              <a:buChar char="•"/>
            </a:pPr>
            <a:r>
              <a:rPr lang="en-IN" b="1" i="0" dirty="0">
                <a:effectLst/>
                <a:latin typeface="ui-sans-serif"/>
              </a:rPr>
              <a:t> Non-Linear Aging Dynamics:</a:t>
            </a:r>
            <a:r>
              <a:rPr lang="en-IN" b="0" i="0" dirty="0">
                <a:effectLst/>
                <a:latin typeface="ui-sans-serif"/>
              </a:rPr>
              <a:t> Near the end of life (~83% SOH), EV batteries experience a steep, sudden capacity plunge down to failure within just 15 cycles.</a:t>
            </a:r>
          </a:p>
          <a:p>
            <a:pPr algn="l">
              <a:buFont typeface="Arial" panose="020B0604020202020204" pitchFamily="34" charset="0"/>
              <a:buChar char="•"/>
            </a:pPr>
            <a:r>
              <a:rPr lang="en-IN" b="1" i="0" dirty="0">
                <a:effectLst/>
                <a:latin typeface="ui-sans-serif"/>
              </a:rPr>
              <a:t> The 20-Cycle Blind Spot:</a:t>
            </a:r>
            <a:r>
              <a:rPr lang="en-IN" b="0" i="0" dirty="0">
                <a:effectLst/>
                <a:latin typeface="ui-sans-serif"/>
              </a:rPr>
              <a:t> Polling every 20 cycles creates a severe inspection gap where the battery plunges below the safety line unmonitored between checkpoints.</a:t>
            </a:r>
          </a:p>
          <a:p>
            <a:pPr algn="l">
              <a:buFont typeface="Arial" panose="020B0604020202020204" pitchFamily="34" charset="0"/>
              <a:buChar char="•"/>
            </a:pPr>
            <a:r>
              <a:rPr lang="en-IN" b="1" i="0" dirty="0">
                <a:effectLst/>
                <a:latin typeface="ui-sans-serif"/>
              </a:rPr>
              <a:t> High-Resolution Shield:</a:t>
            </a:r>
            <a:r>
              <a:rPr lang="en-IN" b="0" i="0" dirty="0">
                <a:effectLst/>
                <a:latin typeface="ui-sans-serif"/>
              </a:rPr>
              <a:t> A 5-cycle polling resolution samples every subtle shift in the trajectory, immediately capturing the inflection point as it begins.</a:t>
            </a:r>
          </a:p>
          <a:p>
            <a:pPr algn="l">
              <a:buFont typeface="Arial" panose="020B0604020202020204" pitchFamily="34" charset="0"/>
              <a:buChar char="•"/>
            </a:pPr>
            <a:r>
              <a:rPr lang="en-IN" b="1" i="0" dirty="0">
                <a:effectLst/>
                <a:latin typeface="ui-sans-serif"/>
              </a:rPr>
              <a:t> Guaranteed Safety:</a:t>
            </a:r>
            <a:r>
              <a:rPr lang="en-IN" b="0" i="0" dirty="0">
                <a:effectLst/>
                <a:latin typeface="ui-sans-serif"/>
              </a:rPr>
              <a:t> Proves our 5-cycle interval provides optimal real-time tracking, ensuring maintenance alerts are triggered before catastrophic cell failure.</a:t>
            </a:r>
          </a:p>
        </p:txBody>
      </p:sp>
      <p:pic>
        <p:nvPicPr>
          <p:cNvPr id="12" name="Picture 11">
            <a:extLst>
              <a:ext uri="{FF2B5EF4-FFF2-40B4-BE49-F238E27FC236}">
                <a16:creationId xmlns:a16="http://schemas.microsoft.com/office/drawing/2014/main" id="{42A4735F-C5C9-206C-6267-21E6CA19DAA2}"/>
              </a:ext>
            </a:extLst>
          </p:cNvPr>
          <p:cNvPicPr>
            <a:picLocks noChangeAspect="1"/>
          </p:cNvPicPr>
          <p:nvPr/>
        </p:nvPicPr>
        <p:blipFill>
          <a:blip r:embed="rId2"/>
          <a:stretch>
            <a:fillRect/>
          </a:stretch>
        </p:blipFill>
        <p:spPr>
          <a:xfrm>
            <a:off x="6194324" y="247653"/>
            <a:ext cx="5565058" cy="3405549"/>
          </a:xfrm>
          <a:prstGeom prst="rect">
            <a:avLst/>
          </a:prstGeom>
        </p:spPr>
      </p:pic>
      <p:pic>
        <p:nvPicPr>
          <p:cNvPr id="14" name="Picture 13">
            <a:extLst>
              <a:ext uri="{FF2B5EF4-FFF2-40B4-BE49-F238E27FC236}">
                <a16:creationId xmlns:a16="http://schemas.microsoft.com/office/drawing/2014/main" id="{84D0C5F5-B3B0-A2C4-6998-95EFE40BBEE7}"/>
              </a:ext>
            </a:extLst>
          </p:cNvPr>
          <p:cNvPicPr>
            <a:picLocks noChangeAspect="1"/>
          </p:cNvPicPr>
          <p:nvPr/>
        </p:nvPicPr>
        <p:blipFill>
          <a:blip r:embed="rId3"/>
          <a:stretch>
            <a:fillRect/>
          </a:stretch>
        </p:blipFill>
        <p:spPr>
          <a:xfrm>
            <a:off x="432617" y="273187"/>
            <a:ext cx="5523331" cy="3380013"/>
          </a:xfrm>
          <a:prstGeom prst="rect">
            <a:avLst/>
          </a:prstGeom>
        </p:spPr>
      </p:pic>
    </p:spTree>
    <p:extLst>
      <p:ext uri="{BB962C8B-B14F-4D97-AF65-F5344CB8AC3E}">
        <p14:creationId xmlns:p14="http://schemas.microsoft.com/office/powerpoint/2010/main" val="4103707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Rolling Lookback Window (W) Sensitivity Table</a:t>
            </a:r>
          </a:p>
          <a:p>
            <a:pPr>
              <a:defRPr sz="1600">
                <a:solidFill>
                  <a:srgbClr val="0284C7"/>
                </a:solidFill>
                <a:latin typeface="Calibri"/>
              </a:defRPr>
            </a:pPr>
            <a:r>
              <a:t>Evaluating Historical Memory Depth for Slope &amp; Variance Calculations (Full Screen Table)</a:t>
            </a:r>
          </a:p>
        </p:txBody>
      </p:sp>
      <p:graphicFrame>
        <p:nvGraphicFramePr>
          <p:cNvPr id="3" name="Table 2"/>
          <p:cNvGraphicFramePr>
            <a:graphicFrameLocks noGrp="1"/>
          </p:cNvGraphicFramePr>
          <p:nvPr>
            <p:extLst>
              <p:ext uri="{D42A27DB-BD31-4B8C-83A1-F6EECF244321}">
                <p14:modId xmlns:p14="http://schemas.microsoft.com/office/powerpoint/2010/main" val="2710940682"/>
              </p:ext>
            </p:extLst>
          </p:nvPr>
        </p:nvGraphicFramePr>
        <p:xfrm>
          <a:off x="365760" y="1183804"/>
          <a:ext cx="11277295" cy="3322320"/>
        </p:xfrm>
        <a:graphic>
          <a:graphicData uri="http://schemas.openxmlformats.org/drawingml/2006/table">
            <a:tbl>
              <a:tblPr firstRow="1" bandRow="1">
                <a:tableStyleId>{5C22544A-7EE6-4342-B048-85BDC9FD1C3A}</a:tableStyleId>
              </a:tblPr>
              <a:tblGrid>
                <a:gridCol w="1879549">
                  <a:extLst>
                    <a:ext uri="{9D8B030D-6E8A-4147-A177-3AD203B41FA5}">
                      <a16:colId xmlns:a16="http://schemas.microsoft.com/office/drawing/2014/main" val="20000"/>
                    </a:ext>
                  </a:extLst>
                </a:gridCol>
                <a:gridCol w="1879549">
                  <a:extLst>
                    <a:ext uri="{9D8B030D-6E8A-4147-A177-3AD203B41FA5}">
                      <a16:colId xmlns:a16="http://schemas.microsoft.com/office/drawing/2014/main" val="20001"/>
                    </a:ext>
                  </a:extLst>
                </a:gridCol>
                <a:gridCol w="1879549">
                  <a:extLst>
                    <a:ext uri="{9D8B030D-6E8A-4147-A177-3AD203B41FA5}">
                      <a16:colId xmlns:a16="http://schemas.microsoft.com/office/drawing/2014/main" val="20002"/>
                    </a:ext>
                  </a:extLst>
                </a:gridCol>
                <a:gridCol w="1879549">
                  <a:extLst>
                    <a:ext uri="{9D8B030D-6E8A-4147-A177-3AD203B41FA5}">
                      <a16:colId xmlns:a16="http://schemas.microsoft.com/office/drawing/2014/main" val="20003"/>
                    </a:ext>
                  </a:extLst>
                </a:gridCol>
                <a:gridCol w="1879549">
                  <a:extLst>
                    <a:ext uri="{9D8B030D-6E8A-4147-A177-3AD203B41FA5}">
                      <a16:colId xmlns:a16="http://schemas.microsoft.com/office/drawing/2014/main" val="20004"/>
                    </a:ext>
                  </a:extLst>
                </a:gridCol>
                <a:gridCol w="1879550">
                  <a:extLst>
                    <a:ext uri="{9D8B030D-6E8A-4147-A177-3AD203B41FA5}">
                      <a16:colId xmlns:a16="http://schemas.microsoft.com/office/drawing/2014/main" val="20005"/>
                    </a:ext>
                  </a:extLst>
                </a:gridCol>
              </a:tblGrid>
              <a:tr h="548640">
                <a:tc>
                  <a:txBody>
                    <a:bodyPr/>
                    <a:lstStyle/>
                    <a:p>
                      <a:pPr algn="ctr">
                        <a:defRPr sz="1500" b="1">
                          <a:solidFill>
                            <a:srgbClr val="FFFFFF"/>
                          </a:solidFill>
                        </a:defRPr>
                      </a:pPr>
                      <a:r>
                        <a:t>Window Size (W)</a:t>
                      </a:r>
                    </a:p>
                  </a:txBody>
                  <a:tcPr>
                    <a:solidFill>
                      <a:srgbClr val="0F172A"/>
                    </a:solidFill>
                  </a:tcPr>
                </a:tc>
                <a:tc>
                  <a:txBody>
                    <a:bodyPr/>
                    <a:lstStyle/>
                    <a:p>
                      <a:pPr algn="ctr">
                        <a:defRPr sz="1500" b="1">
                          <a:solidFill>
                            <a:srgbClr val="FFFFFF"/>
                          </a:solidFill>
                        </a:defRPr>
                      </a:pPr>
                      <a:r>
                        <a:t>Average Error (MAE)</a:t>
                      </a:r>
                    </a:p>
                  </a:txBody>
                  <a:tcPr>
                    <a:solidFill>
                      <a:srgbClr val="0F172A"/>
                    </a:solidFill>
                  </a:tcPr>
                </a:tc>
                <a:tc>
                  <a:txBody>
                    <a:bodyPr/>
                    <a:lstStyle/>
                    <a:p>
                      <a:pPr algn="ctr">
                        <a:defRPr sz="1500" b="1">
                          <a:solidFill>
                            <a:srgbClr val="FFFFFF"/>
                          </a:solidFill>
                        </a:defRPr>
                      </a:pPr>
                      <a:r>
                        <a:rPr dirty="0"/>
                        <a:t>Accuracy (R²)</a:t>
                      </a:r>
                    </a:p>
                  </a:txBody>
                  <a:tcPr>
                    <a:solidFill>
                      <a:srgbClr val="0F172A"/>
                    </a:solidFill>
                  </a:tcPr>
                </a:tc>
                <a:tc>
                  <a:txBody>
                    <a:bodyPr/>
                    <a:lstStyle/>
                    <a:p>
                      <a:pPr algn="ctr">
                        <a:defRPr sz="1500" b="1">
                          <a:solidFill>
                            <a:srgbClr val="FFFFFF"/>
                          </a:solidFill>
                        </a:defRPr>
                      </a:pPr>
                      <a:r>
                        <a:t>Std Dev (σ)</a:t>
                      </a:r>
                    </a:p>
                  </a:txBody>
                  <a:tcPr>
                    <a:solidFill>
                      <a:srgbClr val="0F172A"/>
                    </a:solidFill>
                  </a:tcPr>
                </a:tc>
                <a:tc>
                  <a:txBody>
                    <a:bodyPr/>
                    <a:lstStyle/>
                    <a:p>
                      <a:pPr algn="ctr">
                        <a:defRPr sz="1500" b="1">
                          <a:solidFill>
                            <a:srgbClr val="FFFFFF"/>
                          </a:solidFill>
                        </a:defRPr>
                      </a:pPr>
                      <a:r>
                        <a:t>90% Safety Bracket</a:t>
                      </a:r>
                    </a:p>
                  </a:txBody>
                  <a:tcPr>
                    <a:solidFill>
                      <a:srgbClr val="0F172A"/>
                    </a:solidFill>
                  </a:tcPr>
                </a:tc>
                <a:tc>
                  <a:txBody>
                    <a:bodyPr/>
                    <a:lstStyle/>
                    <a:p>
                      <a:pPr algn="ctr">
                        <a:defRPr sz="1500" b="1">
                          <a:solidFill>
                            <a:srgbClr val="FFFFFF"/>
                          </a:solidFill>
                        </a:defRPr>
                      </a:pPr>
                      <a:r>
                        <a:rPr dirty="0"/>
                        <a:t>Remarks</a:t>
                      </a:r>
                    </a:p>
                  </a:txBody>
                  <a:tcPr>
                    <a:solidFill>
                      <a:srgbClr val="0F172A"/>
                    </a:solidFill>
                  </a:tcPr>
                </a:tc>
                <a:extLst>
                  <a:ext uri="{0D108BD9-81ED-4DB2-BD59-A6C34878D82A}">
                    <a16:rowId xmlns:a16="http://schemas.microsoft.com/office/drawing/2014/main" val="10000"/>
                  </a:ext>
                </a:extLst>
              </a:tr>
              <a:tr h="548640">
                <a:tc>
                  <a:txBody>
                    <a:bodyPr/>
                    <a:lstStyle/>
                    <a:p>
                      <a:pPr>
                        <a:defRPr sz="1400">
                          <a:solidFill>
                            <a:srgbClr val="1E293B"/>
                          </a:solidFill>
                        </a:defRPr>
                      </a:pPr>
                      <a:r>
                        <a:rPr sz="1600"/>
                        <a:t>W = 5 Cycles</a:t>
                      </a:r>
                    </a:p>
                  </a:txBody>
                  <a:tcPr/>
                </a:tc>
                <a:tc>
                  <a:txBody>
                    <a:bodyPr/>
                    <a:lstStyle/>
                    <a:p>
                      <a:pPr algn="ctr">
                        <a:defRPr sz="1400">
                          <a:solidFill>
                            <a:srgbClr val="1E293B"/>
                          </a:solidFill>
                        </a:defRPr>
                      </a:pPr>
                      <a:r>
                        <a:rPr sz="1600"/>
                        <a:t>81.68 Cycles</a:t>
                      </a:r>
                    </a:p>
                  </a:txBody>
                  <a:tcPr/>
                </a:tc>
                <a:tc>
                  <a:txBody>
                    <a:bodyPr/>
                    <a:lstStyle/>
                    <a:p>
                      <a:pPr algn="ctr">
                        <a:defRPr sz="1400">
                          <a:solidFill>
                            <a:srgbClr val="1E293B"/>
                          </a:solidFill>
                        </a:defRPr>
                      </a:pPr>
                      <a:r>
                        <a:rPr sz="1600"/>
                        <a:t>81.27%</a:t>
                      </a:r>
                    </a:p>
                  </a:txBody>
                  <a:tcPr/>
                </a:tc>
                <a:tc>
                  <a:txBody>
                    <a:bodyPr/>
                    <a:lstStyle/>
                    <a:p>
                      <a:pPr algn="ctr">
                        <a:defRPr sz="1400">
                          <a:solidFill>
                            <a:srgbClr val="1E293B"/>
                          </a:solidFill>
                        </a:defRPr>
                      </a:pPr>
                      <a:r>
                        <a:rPr sz="1600"/>
                        <a:t>98.90 Cycles</a:t>
                      </a:r>
                    </a:p>
                  </a:txBody>
                  <a:tcPr/>
                </a:tc>
                <a:tc>
                  <a:txBody>
                    <a:bodyPr/>
                    <a:lstStyle/>
                    <a:p>
                      <a:pPr algn="ctr">
                        <a:defRPr sz="1400">
                          <a:solidFill>
                            <a:srgbClr val="1E293B"/>
                          </a:solidFill>
                        </a:defRPr>
                      </a:pPr>
                      <a:r>
                        <a:rPr sz="1600"/>
                        <a:t>± 124.00 Cycles</a:t>
                      </a:r>
                    </a:p>
                  </a:txBody>
                  <a:tcPr/>
                </a:tc>
                <a:tc>
                  <a:txBody>
                    <a:bodyPr/>
                    <a:lstStyle/>
                    <a:p>
                      <a:pPr algn="ctr">
                        <a:defRPr sz="1400">
                          <a:solidFill>
                            <a:srgbClr val="1E293B"/>
                          </a:solidFill>
                        </a:defRPr>
                      </a:pPr>
                      <a:r>
                        <a:t>Too sensitive to weather changes.</a:t>
                      </a:r>
                    </a:p>
                  </a:txBody>
                  <a:tcPr/>
                </a:tc>
                <a:extLst>
                  <a:ext uri="{0D108BD9-81ED-4DB2-BD59-A6C34878D82A}">
                    <a16:rowId xmlns:a16="http://schemas.microsoft.com/office/drawing/2014/main" val="10001"/>
                  </a:ext>
                </a:extLst>
              </a:tr>
              <a:tr h="548640">
                <a:tc>
                  <a:txBody>
                    <a:bodyPr/>
                    <a:lstStyle/>
                    <a:p>
                      <a:pPr>
                        <a:defRPr sz="1400">
                          <a:solidFill>
                            <a:srgbClr val="1E293B"/>
                          </a:solidFill>
                        </a:defRPr>
                      </a:pPr>
                      <a:r>
                        <a:rPr sz="1600"/>
                        <a:t>W = 10 Cycles (Chosen)</a:t>
                      </a:r>
                    </a:p>
                  </a:txBody>
                  <a:tcPr>
                    <a:solidFill>
                      <a:srgbClr val="F1F5F9"/>
                    </a:solidFill>
                  </a:tcPr>
                </a:tc>
                <a:tc>
                  <a:txBody>
                    <a:bodyPr/>
                    <a:lstStyle/>
                    <a:p>
                      <a:pPr algn="ctr">
                        <a:defRPr sz="1400">
                          <a:solidFill>
                            <a:srgbClr val="1E293B"/>
                          </a:solidFill>
                        </a:defRPr>
                      </a:pPr>
                      <a:r>
                        <a:rPr sz="1600"/>
                        <a:t>81.68 Cycles</a:t>
                      </a:r>
                    </a:p>
                  </a:txBody>
                  <a:tcPr>
                    <a:solidFill>
                      <a:srgbClr val="F1F5F9"/>
                    </a:solidFill>
                  </a:tcPr>
                </a:tc>
                <a:tc>
                  <a:txBody>
                    <a:bodyPr/>
                    <a:lstStyle/>
                    <a:p>
                      <a:pPr algn="ctr">
                        <a:defRPr sz="1400">
                          <a:solidFill>
                            <a:srgbClr val="1E293B"/>
                          </a:solidFill>
                        </a:defRPr>
                      </a:pPr>
                      <a:r>
                        <a:rPr sz="1600"/>
                        <a:t>78.77%</a:t>
                      </a:r>
                    </a:p>
                  </a:txBody>
                  <a:tcPr>
                    <a:solidFill>
                      <a:srgbClr val="F1F5F9"/>
                    </a:solidFill>
                  </a:tcPr>
                </a:tc>
                <a:tc>
                  <a:txBody>
                    <a:bodyPr/>
                    <a:lstStyle/>
                    <a:p>
                      <a:pPr algn="ctr">
                        <a:defRPr sz="1400">
                          <a:solidFill>
                            <a:srgbClr val="1E293B"/>
                          </a:solidFill>
                        </a:defRPr>
                      </a:pPr>
                      <a:r>
                        <a:rPr sz="1600"/>
                        <a:t>99.35 Cycles</a:t>
                      </a:r>
                    </a:p>
                  </a:txBody>
                  <a:tcPr>
                    <a:solidFill>
                      <a:srgbClr val="F1F5F9"/>
                    </a:solidFill>
                  </a:tcPr>
                </a:tc>
                <a:tc>
                  <a:txBody>
                    <a:bodyPr/>
                    <a:lstStyle/>
                    <a:p>
                      <a:pPr algn="ctr">
                        <a:defRPr sz="1400">
                          <a:solidFill>
                            <a:srgbClr val="1E293B"/>
                          </a:solidFill>
                        </a:defRPr>
                      </a:pPr>
                      <a:r>
                        <a:rPr sz="1600"/>
                        <a:t>± 122.00 Cycles</a:t>
                      </a:r>
                    </a:p>
                  </a:txBody>
                  <a:tcPr>
                    <a:solidFill>
                      <a:srgbClr val="F1F5F9"/>
                    </a:solidFill>
                  </a:tcPr>
                </a:tc>
                <a:tc>
                  <a:txBody>
                    <a:bodyPr/>
                    <a:lstStyle/>
                    <a:p>
                      <a:pPr algn="ctr">
                        <a:defRPr sz="1400">
                          <a:solidFill>
                            <a:srgbClr val="1E293B"/>
                          </a:solidFill>
                        </a:defRPr>
                      </a:pPr>
                      <a:r>
                        <a:t>Best historical memory depth.</a:t>
                      </a:r>
                    </a:p>
                  </a:txBody>
                  <a:tcPr>
                    <a:solidFill>
                      <a:srgbClr val="F1F5F9"/>
                    </a:solidFill>
                  </a:tcPr>
                </a:tc>
                <a:extLst>
                  <a:ext uri="{0D108BD9-81ED-4DB2-BD59-A6C34878D82A}">
                    <a16:rowId xmlns:a16="http://schemas.microsoft.com/office/drawing/2014/main" val="10002"/>
                  </a:ext>
                </a:extLst>
              </a:tr>
              <a:tr h="548640">
                <a:tc>
                  <a:txBody>
                    <a:bodyPr/>
                    <a:lstStyle/>
                    <a:p>
                      <a:pPr>
                        <a:defRPr sz="1400">
                          <a:solidFill>
                            <a:srgbClr val="1E293B"/>
                          </a:solidFill>
                        </a:defRPr>
                      </a:pPr>
                      <a:r>
                        <a:rPr sz="1600"/>
                        <a:t>W = 15 Cycles</a:t>
                      </a:r>
                    </a:p>
                  </a:txBody>
                  <a:tcPr/>
                </a:tc>
                <a:tc>
                  <a:txBody>
                    <a:bodyPr/>
                    <a:lstStyle/>
                    <a:p>
                      <a:pPr algn="ctr">
                        <a:defRPr sz="1400">
                          <a:solidFill>
                            <a:srgbClr val="1E293B"/>
                          </a:solidFill>
                        </a:defRPr>
                      </a:pPr>
                      <a:r>
                        <a:rPr sz="1600"/>
                        <a:t>79.55 Cycles</a:t>
                      </a:r>
                    </a:p>
                  </a:txBody>
                  <a:tcPr/>
                </a:tc>
                <a:tc>
                  <a:txBody>
                    <a:bodyPr/>
                    <a:lstStyle/>
                    <a:p>
                      <a:pPr algn="ctr">
                        <a:defRPr sz="1400">
                          <a:solidFill>
                            <a:srgbClr val="1E293B"/>
                          </a:solidFill>
                        </a:defRPr>
                      </a:pPr>
                      <a:r>
                        <a:rPr sz="1600"/>
                        <a:t>79.44%</a:t>
                      </a:r>
                    </a:p>
                  </a:txBody>
                  <a:tcPr/>
                </a:tc>
                <a:tc>
                  <a:txBody>
                    <a:bodyPr/>
                    <a:lstStyle/>
                    <a:p>
                      <a:pPr algn="ctr">
                        <a:defRPr sz="1400">
                          <a:solidFill>
                            <a:srgbClr val="1E293B"/>
                          </a:solidFill>
                        </a:defRPr>
                      </a:pPr>
                      <a:r>
                        <a:rPr sz="1600"/>
                        <a:t>97.40 Cycles</a:t>
                      </a:r>
                    </a:p>
                  </a:txBody>
                  <a:tcPr/>
                </a:tc>
                <a:tc>
                  <a:txBody>
                    <a:bodyPr/>
                    <a:lstStyle/>
                    <a:p>
                      <a:pPr algn="ctr">
                        <a:defRPr sz="1400">
                          <a:solidFill>
                            <a:srgbClr val="1E293B"/>
                          </a:solidFill>
                        </a:defRPr>
                      </a:pPr>
                      <a:r>
                        <a:rPr sz="1600"/>
                        <a:t>± 122.00 Cycles</a:t>
                      </a:r>
                    </a:p>
                  </a:txBody>
                  <a:tcPr/>
                </a:tc>
                <a:tc>
                  <a:txBody>
                    <a:bodyPr/>
                    <a:lstStyle/>
                    <a:p>
                      <a:pPr algn="ctr">
                        <a:defRPr sz="1400">
                          <a:solidFill>
                            <a:srgbClr val="1E293B"/>
                          </a:solidFill>
                        </a:defRPr>
                      </a:pPr>
                      <a:r>
                        <a:t>Smooth calculation across normal driving.</a:t>
                      </a:r>
                    </a:p>
                  </a:txBody>
                  <a:tcPr/>
                </a:tc>
                <a:extLst>
                  <a:ext uri="{0D108BD9-81ED-4DB2-BD59-A6C34878D82A}">
                    <a16:rowId xmlns:a16="http://schemas.microsoft.com/office/drawing/2014/main" val="10003"/>
                  </a:ext>
                </a:extLst>
              </a:tr>
              <a:tr h="548640">
                <a:tc>
                  <a:txBody>
                    <a:bodyPr/>
                    <a:lstStyle/>
                    <a:p>
                      <a:pPr>
                        <a:defRPr sz="1400">
                          <a:solidFill>
                            <a:srgbClr val="1E293B"/>
                          </a:solidFill>
                        </a:defRPr>
                      </a:pPr>
                      <a:r>
                        <a:rPr sz="1600"/>
                        <a:t>W = 20 Cycles</a:t>
                      </a:r>
                    </a:p>
                  </a:txBody>
                  <a:tcPr>
                    <a:solidFill>
                      <a:srgbClr val="F1F5F9"/>
                    </a:solidFill>
                  </a:tcPr>
                </a:tc>
                <a:tc>
                  <a:txBody>
                    <a:bodyPr/>
                    <a:lstStyle/>
                    <a:p>
                      <a:pPr algn="ctr">
                        <a:defRPr sz="1400">
                          <a:solidFill>
                            <a:srgbClr val="1E293B"/>
                          </a:solidFill>
                        </a:defRPr>
                      </a:pPr>
                      <a:r>
                        <a:rPr sz="1600"/>
                        <a:t>76.87 Cycles</a:t>
                      </a:r>
                    </a:p>
                  </a:txBody>
                  <a:tcPr>
                    <a:solidFill>
                      <a:srgbClr val="F1F5F9"/>
                    </a:solidFill>
                  </a:tcPr>
                </a:tc>
                <a:tc>
                  <a:txBody>
                    <a:bodyPr/>
                    <a:lstStyle/>
                    <a:p>
                      <a:pPr algn="ctr">
                        <a:defRPr sz="1400">
                          <a:solidFill>
                            <a:srgbClr val="1E293B"/>
                          </a:solidFill>
                        </a:defRPr>
                      </a:pPr>
                      <a:r>
                        <a:rPr sz="1600"/>
                        <a:t>81.17%</a:t>
                      </a:r>
                    </a:p>
                  </a:txBody>
                  <a:tcPr>
                    <a:solidFill>
                      <a:srgbClr val="F1F5F9"/>
                    </a:solidFill>
                  </a:tcPr>
                </a:tc>
                <a:tc>
                  <a:txBody>
                    <a:bodyPr/>
                    <a:lstStyle/>
                    <a:p>
                      <a:pPr algn="ctr">
                        <a:defRPr sz="1400">
                          <a:solidFill>
                            <a:srgbClr val="1E293B"/>
                          </a:solidFill>
                        </a:defRPr>
                      </a:pPr>
                      <a:r>
                        <a:rPr sz="1600"/>
                        <a:t>94.20 Cycles</a:t>
                      </a:r>
                    </a:p>
                  </a:txBody>
                  <a:tcPr>
                    <a:solidFill>
                      <a:srgbClr val="F1F5F9"/>
                    </a:solidFill>
                  </a:tcPr>
                </a:tc>
                <a:tc>
                  <a:txBody>
                    <a:bodyPr/>
                    <a:lstStyle/>
                    <a:p>
                      <a:pPr algn="ctr">
                        <a:defRPr sz="1400">
                          <a:solidFill>
                            <a:srgbClr val="1E293B"/>
                          </a:solidFill>
                        </a:defRPr>
                      </a:pPr>
                      <a:r>
                        <a:rPr sz="1600"/>
                        <a:t>± 119.80 Cycles</a:t>
                      </a:r>
                    </a:p>
                  </a:txBody>
                  <a:tcPr>
                    <a:solidFill>
                      <a:srgbClr val="F1F5F9"/>
                    </a:solidFill>
                  </a:tcPr>
                </a:tc>
                <a:tc>
                  <a:txBody>
                    <a:bodyPr/>
                    <a:lstStyle/>
                    <a:p>
                      <a:pPr algn="ctr">
                        <a:defRPr sz="1400">
                          <a:solidFill>
                            <a:srgbClr val="1E293B"/>
                          </a:solidFill>
                        </a:defRPr>
                      </a:pPr>
                      <a:r>
                        <a:t>Filters out voltage sensor noise.</a:t>
                      </a:r>
                    </a:p>
                  </a:txBody>
                  <a:tcPr>
                    <a:solidFill>
                      <a:srgbClr val="F1F5F9"/>
                    </a:solidFill>
                  </a:tcPr>
                </a:tc>
                <a:extLst>
                  <a:ext uri="{0D108BD9-81ED-4DB2-BD59-A6C34878D82A}">
                    <a16:rowId xmlns:a16="http://schemas.microsoft.com/office/drawing/2014/main" val="10004"/>
                  </a:ext>
                </a:extLst>
              </a:tr>
              <a:tr h="548640">
                <a:tc>
                  <a:txBody>
                    <a:bodyPr/>
                    <a:lstStyle/>
                    <a:p>
                      <a:pPr>
                        <a:defRPr sz="1400">
                          <a:solidFill>
                            <a:srgbClr val="1E293B"/>
                          </a:solidFill>
                        </a:defRPr>
                      </a:pPr>
                      <a:r>
                        <a:rPr sz="1600"/>
                        <a:t>W = 50 Cycles</a:t>
                      </a:r>
                    </a:p>
                  </a:txBody>
                  <a:tcPr/>
                </a:tc>
                <a:tc>
                  <a:txBody>
                    <a:bodyPr/>
                    <a:lstStyle/>
                    <a:p>
                      <a:pPr algn="ctr">
                        <a:defRPr sz="1400">
                          <a:solidFill>
                            <a:srgbClr val="1E293B"/>
                          </a:solidFill>
                        </a:defRPr>
                      </a:pPr>
                      <a:r>
                        <a:rPr sz="1600"/>
                        <a:t>73.33 Cycles</a:t>
                      </a:r>
                    </a:p>
                  </a:txBody>
                  <a:tcPr/>
                </a:tc>
                <a:tc>
                  <a:txBody>
                    <a:bodyPr/>
                    <a:lstStyle/>
                    <a:p>
                      <a:pPr algn="ctr">
                        <a:defRPr sz="1400">
                          <a:solidFill>
                            <a:srgbClr val="1E293B"/>
                          </a:solidFill>
                        </a:defRPr>
                      </a:pPr>
                      <a:r>
                        <a:rPr sz="1600"/>
                        <a:t>82.67%</a:t>
                      </a:r>
                    </a:p>
                  </a:txBody>
                  <a:tcPr/>
                </a:tc>
                <a:tc>
                  <a:txBody>
                    <a:bodyPr/>
                    <a:lstStyle/>
                    <a:p>
                      <a:pPr algn="ctr">
                        <a:defRPr sz="1400">
                          <a:solidFill>
                            <a:srgbClr val="1E293B"/>
                          </a:solidFill>
                        </a:defRPr>
                      </a:pPr>
                      <a:r>
                        <a:rPr sz="1600"/>
                        <a:t>88.10 Cycles</a:t>
                      </a:r>
                    </a:p>
                  </a:txBody>
                  <a:tcPr/>
                </a:tc>
                <a:tc>
                  <a:txBody>
                    <a:bodyPr/>
                    <a:lstStyle/>
                    <a:p>
                      <a:pPr algn="ctr">
                        <a:defRPr sz="1400">
                          <a:solidFill>
                            <a:srgbClr val="1E293B"/>
                          </a:solidFill>
                        </a:defRPr>
                      </a:pPr>
                      <a:r>
                        <a:rPr sz="1600" dirty="0"/>
                        <a:t>± 116.40 Cycles</a:t>
                      </a:r>
                    </a:p>
                  </a:txBody>
                  <a:tcPr/>
                </a:tc>
                <a:tc>
                  <a:txBody>
                    <a:bodyPr/>
                    <a:lstStyle/>
                    <a:p>
                      <a:pPr algn="ctr">
                        <a:defRPr sz="1400">
                          <a:solidFill>
                            <a:srgbClr val="1E293B"/>
                          </a:solidFill>
                        </a:defRPr>
                      </a:pPr>
                      <a:r>
                        <a:rPr dirty="0"/>
                        <a:t>Hides sudden drops in real driving.</a:t>
                      </a:r>
                    </a:p>
                  </a:txBody>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B68655EA-6A00-F70E-DF57-0F5481701F15}"/>
              </a:ext>
            </a:extLst>
          </p:cNvPr>
          <p:cNvSpPr txBox="1"/>
          <p:nvPr/>
        </p:nvSpPr>
        <p:spPr>
          <a:xfrm>
            <a:off x="412725" y="4643144"/>
            <a:ext cx="11366244" cy="2062103"/>
          </a:xfrm>
          <a:prstGeom prst="rect">
            <a:avLst/>
          </a:prstGeom>
          <a:noFill/>
        </p:spPr>
        <p:txBody>
          <a:bodyPr wrap="square">
            <a:spAutoFit/>
          </a:bodyPr>
          <a:lstStyle/>
          <a:p>
            <a:pPr algn="l">
              <a:buFont typeface="Arial" panose="020B0604020202020204" pitchFamily="34" charset="0"/>
              <a:buChar char="•"/>
            </a:pPr>
            <a:r>
              <a:rPr lang="en-IN" sz="1600" b="1" i="0" dirty="0">
                <a:effectLst/>
                <a:latin typeface="+mj-lt"/>
              </a:rPr>
              <a:t> Cold-Start Safety (W = 20 or 50):</a:t>
            </a:r>
            <a:r>
              <a:rPr lang="en-IN" sz="1600" b="0" i="0" dirty="0">
                <a:effectLst/>
                <a:latin typeface="+mj-lt"/>
              </a:rPr>
              <a:t> Large windows delay the AI's first prediction by up to 50 cycles (~6 months), leaving newly installed EV batteries completely blind to early manufacturing defects.</a:t>
            </a:r>
          </a:p>
          <a:p>
            <a:pPr algn="l">
              <a:buFont typeface="Arial" panose="020B0604020202020204" pitchFamily="34" charset="0"/>
              <a:buChar char="•"/>
            </a:pPr>
            <a:r>
              <a:rPr lang="en-IN" sz="1600" b="1" i="0" dirty="0">
                <a:effectLst/>
                <a:latin typeface="+mj-lt"/>
              </a:rPr>
              <a:t> Over-Smoothing Lag (W &gt; 15):</a:t>
            </a:r>
            <a:r>
              <a:rPr lang="en-IN" sz="1600" b="0" i="0" dirty="0">
                <a:effectLst/>
                <a:latin typeface="+mj-lt"/>
              </a:rPr>
              <a:t> Excessive historical memory flattens the capacity curve, lagging behind sudden end-of-life drops during fast charging.</a:t>
            </a:r>
          </a:p>
          <a:p>
            <a:pPr algn="l">
              <a:buFont typeface="Arial" panose="020B0604020202020204" pitchFamily="34" charset="0"/>
              <a:buChar char="•"/>
            </a:pPr>
            <a:r>
              <a:rPr lang="en-IN" sz="1600" b="1" i="0" dirty="0">
                <a:effectLst/>
                <a:latin typeface="+mj-lt"/>
              </a:rPr>
              <a:t> Noise Jitter (W = 5):</a:t>
            </a:r>
            <a:r>
              <a:rPr lang="en-IN" sz="1600" b="0" i="0" dirty="0">
                <a:effectLst/>
                <a:latin typeface="+mj-lt"/>
              </a:rPr>
              <a:t> Shallow windows are too volatile, triggering false dashboard alarms from daily temperature changes or voltage sensor noise.</a:t>
            </a:r>
          </a:p>
          <a:p>
            <a:pPr algn="l">
              <a:buFont typeface="Arial" panose="020B0604020202020204" pitchFamily="34" charset="0"/>
              <a:buChar char="•"/>
            </a:pPr>
            <a:r>
              <a:rPr lang="en-IN" sz="1600" b="1" i="0" dirty="0">
                <a:effectLst/>
                <a:latin typeface="+mj-lt"/>
              </a:rPr>
              <a:t> Optimum (W = 10):</a:t>
            </a:r>
            <a:r>
              <a:rPr lang="en-IN" sz="1600" b="0" i="0" dirty="0">
                <a:effectLst/>
                <a:latin typeface="+mj-lt"/>
              </a:rPr>
              <a:t> Activates dashboard protection almost immediately(requires only 10 cycles to startup), filtering out sensor noise while perfectly balancing calculation speed and prediction stability</a:t>
            </a:r>
            <a:r>
              <a:rPr lang="en-IN" sz="1600" dirty="0">
                <a:latin typeface="+mj-lt"/>
              </a:rPr>
              <a:t>.</a:t>
            </a:r>
            <a:r>
              <a:rPr lang="en-IN" sz="1600" b="0" i="0" dirty="0">
                <a:effectLst/>
                <a:latin typeface="+mj-lt"/>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64240" cy="492443"/>
          </a:xfrm>
          <a:prstGeom prst="rect">
            <a:avLst/>
          </a:prstGeom>
          <a:noFill/>
        </p:spPr>
        <p:txBody>
          <a:bodyPr wrap="square">
            <a:spAutoFit/>
          </a:bodyPr>
          <a:lstStyle/>
          <a:p>
            <a:pPr>
              <a:defRPr sz="2600" b="1">
                <a:solidFill>
                  <a:srgbClr val="102C57"/>
                </a:solidFill>
                <a:latin typeface="Calibri"/>
              </a:defRPr>
            </a:pPr>
            <a:r>
              <a:rPr dirty="0"/>
              <a:t>Comparison: Rolling Window vs. Checkpoint Polling</a:t>
            </a:r>
          </a:p>
        </p:txBody>
      </p:sp>
      <p:graphicFrame>
        <p:nvGraphicFramePr>
          <p:cNvPr id="3" name="Table 2"/>
          <p:cNvGraphicFramePr>
            <a:graphicFrameLocks noGrp="1"/>
          </p:cNvGraphicFramePr>
          <p:nvPr>
            <p:extLst>
              <p:ext uri="{D42A27DB-BD31-4B8C-83A1-F6EECF244321}">
                <p14:modId xmlns:p14="http://schemas.microsoft.com/office/powerpoint/2010/main" val="3063526982"/>
              </p:ext>
            </p:extLst>
          </p:nvPr>
        </p:nvGraphicFramePr>
        <p:xfrm>
          <a:off x="548640" y="1266395"/>
          <a:ext cx="11064240" cy="3835232"/>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866555">
                <a:tc>
                  <a:txBody>
                    <a:bodyPr/>
                    <a:lstStyle/>
                    <a:p>
                      <a:pPr algn="ctr">
                        <a:defRPr sz="1350" b="1">
                          <a:solidFill>
                            <a:srgbClr val="FFFFFF"/>
                          </a:solidFill>
                          <a:latin typeface="Calibri"/>
                        </a:defRPr>
                      </a:pPr>
                      <a:r>
                        <a:rPr sz="1600" dirty="0"/>
                        <a:t>Concept</a:t>
                      </a:r>
                    </a:p>
                  </a:txBody>
                  <a:tcPr>
                    <a:solidFill>
                      <a:srgbClr val="102C57"/>
                    </a:solidFill>
                  </a:tcPr>
                </a:tc>
                <a:tc>
                  <a:txBody>
                    <a:bodyPr/>
                    <a:lstStyle/>
                    <a:p>
                      <a:pPr algn="ctr">
                        <a:defRPr sz="1350" b="1">
                          <a:solidFill>
                            <a:srgbClr val="FFFFFF"/>
                          </a:solidFill>
                          <a:latin typeface="Calibri"/>
                        </a:defRPr>
                      </a:pPr>
                      <a:r>
                        <a:rPr sz="1600" dirty="0"/>
                        <a:t>Rolling Lookback Window (W = 10 Cycles)</a:t>
                      </a:r>
                    </a:p>
                  </a:txBody>
                  <a:tcPr>
                    <a:solidFill>
                      <a:srgbClr val="102C57"/>
                    </a:solidFill>
                  </a:tcPr>
                </a:tc>
                <a:tc>
                  <a:txBody>
                    <a:bodyPr/>
                    <a:lstStyle/>
                    <a:p>
                      <a:pPr algn="ctr">
                        <a:defRPr sz="1350" b="1">
                          <a:solidFill>
                            <a:srgbClr val="FFFFFF"/>
                          </a:solidFill>
                          <a:latin typeface="Calibri"/>
                        </a:defRPr>
                      </a:pPr>
                      <a:r>
                        <a:rPr sz="1600"/>
                        <a:t>Polling Checkpoint Interval (Δt = 5 Cycles)</a:t>
                      </a:r>
                    </a:p>
                  </a:txBody>
                  <a:tcPr>
                    <a:solidFill>
                      <a:srgbClr val="102C57"/>
                    </a:solidFill>
                  </a:tcPr>
                </a:tc>
                <a:extLst>
                  <a:ext uri="{0D108BD9-81ED-4DB2-BD59-A6C34878D82A}">
                    <a16:rowId xmlns:a16="http://schemas.microsoft.com/office/drawing/2014/main" val="10000"/>
                  </a:ext>
                </a:extLst>
              </a:tr>
              <a:tr h="989559">
                <a:tc>
                  <a:txBody>
                    <a:bodyPr/>
                    <a:lstStyle/>
                    <a:p>
                      <a:pPr algn="ctr">
                        <a:defRPr sz="1250" b="1">
                          <a:solidFill>
                            <a:srgbClr val="212529"/>
                          </a:solidFill>
                          <a:latin typeface="Calibri"/>
                        </a:defRPr>
                      </a:pPr>
                      <a:r>
                        <a:rPr sz="1800" dirty="0"/>
                        <a:t>Definition</a:t>
                      </a:r>
                    </a:p>
                  </a:txBody>
                  <a:tcPr>
                    <a:solidFill>
                      <a:srgbClr val="F5F7FA"/>
                    </a:solidFill>
                  </a:tcPr>
                </a:tc>
                <a:tc>
                  <a:txBody>
                    <a:bodyPr/>
                    <a:lstStyle/>
                    <a:p>
                      <a:pPr algn="l">
                        <a:defRPr sz="1250" b="0">
                          <a:solidFill>
                            <a:srgbClr val="212529"/>
                          </a:solidFill>
                          <a:latin typeface="Calibri"/>
                        </a:defRPr>
                      </a:pPr>
                      <a:r>
                        <a:rPr sz="1800"/>
                        <a:t>Historical memory depth looking backward in time (Cycle t minus t-10).</a:t>
                      </a:r>
                    </a:p>
                  </a:txBody>
                  <a:tcPr>
                    <a:solidFill>
                      <a:srgbClr val="F5F7FA"/>
                    </a:solidFill>
                  </a:tcPr>
                </a:tc>
                <a:tc>
                  <a:txBody>
                    <a:bodyPr/>
                    <a:lstStyle/>
                    <a:p>
                      <a:pPr algn="l">
                        <a:defRPr sz="1250" b="0">
                          <a:solidFill>
                            <a:srgbClr val="212529"/>
                          </a:solidFill>
                          <a:latin typeface="Calibri"/>
                        </a:defRPr>
                      </a:pPr>
                      <a:r>
                        <a:rPr sz="1800"/>
                        <a:t>Forward execution step telling the BMS microcontroller how often to run AI inference.</a:t>
                      </a:r>
                    </a:p>
                  </a:txBody>
                  <a:tcPr>
                    <a:solidFill>
                      <a:srgbClr val="F5F7FA"/>
                    </a:solidFill>
                  </a:tcPr>
                </a:tc>
                <a:extLst>
                  <a:ext uri="{0D108BD9-81ED-4DB2-BD59-A6C34878D82A}">
                    <a16:rowId xmlns:a16="http://schemas.microsoft.com/office/drawing/2014/main" val="10001"/>
                  </a:ext>
                </a:extLst>
              </a:tr>
              <a:tr h="989559">
                <a:tc>
                  <a:txBody>
                    <a:bodyPr/>
                    <a:lstStyle/>
                    <a:p>
                      <a:pPr algn="ctr">
                        <a:defRPr sz="1250" b="1">
                          <a:solidFill>
                            <a:srgbClr val="212529"/>
                          </a:solidFill>
                          <a:latin typeface="Calibri"/>
                        </a:defRPr>
                      </a:pPr>
                      <a:r>
                        <a:rPr sz="1800" dirty="0"/>
                        <a:t>Function</a:t>
                      </a:r>
                    </a:p>
                  </a:txBody>
                  <a:tcPr>
                    <a:solidFill>
                      <a:srgbClr val="FFFFFF"/>
                    </a:solidFill>
                  </a:tcPr>
                </a:tc>
                <a:tc>
                  <a:txBody>
                    <a:bodyPr/>
                    <a:lstStyle/>
                    <a:p>
                      <a:pPr algn="l">
                        <a:defRPr sz="1250" b="0">
                          <a:solidFill>
                            <a:srgbClr val="212529"/>
                          </a:solidFill>
                          <a:latin typeface="Calibri"/>
                        </a:defRPr>
                      </a:pPr>
                      <a:r>
                        <a:rPr sz="1800" dirty="0"/>
                        <a:t>Feature Extraction</a:t>
                      </a:r>
                      <a:r>
                        <a:rPr lang="en-IN" sz="1800" dirty="0"/>
                        <a:t>:</a:t>
                      </a:r>
                      <a:r>
                        <a:rPr sz="1800" dirty="0"/>
                        <a:t> Calculates voltage curve variance (</a:t>
                      </a:r>
                      <a:r>
                        <a:rPr sz="1800" dirty="0" err="1"/>
                        <a:t>dQ_log_var</a:t>
                      </a:r>
                      <a:r>
                        <a:rPr sz="1800" dirty="0"/>
                        <a:t>) and capacity fade slope over past 10 cycles.</a:t>
                      </a:r>
                    </a:p>
                  </a:txBody>
                  <a:tcPr>
                    <a:solidFill>
                      <a:srgbClr val="FFFFFF"/>
                    </a:solidFill>
                  </a:tcPr>
                </a:tc>
                <a:tc>
                  <a:txBody>
                    <a:bodyPr/>
                    <a:lstStyle/>
                    <a:p>
                      <a:pPr algn="l">
                        <a:defRPr sz="1250" b="0">
                          <a:solidFill>
                            <a:srgbClr val="212529"/>
                          </a:solidFill>
                          <a:latin typeface="Calibri"/>
                        </a:defRPr>
                      </a:pPr>
                      <a:r>
                        <a:rPr sz="1800" dirty="0"/>
                        <a:t>Execution Scheduling</a:t>
                      </a:r>
                      <a:r>
                        <a:rPr lang="en-IN" sz="1800" dirty="0"/>
                        <a:t>: </a:t>
                      </a:r>
                      <a:r>
                        <a:rPr sz="1800" dirty="0"/>
                        <a:t>Controls real-time vehicle dashboard updates and system wake-ups.</a:t>
                      </a:r>
                    </a:p>
                  </a:txBody>
                  <a:tcPr>
                    <a:solidFill>
                      <a:srgbClr val="FFFFFF"/>
                    </a:solidFill>
                  </a:tcPr>
                </a:tc>
                <a:extLst>
                  <a:ext uri="{0D108BD9-81ED-4DB2-BD59-A6C34878D82A}">
                    <a16:rowId xmlns:a16="http://schemas.microsoft.com/office/drawing/2014/main" val="10002"/>
                  </a:ext>
                </a:extLst>
              </a:tr>
              <a:tr h="989559">
                <a:tc>
                  <a:txBody>
                    <a:bodyPr/>
                    <a:lstStyle/>
                    <a:p>
                      <a:pPr algn="ctr">
                        <a:defRPr sz="1250" b="1">
                          <a:solidFill>
                            <a:srgbClr val="212529"/>
                          </a:solidFill>
                          <a:latin typeface="Calibri"/>
                        </a:defRPr>
                      </a:pPr>
                      <a:r>
                        <a:rPr sz="1800"/>
                        <a:t>Why Chosen Value Matters</a:t>
                      </a:r>
                    </a:p>
                  </a:txBody>
                  <a:tcPr>
                    <a:solidFill>
                      <a:srgbClr val="F5F7FA"/>
                    </a:solidFill>
                  </a:tcPr>
                </a:tc>
                <a:tc>
                  <a:txBody>
                    <a:bodyPr/>
                    <a:lstStyle/>
                    <a:p>
                      <a:pPr algn="l">
                        <a:defRPr sz="1250" b="0">
                          <a:solidFill>
                            <a:srgbClr val="212529"/>
                          </a:solidFill>
                          <a:latin typeface="Calibri"/>
                        </a:defRPr>
                      </a:pPr>
                      <a:r>
                        <a:rPr sz="1800"/>
                        <a:t>W = 10 prevents cold-start initialization lag while filtering out instantaneous voltage sensor noise.</a:t>
                      </a:r>
                    </a:p>
                  </a:txBody>
                  <a:tcPr>
                    <a:solidFill>
                      <a:srgbClr val="F5F7FA"/>
                    </a:solidFill>
                  </a:tcPr>
                </a:tc>
                <a:tc>
                  <a:txBody>
                    <a:bodyPr/>
                    <a:lstStyle/>
                    <a:p>
                      <a:pPr algn="l">
                        <a:defRPr sz="1250" b="0">
                          <a:solidFill>
                            <a:srgbClr val="212529"/>
                          </a:solidFill>
                          <a:latin typeface="Calibri"/>
                        </a:defRPr>
                      </a:pPr>
                      <a:r>
                        <a:rPr sz="1800" dirty="0" err="1"/>
                        <a:t>Δt</a:t>
                      </a:r>
                      <a:r>
                        <a:rPr sz="1800" dirty="0"/>
                        <a:t> = 5 provides high-frequency continuous tracking to catch sudden end-of-life drops immediately.</a:t>
                      </a:r>
                    </a:p>
                  </a:txBody>
                  <a:tcPr>
                    <a:solidFill>
                      <a:srgbClr val="F5F7FA"/>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LightGBM Hyperparameter Tuning Experiments</a:t>
            </a:r>
          </a:p>
          <a:p>
            <a:pPr>
              <a:defRPr sz="1600">
                <a:solidFill>
                  <a:srgbClr val="0284C7"/>
                </a:solidFill>
                <a:latin typeface="Calibri"/>
              </a:defRPr>
            </a:pPr>
            <a:r>
              <a:t>Preventing Overfitting on Noisy Automotive Microcontrollers (Full Screen Table)</a:t>
            </a:r>
          </a:p>
        </p:txBody>
      </p:sp>
      <p:graphicFrame>
        <p:nvGraphicFramePr>
          <p:cNvPr id="3" name="Table 2"/>
          <p:cNvGraphicFramePr>
            <a:graphicFrameLocks noGrp="1"/>
          </p:cNvGraphicFramePr>
          <p:nvPr>
            <p:extLst>
              <p:ext uri="{D42A27DB-BD31-4B8C-83A1-F6EECF244321}">
                <p14:modId xmlns:p14="http://schemas.microsoft.com/office/powerpoint/2010/main" val="1669703325"/>
              </p:ext>
            </p:extLst>
          </p:nvPr>
        </p:nvGraphicFramePr>
        <p:xfrm>
          <a:off x="457200" y="1645920"/>
          <a:ext cx="11277295" cy="3657600"/>
        </p:xfrm>
        <a:graphic>
          <a:graphicData uri="http://schemas.openxmlformats.org/drawingml/2006/table">
            <a:tbl>
              <a:tblPr firstRow="1" bandRow="1">
                <a:tableStyleId>{5C22544A-7EE6-4342-B048-85BDC9FD1C3A}</a:tableStyleId>
              </a:tblPr>
              <a:tblGrid>
                <a:gridCol w="1409661">
                  <a:extLst>
                    <a:ext uri="{9D8B030D-6E8A-4147-A177-3AD203B41FA5}">
                      <a16:colId xmlns:a16="http://schemas.microsoft.com/office/drawing/2014/main" val="20000"/>
                    </a:ext>
                  </a:extLst>
                </a:gridCol>
                <a:gridCol w="1409661">
                  <a:extLst>
                    <a:ext uri="{9D8B030D-6E8A-4147-A177-3AD203B41FA5}">
                      <a16:colId xmlns:a16="http://schemas.microsoft.com/office/drawing/2014/main" val="20001"/>
                    </a:ext>
                  </a:extLst>
                </a:gridCol>
                <a:gridCol w="1409661">
                  <a:extLst>
                    <a:ext uri="{9D8B030D-6E8A-4147-A177-3AD203B41FA5}">
                      <a16:colId xmlns:a16="http://schemas.microsoft.com/office/drawing/2014/main" val="20002"/>
                    </a:ext>
                  </a:extLst>
                </a:gridCol>
                <a:gridCol w="1409661">
                  <a:extLst>
                    <a:ext uri="{9D8B030D-6E8A-4147-A177-3AD203B41FA5}">
                      <a16:colId xmlns:a16="http://schemas.microsoft.com/office/drawing/2014/main" val="20003"/>
                    </a:ext>
                  </a:extLst>
                </a:gridCol>
                <a:gridCol w="1409661">
                  <a:extLst>
                    <a:ext uri="{9D8B030D-6E8A-4147-A177-3AD203B41FA5}">
                      <a16:colId xmlns:a16="http://schemas.microsoft.com/office/drawing/2014/main" val="20004"/>
                    </a:ext>
                  </a:extLst>
                </a:gridCol>
                <a:gridCol w="1409661">
                  <a:extLst>
                    <a:ext uri="{9D8B030D-6E8A-4147-A177-3AD203B41FA5}">
                      <a16:colId xmlns:a16="http://schemas.microsoft.com/office/drawing/2014/main" val="20005"/>
                    </a:ext>
                  </a:extLst>
                </a:gridCol>
                <a:gridCol w="1409661">
                  <a:extLst>
                    <a:ext uri="{9D8B030D-6E8A-4147-A177-3AD203B41FA5}">
                      <a16:colId xmlns:a16="http://schemas.microsoft.com/office/drawing/2014/main" val="20006"/>
                    </a:ext>
                  </a:extLst>
                </a:gridCol>
                <a:gridCol w="1409668">
                  <a:extLst>
                    <a:ext uri="{9D8B030D-6E8A-4147-A177-3AD203B41FA5}">
                      <a16:colId xmlns:a16="http://schemas.microsoft.com/office/drawing/2014/main" val="20007"/>
                    </a:ext>
                  </a:extLst>
                </a:gridCol>
              </a:tblGrid>
              <a:tr h="548640">
                <a:tc>
                  <a:txBody>
                    <a:bodyPr/>
                    <a:lstStyle/>
                    <a:p>
                      <a:pPr algn="ctr">
                        <a:defRPr sz="1500" b="1">
                          <a:solidFill>
                            <a:srgbClr val="FFFFFF"/>
                          </a:solidFill>
                        </a:defRPr>
                      </a:pPr>
                      <a:r>
                        <a:t>Config</a:t>
                      </a:r>
                    </a:p>
                  </a:txBody>
                  <a:tcPr>
                    <a:solidFill>
                      <a:srgbClr val="0F172A"/>
                    </a:solidFill>
                  </a:tcPr>
                </a:tc>
                <a:tc>
                  <a:txBody>
                    <a:bodyPr/>
                    <a:lstStyle/>
                    <a:p>
                      <a:pPr algn="ctr">
                        <a:defRPr sz="1500" b="1">
                          <a:solidFill>
                            <a:srgbClr val="FFFFFF"/>
                          </a:solidFill>
                        </a:defRPr>
                      </a:pPr>
                      <a:r>
                        <a:t>Trees</a:t>
                      </a:r>
                    </a:p>
                  </a:txBody>
                  <a:tcPr>
                    <a:solidFill>
                      <a:srgbClr val="0F172A"/>
                    </a:solidFill>
                  </a:tcPr>
                </a:tc>
                <a:tc>
                  <a:txBody>
                    <a:bodyPr/>
                    <a:lstStyle/>
                    <a:p>
                      <a:pPr algn="ctr">
                        <a:defRPr sz="1500" b="1">
                          <a:solidFill>
                            <a:srgbClr val="FFFFFF"/>
                          </a:solidFill>
                        </a:defRPr>
                      </a:pPr>
                      <a:r>
                        <a:t>Leaves</a:t>
                      </a:r>
                    </a:p>
                  </a:txBody>
                  <a:tcPr>
                    <a:solidFill>
                      <a:srgbClr val="0F172A"/>
                    </a:solidFill>
                  </a:tcPr>
                </a:tc>
                <a:tc>
                  <a:txBody>
                    <a:bodyPr/>
                    <a:lstStyle/>
                    <a:p>
                      <a:pPr algn="ctr">
                        <a:defRPr sz="1500" b="1">
                          <a:solidFill>
                            <a:srgbClr val="FFFFFF"/>
                          </a:solidFill>
                        </a:defRPr>
                      </a:pPr>
                      <a:r>
                        <a:t>LR</a:t>
                      </a:r>
                    </a:p>
                  </a:txBody>
                  <a:tcPr>
                    <a:solidFill>
                      <a:srgbClr val="0F172A"/>
                    </a:solidFill>
                  </a:tcPr>
                </a:tc>
                <a:tc>
                  <a:txBody>
                    <a:bodyPr/>
                    <a:lstStyle/>
                    <a:p>
                      <a:pPr algn="ctr">
                        <a:defRPr sz="1500" b="1">
                          <a:solidFill>
                            <a:srgbClr val="FFFFFF"/>
                          </a:solidFill>
                        </a:defRPr>
                      </a:pPr>
                      <a:r>
                        <a:t>MAE Error</a:t>
                      </a:r>
                    </a:p>
                  </a:txBody>
                  <a:tcPr>
                    <a:solidFill>
                      <a:srgbClr val="0F172A"/>
                    </a:solidFill>
                  </a:tcPr>
                </a:tc>
                <a:tc>
                  <a:txBody>
                    <a:bodyPr/>
                    <a:lstStyle/>
                    <a:p>
                      <a:pPr algn="ctr">
                        <a:defRPr sz="1500" b="1">
                          <a:solidFill>
                            <a:srgbClr val="FFFFFF"/>
                          </a:solidFill>
                        </a:defRPr>
                      </a:pPr>
                      <a:r>
                        <a:t>Accuracy (R²)</a:t>
                      </a:r>
                    </a:p>
                  </a:txBody>
                  <a:tcPr>
                    <a:solidFill>
                      <a:srgbClr val="0F172A"/>
                    </a:solidFill>
                  </a:tcPr>
                </a:tc>
                <a:tc>
                  <a:txBody>
                    <a:bodyPr/>
                    <a:lstStyle/>
                    <a:p>
                      <a:pPr algn="ctr">
                        <a:defRPr sz="1500" b="1">
                          <a:solidFill>
                            <a:srgbClr val="FFFFFF"/>
                          </a:solidFill>
                        </a:defRPr>
                      </a:pPr>
                      <a:r>
                        <a:t>Std Dev (σ)</a:t>
                      </a:r>
                    </a:p>
                  </a:txBody>
                  <a:tcPr>
                    <a:solidFill>
                      <a:srgbClr val="0F172A"/>
                    </a:solidFill>
                  </a:tcPr>
                </a:tc>
                <a:tc>
                  <a:txBody>
                    <a:bodyPr/>
                    <a:lstStyle/>
                    <a:p>
                      <a:pPr algn="ctr">
                        <a:defRPr sz="1500" b="1">
                          <a:solidFill>
                            <a:srgbClr val="FFFFFF"/>
                          </a:solidFill>
                        </a:defRPr>
                      </a:pPr>
                      <a:r>
                        <a:rPr dirty="0"/>
                        <a:t>Remarks</a:t>
                      </a:r>
                    </a:p>
                  </a:txBody>
                  <a:tcPr>
                    <a:solidFill>
                      <a:srgbClr val="0F172A"/>
                    </a:solidFill>
                  </a:tcPr>
                </a:tc>
                <a:extLst>
                  <a:ext uri="{0D108BD9-81ED-4DB2-BD59-A6C34878D82A}">
                    <a16:rowId xmlns:a16="http://schemas.microsoft.com/office/drawing/2014/main" val="10000"/>
                  </a:ext>
                </a:extLst>
              </a:tr>
              <a:tr h="548640">
                <a:tc>
                  <a:txBody>
                    <a:bodyPr/>
                    <a:lstStyle/>
                    <a:p>
                      <a:pPr>
                        <a:defRPr sz="1400">
                          <a:solidFill>
                            <a:srgbClr val="1E293B"/>
                          </a:solidFill>
                        </a:defRPr>
                      </a:pPr>
                      <a:r>
                        <a:t>Config 1 (Underfit)</a:t>
                      </a:r>
                    </a:p>
                  </a:txBody>
                  <a:tcPr/>
                </a:tc>
                <a:tc>
                  <a:txBody>
                    <a:bodyPr/>
                    <a:lstStyle/>
                    <a:p>
                      <a:pPr algn="ctr">
                        <a:defRPr sz="1400">
                          <a:solidFill>
                            <a:srgbClr val="1E293B"/>
                          </a:solidFill>
                        </a:defRPr>
                      </a:pPr>
                      <a:r>
                        <a:rPr sz="1600"/>
                        <a:t>100</a:t>
                      </a:r>
                    </a:p>
                  </a:txBody>
                  <a:tcPr/>
                </a:tc>
                <a:tc>
                  <a:txBody>
                    <a:bodyPr/>
                    <a:lstStyle/>
                    <a:p>
                      <a:pPr algn="ctr">
                        <a:defRPr sz="1400">
                          <a:solidFill>
                            <a:srgbClr val="1E293B"/>
                          </a:solidFill>
                        </a:defRPr>
                      </a:pPr>
                      <a:r>
                        <a:rPr sz="1600"/>
                        <a:t>15</a:t>
                      </a:r>
                    </a:p>
                  </a:txBody>
                  <a:tcPr/>
                </a:tc>
                <a:tc>
                  <a:txBody>
                    <a:bodyPr/>
                    <a:lstStyle/>
                    <a:p>
                      <a:pPr algn="ctr">
                        <a:defRPr sz="1400">
                          <a:solidFill>
                            <a:srgbClr val="1E293B"/>
                          </a:solidFill>
                        </a:defRPr>
                      </a:pPr>
                      <a:r>
                        <a:rPr sz="1600"/>
                        <a:t>0.10</a:t>
                      </a:r>
                    </a:p>
                  </a:txBody>
                  <a:tcPr/>
                </a:tc>
                <a:tc>
                  <a:txBody>
                    <a:bodyPr/>
                    <a:lstStyle/>
                    <a:p>
                      <a:pPr algn="ctr">
                        <a:defRPr sz="1400">
                          <a:solidFill>
                            <a:srgbClr val="1E293B"/>
                          </a:solidFill>
                        </a:defRPr>
                      </a:pPr>
                      <a:r>
                        <a:rPr sz="1600"/>
                        <a:t>90.99 Cycles</a:t>
                      </a:r>
                    </a:p>
                  </a:txBody>
                  <a:tcPr/>
                </a:tc>
                <a:tc>
                  <a:txBody>
                    <a:bodyPr/>
                    <a:lstStyle/>
                    <a:p>
                      <a:pPr algn="ctr">
                        <a:defRPr sz="1400">
                          <a:solidFill>
                            <a:srgbClr val="1E293B"/>
                          </a:solidFill>
                        </a:defRPr>
                      </a:pPr>
                      <a:r>
                        <a:rPr sz="1600"/>
                        <a:t>76.65%</a:t>
                      </a:r>
                    </a:p>
                  </a:txBody>
                  <a:tcPr/>
                </a:tc>
                <a:tc>
                  <a:txBody>
                    <a:bodyPr/>
                    <a:lstStyle/>
                    <a:p>
                      <a:pPr>
                        <a:defRPr sz="1400">
                          <a:solidFill>
                            <a:srgbClr val="1E293B"/>
                          </a:solidFill>
                        </a:defRPr>
                      </a:pPr>
                      <a:r>
                        <a:rPr sz="1600"/>
                        <a:t>111.20 Cycles</a:t>
                      </a:r>
                    </a:p>
                  </a:txBody>
                  <a:tcPr/>
                </a:tc>
                <a:tc>
                  <a:txBody>
                    <a:bodyPr/>
                    <a:lstStyle/>
                    <a:p>
                      <a:pPr>
                        <a:defRPr sz="1400">
                          <a:solidFill>
                            <a:srgbClr val="1E293B"/>
                          </a:solidFill>
                        </a:defRPr>
                      </a:pPr>
                      <a:r>
                        <a:t>Too simple; misses sudden drops.</a:t>
                      </a:r>
                    </a:p>
                  </a:txBody>
                  <a:tcPr/>
                </a:tc>
                <a:extLst>
                  <a:ext uri="{0D108BD9-81ED-4DB2-BD59-A6C34878D82A}">
                    <a16:rowId xmlns:a16="http://schemas.microsoft.com/office/drawing/2014/main" val="10001"/>
                  </a:ext>
                </a:extLst>
              </a:tr>
              <a:tr h="548640">
                <a:tc>
                  <a:txBody>
                    <a:bodyPr/>
                    <a:lstStyle/>
                    <a:p>
                      <a:pPr>
                        <a:defRPr sz="1400">
                          <a:solidFill>
                            <a:srgbClr val="1E293B"/>
                          </a:solidFill>
                        </a:defRPr>
                      </a:pPr>
                      <a:r>
                        <a:t>Config 2 (Overfit)</a:t>
                      </a:r>
                    </a:p>
                  </a:txBody>
                  <a:tcPr>
                    <a:solidFill>
                      <a:srgbClr val="F1F5F9"/>
                    </a:solidFill>
                  </a:tcPr>
                </a:tc>
                <a:tc>
                  <a:txBody>
                    <a:bodyPr/>
                    <a:lstStyle/>
                    <a:p>
                      <a:pPr algn="ctr">
                        <a:defRPr sz="1400">
                          <a:solidFill>
                            <a:srgbClr val="1E293B"/>
                          </a:solidFill>
                        </a:defRPr>
                      </a:pPr>
                      <a:r>
                        <a:rPr sz="1600"/>
                        <a:t>600</a:t>
                      </a:r>
                    </a:p>
                  </a:txBody>
                  <a:tcPr>
                    <a:solidFill>
                      <a:srgbClr val="F1F5F9"/>
                    </a:solidFill>
                  </a:tcPr>
                </a:tc>
                <a:tc>
                  <a:txBody>
                    <a:bodyPr/>
                    <a:lstStyle/>
                    <a:p>
                      <a:pPr algn="ctr">
                        <a:defRPr sz="1400">
                          <a:solidFill>
                            <a:srgbClr val="1E293B"/>
                          </a:solidFill>
                        </a:defRPr>
                      </a:pPr>
                      <a:r>
                        <a:rPr sz="1600"/>
                        <a:t>127</a:t>
                      </a:r>
                    </a:p>
                  </a:txBody>
                  <a:tcPr>
                    <a:solidFill>
                      <a:srgbClr val="F1F5F9"/>
                    </a:solidFill>
                  </a:tcPr>
                </a:tc>
                <a:tc>
                  <a:txBody>
                    <a:bodyPr/>
                    <a:lstStyle/>
                    <a:p>
                      <a:pPr algn="ctr">
                        <a:defRPr sz="1400">
                          <a:solidFill>
                            <a:srgbClr val="1E293B"/>
                          </a:solidFill>
                        </a:defRPr>
                      </a:pPr>
                      <a:r>
                        <a:rPr sz="1600"/>
                        <a:t>0.01</a:t>
                      </a:r>
                    </a:p>
                  </a:txBody>
                  <a:tcPr>
                    <a:solidFill>
                      <a:srgbClr val="F1F5F9"/>
                    </a:solidFill>
                  </a:tcPr>
                </a:tc>
                <a:tc>
                  <a:txBody>
                    <a:bodyPr/>
                    <a:lstStyle/>
                    <a:p>
                      <a:pPr algn="ctr">
                        <a:defRPr sz="1400">
                          <a:solidFill>
                            <a:srgbClr val="1E293B"/>
                          </a:solidFill>
                        </a:defRPr>
                      </a:pPr>
                      <a:r>
                        <a:rPr sz="1600"/>
                        <a:t>75.92 Cycles</a:t>
                      </a:r>
                    </a:p>
                  </a:txBody>
                  <a:tcPr>
                    <a:solidFill>
                      <a:srgbClr val="F1F5F9"/>
                    </a:solidFill>
                  </a:tcPr>
                </a:tc>
                <a:tc>
                  <a:txBody>
                    <a:bodyPr/>
                    <a:lstStyle/>
                    <a:p>
                      <a:pPr algn="ctr">
                        <a:defRPr sz="1400">
                          <a:solidFill>
                            <a:srgbClr val="1E293B"/>
                          </a:solidFill>
                        </a:defRPr>
                      </a:pPr>
                      <a:r>
                        <a:rPr sz="1600"/>
                        <a:t>81.23%</a:t>
                      </a:r>
                    </a:p>
                  </a:txBody>
                  <a:tcPr>
                    <a:solidFill>
                      <a:srgbClr val="F1F5F9"/>
                    </a:solidFill>
                  </a:tcPr>
                </a:tc>
                <a:tc>
                  <a:txBody>
                    <a:bodyPr/>
                    <a:lstStyle/>
                    <a:p>
                      <a:pPr>
                        <a:defRPr sz="1400">
                          <a:solidFill>
                            <a:srgbClr val="1E293B"/>
                          </a:solidFill>
                        </a:defRPr>
                      </a:pPr>
                      <a:r>
                        <a:rPr sz="1600"/>
                        <a:t>92.40 Cycles</a:t>
                      </a:r>
                    </a:p>
                  </a:txBody>
                  <a:tcPr>
                    <a:solidFill>
                      <a:srgbClr val="F1F5F9"/>
                    </a:solidFill>
                  </a:tcPr>
                </a:tc>
                <a:tc>
                  <a:txBody>
                    <a:bodyPr/>
                    <a:lstStyle/>
                    <a:p>
                      <a:pPr>
                        <a:defRPr sz="1400">
                          <a:solidFill>
                            <a:srgbClr val="1E293B"/>
                          </a:solidFill>
                        </a:defRPr>
                      </a:pPr>
                      <a:r>
                        <a:t>Too heavy for cheap car chips.</a:t>
                      </a:r>
                    </a:p>
                  </a:txBody>
                  <a:tcPr>
                    <a:solidFill>
                      <a:srgbClr val="F1F5F9"/>
                    </a:solidFill>
                  </a:tcPr>
                </a:tc>
                <a:extLst>
                  <a:ext uri="{0D108BD9-81ED-4DB2-BD59-A6C34878D82A}">
                    <a16:rowId xmlns:a16="http://schemas.microsoft.com/office/drawing/2014/main" val="10002"/>
                  </a:ext>
                </a:extLst>
              </a:tr>
              <a:tr h="548640">
                <a:tc>
                  <a:txBody>
                    <a:bodyPr/>
                    <a:lstStyle/>
                    <a:p>
                      <a:pPr>
                        <a:defRPr sz="1400">
                          <a:solidFill>
                            <a:srgbClr val="1E293B"/>
                          </a:solidFill>
                        </a:defRPr>
                      </a:pPr>
                      <a:r>
                        <a:t>Config 3 (Unregularized)</a:t>
                      </a:r>
                    </a:p>
                  </a:txBody>
                  <a:tcPr/>
                </a:tc>
                <a:tc>
                  <a:txBody>
                    <a:bodyPr/>
                    <a:lstStyle/>
                    <a:p>
                      <a:pPr algn="ctr">
                        <a:defRPr sz="1400">
                          <a:solidFill>
                            <a:srgbClr val="1E293B"/>
                          </a:solidFill>
                        </a:defRPr>
                      </a:pPr>
                      <a:r>
                        <a:rPr sz="1600"/>
                        <a:t>200</a:t>
                      </a:r>
                    </a:p>
                  </a:txBody>
                  <a:tcPr/>
                </a:tc>
                <a:tc>
                  <a:txBody>
                    <a:bodyPr/>
                    <a:lstStyle/>
                    <a:p>
                      <a:pPr algn="ctr">
                        <a:defRPr sz="1400">
                          <a:solidFill>
                            <a:srgbClr val="1E293B"/>
                          </a:solidFill>
                        </a:defRPr>
                      </a:pPr>
                      <a:r>
                        <a:rPr sz="1600"/>
                        <a:t>63</a:t>
                      </a:r>
                    </a:p>
                  </a:txBody>
                  <a:tcPr/>
                </a:tc>
                <a:tc>
                  <a:txBody>
                    <a:bodyPr/>
                    <a:lstStyle/>
                    <a:p>
                      <a:pPr algn="ctr">
                        <a:defRPr sz="1400">
                          <a:solidFill>
                            <a:srgbClr val="1E293B"/>
                          </a:solidFill>
                        </a:defRPr>
                      </a:pPr>
                      <a:r>
                        <a:rPr sz="1600"/>
                        <a:t>0.20</a:t>
                      </a:r>
                    </a:p>
                  </a:txBody>
                  <a:tcPr/>
                </a:tc>
                <a:tc>
                  <a:txBody>
                    <a:bodyPr/>
                    <a:lstStyle/>
                    <a:p>
                      <a:pPr algn="ctr">
                        <a:defRPr sz="1400">
                          <a:solidFill>
                            <a:srgbClr val="1E293B"/>
                          </a:solidFill>
                        </a:defRPr>
                      </a:pPr>
                      <a:r>
                        <a:rPr sz="1600"/>
                        <a:t>78.76 Cycles</a:t>
                      </a:r>
                    </a:p>
                  </a:txBody>
                  <a:tcPr/>
                </a:tc>
                <a:tc>
                  <a:txBody>
                    <a:bodyPr/>
                    <a:lstStyle/>
                    <a:p>
                      <a:pPr algn="ctr">
                        <a:defRPr sz="1400">
                          <a:solidFill>
                            <a:srgbClr val="1E293B"/>
                          </a:solidFill>
                        </a:defRPr>
                      </a:pPr>
                      <a:r>
                        <a:rPr sz="1600"/>
                        <a:t>79.90%</a:t>
                      </a:r>
                    </a:p>
                  </a:txBody>
                  <a:tcPr/>
                </a:tc>
                <a:tc>
                  <a:txBody>
                    <a:bodyPr/>
                    <a:lstStyle/>
                    <a:p>
                      <a:pPr>
                        <a:defRPr sz="1400">
                          <a:solidFill>
                            <a:srgbClr val="1E293B"/>
                          </a:solidFill>
                        </a:defRPr>
                      </a:pPr>
                      <a:r>
                        <a:rPr sz="1600"/>
                        <a:t>96.80 Cycles</a:t>
                      </a:r>
                    </a:p>
                  </a:txBody>
                  <a:tcPr/>
                </a:tc>
                <a:tc>
                  <a:txBody>
                    <a:bodyPr/>
                    <a:lstStyle/>
                    <a:p>
                      <a:pPr>
                        <a:defRPr sz="1400">
                          <a:solidFill>
                            <a:srgbClr val="1E293B"/>
                          </a:solidFill>
                        </a:defRPr>
                      </a:pPr>
                      <a:r>
                        <a:t>Jumpy countdown on rough roads.</a:t>
                      </a:r>
                    </a:p>
                  </a:txBody>
                  <a:tcPr/>
                </a:tc>
                <a:extLst>
                  <a:ext uri="{0D108BD9-81ED-4DB2-BD59-A6C34878D82A}">
                    <a16:rowId xmlns:a16="http://schemas.microsoft.com/office/drawing/2014/main" val="10003"/>
                  </a:ext>
                </a:extLst>
              </a:tr>
              <a:tr h="548640">
                <a:tc>
                  <a:txBody>
                    <a:bodyPr/>
                    <a:lstStyle/>
                    <a:p>
                      <a:pPr>
                        <a:defRPr sz="1400">
                          <a:solidFill>
                            <a:srgbClr val="1E293B"/>
                          </a:solidFill>
                        </a:defRPr>
                      </a:pPr>
                      <a:r>
                        <a:t>Config 4 (Chosen Optimal)</a:t>
                      </a:r>
                    </a:p>
                  </a:txBody>
                  <a:tcPr>
                    <a:solidFill>
                      <a:srgbClr val="F1F5F9"/>
                    </a:solidFill>
                  </a:tcPr>
                </a:tc>
                <a:tc>
                  <a:txBody>
                    <a:bodyPr/>
                    <a:lstStyle/>
                    <a:p>
                      <a:pPr algn="ctr">
                        <a:defRPr sz="1400">
                          <a:solidFill>
                            <a:srgbClr val="1E293B"/>
                          </a:solidFill>
                        </a:defRPr>
                      </a:pPr>
                      <a:r>
                        <a:rPr sz="1600"/>
                        <a:t>300</a:t>
                      </a:r>
                    </a:p>
                  </a:txBody>
                  <a:tcPr>
                    <a:solidFill>
                      <a:srgbClr val="F1F5F9"/>
                    </a:solidFill>
                  </a:tcPr>
                </a:tc>
                <a:tc>
                  <a:txBody>
                    <a:bodyPr/>
                    <a:lstStyle/>
                    <a:p>
                      <a:pPr algn="ctr">
                        <a:defRPr sz="1400">
                          <a:solidFill>
                            <a:srgbClr val="1E293B"/>
                          </a:solidFill>
                        </a:defRPr>
                      </a:pPr>
                      <a:r>
                        <a:rPr sz="1600"/>
                        <a:t>31</a:t>
                      </a:r>
                    </a:p>
                  </a:txBody>
                  <a:tcPr>
                    <a:solidFill>
                      <a:srgbClr val="F1F5F9"/>
                    </a:solidFill>
                  </a:tcPr>
                </a:tc>
                <a:tc>
                  <a:txBody>
                    <a:bodyPr/>
                    <a:lstStyle/>
                    <a:p>
                      <a:pPr algn="ctr">
                        <a:defRPr sz="1400">
                          <a:solidFill>
                            <a:srgbClr val="1E293B"/>
                          </a:solidFill>
                        </a:defRPr>
                      </a:pPr>
                      <a:r>
                        <a:rPr sz="1600"/>
                        <a:t>0.05</a:t>
                      </a:r>
                    </a:p>
                  </a:txBody>
                  <a:tcPr>
                    <a:solidFill>
                      <a:srgbClr val="F1F5F9"/>
                    </a:solidFill>
                  </a:tcPr>
                </a:tc>
                <a:tc>
                  <a:txBody>
                    <a:bodyPr/>
                    <a:lstStyle/>
                    <a:p>
                      <a:pPr algn="ctr">
                        <a:defRPr sz="1400">
                          <a:solidFill>
                            <a:srgbClr val="1E293B"/>
                          </a:solidFill>
                        </a:defRPr>
                      </a:pPr>
                      <a:r>
                        <a:rPr sz="1600"/>
                        <a:t>81.35 Cycles</a:t>
                      </a:r>
                    </a:p>
                  </a:txBody>
                  <a:tcPr>
                    <a:solidFill>
                      <a:srgbClr val="F1F5F9"/>
                    </a:solidFill>
                  </a:tcPr>
                </a:tc>
                <a:tc>
                  <a:txBody>
                    <a:bodyPr/>
                    <a:lstStyle/>
                    <a:p>
                      <a:pPr algn="ctr">
                        <a:defRPr sz="1400">
                          <a:solidFill>
                            <a:srgbClr val="1E293B"/>
                          </a:solidFill>
                        </a:defRPr>
                      </a:pPr>
                      <a:r>
                        <a:rPr sz="1600"/>
                        <a:t>78.52%</a:t>
                      </a:r>
                    </a:p>
                  </a:txBody>
                  <a:tcPr>
                    <a:solidFill>
                      <a:srgbClr val="F1F5F9"/>
                    </a:solidFill>
                  </a:tcPr>
                </a:tc>
                <a:tc>
                  <a:txBody>
                    <a:bodyPr/>
                    <a:lstStyle/>
                    <a:p>
                      <a:pPr>
                        <a:defRPr sz="1400">
                          <a:solidFill>
                            <a:srgbClr val="1E293B"/>
                          </a:solidFill>
                        </a:defRPr>
                      </a:pPr>
                      <a:r>
                        <a:rPr sz="1600"/>
                        <a:t>99.35 Cycles</a:t>
                      </a:r>
                    </a:p>
                  </a:txBody>
                  <a:tcPr>
                    <a:solidFill>
                      <a:srgbClr val="F1F5F9"/>
                    </a:solidFill>
                  </a:tcPr>
                </a:tc>
                <a:tc>
                  <a:txBody>
                    <a:bodyPr/>
                    <a:lstStyle/>
                    <a:p>
                      <a:pPr>
                        <a:defRPr sz="1400">
                          <a:solidFill>
                            <a:srgbClr val="1E293B"/>
                          </a:solidFill>
                        </a:defRPr>
                      </a:pPr>
                      <a:r>
                        <a:t>Best industrial car chip choice.</a:t>
                      </a:r>
                    </a:p>
                  </a:txBody>
                  <a:tcPr>
                    <a:solidFill>
                      <a:srgbClr val="F1F5F9"/>
                    </a:solidFill>
                  </a:tcPr>
                </a:tc>
                <a:extLst>
                  <a:ext uri="{0D108BD9-81ED-4DB2-BD59-A6C34878D82A}">
                    <a16:rowId xmlns:a16="http://schemas.microsoft.com/office/drawing/2014/main" val="10004"/>
                  </a:ext>
                </a:extLst>
              </a:tr>
              <a:tr h="548640">
                <a:tc>
                  <a:txBody>
                    <a:bodyPr/>
                    <a:lstStyle/>
                    <a:p>
                      <a:pPr>
                        <a:defRPr sz="1400">
                          <a:solidFill>
                            <a:srgbClr val="1E293B"/>
                          </a:solidFill>
                        </a:defRPr>
                      </a:pPr>
                      <a:r>
                        <a:t>Config 5 (Heavy Model)</a:t>
                      </a:r>
                    </a:p>
                  </a:txBody>
                  <a:tcPr/>
                </a:tc>
                <a:tc>
                  <a:txBody>
                    <a:bodyPr/>
                    <a:lstStyle/>
                    <a:p>
                      <a:pPr algn="ctr">
                        <a:defRPr sz="1400">
                          <a:solidFill>
                            <a:srgbClr val="1E293B"/>
                          </a:solidFill>
                        </a:defRPr>
                      </a:pPr>
                      <a:r>
                        <a:rPr sz="1600"/>
                        <a:t>500</a:t>
                      </a:r>
                    </a:p>
                  </a:txBody>
                  <a:tcPr/>
                </a:tc>
                <a:tc>
                  <a:txBody>
                    <a:bodyPr/>
                    <a:lstStyle/>
                    <a:p>
                      <a:pPr algn="ctr">
                        <a:defRPr sz="1400">
                          <a:solidFill>
                            <a:srgbClr val="1E293B"/>
                          </a:solidFill>
                        </a:defRPr>
                      </a:pPr>
                      <a:r>
                        <a:rPr sz="1600"/>
                        <a:t>31</a:t>
                      </a:r>
                    </a:p>
                  </a:txBody>
                  <a:tcPr/>
                </a:tc>
                <a:tc>
                  <a:txBody>
                    <a:bodyPr/>
                    <a:lstStyle/>
                    <a:p>
                      <a:pPr algn="ctr">
                        <a:defRPr sz="1400">
                          <a:solidFill>
                            <a:srgbClr val="1E293B"/>
                          </a:solidFill>
                        </a:defRPr>
                      </a:pPr>
                      <a:r>
                        <a:rPr sz="1600"/>
                        <a:t>0.05</a:t>
                      </a:r>
                    </a:p>
                  </a:txBody>
                  <a:tcPr/>
                </a:tc>
                <a:tc>
                  <a:txBody>
                    <a:bodyPr/>
                    <a:lstStyle/>
                    <a:p>
                      <a:pPr algn="ctr">
                        <a:defRPr sz="1400">
                          <a:solidFill>
                            <a:srgbClr val="1E293B"/>
                          </a:solidFill>
                        </a:defRPr>
                      </a:pPr>
                      <a:r>
                        <a:rPr sz="1600"/>
                        <a:t>80.17 Cycles</a:t>
                      </a:r>
                    </a:p>
                  </a:txBody>
                  <a:tcPr/>
                </a:tc>
                <a:tc>
                  <a:txBody>
                    <a:bodyPr/>
                    <a:lstStyle/>
                    <a:p>
                      <a:pPr algn="ctr">
                        <a:defRPr sz="1400">
                          <a:solidFill>
                            <a:srgbClr val="1E293B"/>
                          </a:solidFill>
                        </a:defRPr>
                      </a:pPr>
                      <a:r>
                        <a:rPr sz="1600"/>
                        <a:t>78.61%</a:t>
                      </a:r>
                    </a:p>
                  </a:txBody>
                  <a:tcPr/>
                </a:tc>
                <a:tc>
                  <a:txBody>
                    <a:bodyPr/>
                    <a:lstStyle/>
                    <a:p>
                      <a:pPr>
                        <a:defRPr sz="1400">
                          <a:solidFill>
                            <a:srgbClr val="1E293B"/>
                          </a:solidFill>
                        </a:defRPr>
                      </a:pPr>
                      <a:r>
                        <a:rPr sz="1600" dirty="0"/>
                        <a:t>98.10 Cycles</a:t>
                      </a:r>
                    </a:p>
                  </a:txBody>
                  <a:tcPr/>
                </a:tc>
                <a:tc>
                  <a:txBody>
                    <a:bodyPr/>
                    <a:lstStyle/>
                    <a:p>
                      <a:pPr>
                        <a:defRPr sz="1400">
                          <a:solidFill>
                            <a:srgbClr val="1E293B"/>
                          </a:solidFill>
                        </a:defRPr>
                      </a:pPr>
                      <a:r>
                        <a:rPr dirty="0"/>
                        <a:t>Slightly better, but slower chip.</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64240" cy="1005840"/>
          </a:xfrm>
          <a:prstGeom prst="rect">
            <a:avLst/>
          </a:prstGeom>
          <a:noFill/>
        </p:spPr>
        <p:txBody>
          <a:bodyPr wrap="square">
            <a:spAutoFit/>
          </a:bodyPr>
          <a:lstStyle/>
          <a:p>
            <a:pPr>
              <a:defRPr sz="2600" b="1">
                <a:solidFill>
                  <a:srgbClr val="102C57"/>
                </a:solidFill>
                <a:latin typeface="Calibri"/>
              </a:defRPr>
            </a:pPr>
            <a:r>
              <a:t>Baseline Model Hyperparameters &amp; Why LightGBM Wins</a:t>
            </a:r>
          </a:p>
          <a:p>
            <a:pPr>
              <a:defRPr sz="1500">
                <a:solidFill>
                  <a:srgbClr val="646E78"/>
                </a:solidFill>
                <a:latin typeface="Calibri"/>
              </a:defRPr>
            </a:pPr>
            <a:r>
              <a:t>Comparative Analysis of Training Parameters across Linear Regression, Random Forest, XGBoost, and LightGBM</a:t>
            </a:r>
          </a:p>
        </p:txBody>
      </p:sp>
      <p:graphicFrame>
        <p:nvGraphicFramePr>
          <p:cNvPr id="3" name="Table 2"/>
          <p:cNvGraphicFramePr>
            <a:graphicFrameLocks noGrp="1"/>
          </p:cNvGraphicFramePr>
          <p:nvPr>
            <p:extLst>
              <p:ext uri="{D42A27DB-BD31-4B8C-83A1-F6EECF244321}">
                <p14:modId xmlns:p14="http://schemas.microsoft.com/office/powerpoint/2010/main" val="2113793210"/>
              </p:ext>
            </p:extLst>
          </p:nvPr>
        </p:nvGraphicFramePr>
        <p:xfrm>
          <a:off x="548640" y="1463039"/>
          <a:ext cx="11064240" cy="4857922"/>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965921">
                <a:tc>
                  <a:txBody>
                    <a:bodyPr/>
                    <a:lstStyle/>
                    <a:p>
                      <a:pPr algn="ctr">
                        <a:defRPr sz="1350" b="1">
                          <a:solidFill>
                            <a:srgbClr val="FFFFFF"/>
                          </a:solidFill>
                          <a:latin typeface="Calibri"/>
                        </a:defRPr>
                      </a:pPr>
                      <a:r>
                        <a:rPr dirty="0"/>
                        <a:t>Model Family</a:t>
                      </a:r>
                    </a:p>
                  </a:txBody>
                  <a:tcPr>
                    <a:solidFill>
                      <a:srgbClr val="102C57"/>
                    </a:solidFill>
                  </a:tcPr>
                </a:tc>
                <a:tc>
                  <a:txBody>
                    <a:bodyPr/>
                    <a:lstStyle/>
                    <a:p>
                      <a:pPr algn="ctr">
                        <a:defRPr sz="1350" b="1">
                          <a:solidFill>
                            <a:srgbClr val="FFFFFF"/>
                          </a:solidFill>
                          <a:latin typeface="Calibri"/>
                        </a:defRPr>
                      </a:pPr>
                      <a:r>
                        <a:t>Key Hyperparameter Configuration Used</a:t>
                      </a:r>
                    </a:p>
                  </a:txBody>
                  <a:tcPr>
                    <a:solidFill>
                      <a:srgbClr val="102C57"/>
                    </a:solidFill>
                  </a:tcPr>
                </a:tc>
                <a:tc>
                  <a:txBody>
                    <a:bodyPr/>
                    <a:lstStyle/>
                    <a:p>
                      <a:pPr algn="ctr">
                        <a:defRPr sz="1350" b="1">
                          <a:solidFill>
                            <a:srgbClr val="FFFFFF"/>
                          </a:solidFill>
                          <a:latin typeface="Calibri"/>
                        </a:defRPr>
                      </a:pPr>
                      <a:r>
                        <a:t>Automotive ECU Feasibility &amp; Explanation</a:t>
                      </a:r>
                    </a:p>
                  </a:txBody>
                  <a:tcPr>
                    <a:solidFill>
                      <a:srgbClr val="102C57"/>
                    </a:solidFill>
                  </a:tcPr>
                </a:tc>
                <a:extLst>
                  <a:ext uri="{0D108BD9-81ED-4DB2-BD59-A6C34878D82A}">
                    <a16:rowId xmlns:a16="http://schemas.microsoft.com/office/drawing/2014/main" val="10000"/>
                  </a:ext>
                </a:extLst>
              </a:tr>
              <a:tr h="965921">
                <a:tc>
                  <a:txBody>
                    <a:bodyPr/>
                    <a:lstStyle/>
                    <a:p>
                      <a:pPr>
                        <a:defRPr sz="1200" b="1">
                          <a:solidFill>
                            <a:srgbClr val="212529"/>
                          </a:solidFill>
                          <a:latin typeface="Calibri"/>
                        </a:defRPr>
                      </a:pPr>
                      <a:r>
                        <a:rPr sz="1600"/>
                        <a:t>Linear Regression</a:t>
                      </a:r>
                    </a:p>
                    <a:p>
                      <a:pPr>
                        <a:defRPr sz="1150" b="1">
                          <a:solidFill>
                            <a:srgbClr val="323C46"/>
                          </a:solidFill>
                          <a:latin typeface="Calibri"/>
                        </a:defRPr>
                      </a:pPr>
                      <a:r>
                        <a:rPr sz="1400"/>
                        <a:t>(Severson Baseline)</a:t>
                      </a:r>
                    </a:p>
                  </a:txBody>
                  <a:tcPr>
                    <a:solidFill>
                      <a:srgbClr val="F5F7FA"/>
                    </a:solidFill>
                  </a:tcPr>
                </a:tc>
                <a:tc>
                  <a:txBody>
                    <a:bodyPr/>
                    <a:lstStyle/>
                    <a:p>
                      <a:pPr>
                        <a:defRPr sz="1200" b="0">
                          <a:solidFill>
                            <a:srgbClr val="212529"/>
                          </a:solidFill>
                          <a:latin typeface="Calibri"/>
                        </a:defRPr>
                      </a:pPr>
                      <a:r>
                        <a:rPr sz="1600"/>
                        <a:t>• Ridge Regularization: alpha = 1.0</a:t>
                      </a:r>
                    </a:p>
                    <a:p>
                      <a:pPr>
                        <a:defRPr sz="1150">
                          <a:solidFill>
                            <a:srgbClr val="323C46"/>
                          </a:solidFill>
                          <a:latin typeface="Calibri"/>
                        </a:defRPr>
                      </a:pPr>
                      <a:r>
                        <a:rPr sz="1400"/>
                        <a:t>• Feature Scaling: StandardScaler()</a:t>
                      </a:r>
                    </a:p>
                    <a:p>
                      <a:pPr>
                        <a:defRPr sz="1150">
                          <a:solidFill>
                            <a:srgbClr val="323C46"/>
                          </a:solidFill>
                          <a:latin typeface="Calibri"/>
                        </a:defRPr>
                      </a:pPr>
                      <a:r>
                        <a:rPr sz="1400"/>
                        <a:t>• Loss Function: L2 Mean Squared Error</a:t>
                      </a:r>
                    </a:p>
                  </a:txBody>
                  <a:tcPr>
                    <a:solidFill>
                      <a:srgbClr val="F5F7FA"/>
                    </a:solidFill>
                  </a:tcPr>
                </a:tc>
                <a:tc>
                  <a:txBody>
                    <a:bodyPr/>
                    <a:lstStyle/>
                    <a:p>
                      <a:pPr>
                        <a:defRPr sz="1200" b="1">
                          <a:solidFill>
                            <a:srgbClr val="B42828"/>
                          </a:solidFill>
                          <a:latin typeface="Calibri"/>
                        </a:defRPr>
                      </a:pPr>
                      <a:r>
                        <a:rPr sz="1600" dirty="0"/>
                        <a:t>DEPLOYABLE BUT HIGH ERROR (&gt; 150c MAE)</a:t>
                      </a:r>
                    </a:p>
                    <a:p>
                      <a:pPr>
                        <a:defRPr sz="1150">
                          <a:solidFill>
                            <a:srgbClr val="323C46"/>
                          </a:solidFill>
                          <a:latin typeface="Calibri"/>
                        </a:defRPr>
                      </a:pPr>
                      <a:r>
                        <a:rPr sz="1400" dirty="0"/>
                        <a:t>Linear models assume straight-line degradation, completely missing the late-life capacity plunge at 80% SOH.</a:t>
                      </a:r>
                    </a:p>
                  </a:txBody>
                  <a:tcPr>
                    <a:solidFill>
                      <a:srgbClr val="F5F7FA"/>
                    </a:solidFill>
                  </a:tcPr>
                </a:tc>
                <a:extLst>
                  <a:ext uri="{0D108BD9-81ED-4DB2-BD59-A6C34878D82A}">
                    <a16:rowId xmlns:a16="http://schemas.microsoft.com/office/drawing/2014/main" val="10001"/>
                  </a:ext>
                </a:extLst>
              </a:tr>
              <a:tr h="965921">
                <a:tc>
                  <a:txBody>
                    <a:bodyPr/>
                    <a:lstStyle/>
                    <a:p>
                      <a:pPr>
                        <a:defRPr sz="1200" b="1">
                          <a:solidFill>
                            <a:srgbClr val="212529"/>
                          </a:solidFill>
                          <a:latin typeface="Calibri"/>
                        </a:defRPr>
                      </a:pPr>
                      <a:r>
                        <a:rPr sz="1600"/>
                        <a:t>Random Forest</a:t>
                      </a:r>
                    </a:p>
                    <a:p>
                      <a:pPr>
                        <a:defRPr sz="1150" b="1">
                          <a:solidFill>
                            <a:srgbClr val="323C46"/>
                          </a:solidFill>
                          <a:latin typeface="Calibri"/>
                        </a:defRPr>
                      </a:pPr>
                      <a:r>
                        <a:rPr sz="1400"/>
                        <a:t>Regressor</a:t>
                      </a:r>
                    </a:p>
                  </a:txBody>
                  <a:tcPr>
                    <a:solidFill>
                      <a:srgbClr val="FFFFFF"/>
                    </a:solidFill>
                  </a:tcPr>
                </a:tc>
                <a:tc>
                  <a:txBody>
                    <a:bodyPr/>
                    <a:lstStyle/>
                    <a:p>
                      <a:pPr>
                        <a:defRPr sz="1200" b="0">
                          <a:solidFill>
                            <a:srgbClr val="212529"/>
                          </a:solidFill>
                          <a:latin typeface="Calibri"/>
                        </a:defRPr>
                      </a:pPr>
                      <a:r>
                        <a:rPr sz="1600" dirty="0"/>
                        <a:t>• </a:t>
                      </a:r>
                      <a:r>
                        <a:rPr sz="1600" dirty="0" err="1"/>
                        <a:t>n_estimators</a:t>
                      </a:r>
                      <a:r>
                        <a:rPr sz="1600" dirty="0"/>
                        <a:t> = 100 trees | </a:t>
                      </a:r>
                      <a:r>
                        <a:rPr sz="1600" dirty="0" err="1"/>
                        <a:t>max_depth</a:t>
                      </a:r>
                      <a:r>
                        <a:rPr sz="1600" dirty="0"/>
                        <a:t> = 12</a:t>
                      </a:r>
                    </a:p>
                    <a:p>
                      <a:pPr>
                        <a:defRPr sz="1150">
                          <a:solidFill>
                            <a:srgbClr val="323C46"/>
                          </a:solidFill>
                          <a:latin typeface="Calibri"/>
                        </a:defRPr>
                      </a:pPr>
                      <a:r>
                        <a:rPr sz="1400" dirty="0"/>
                        <a:t>• Bootstrap Sampling: True | </a:t>
                      </a:r>
                      <a:r>
                        <a:rPr sz="1400" dirty="0" err="1"/>
                        <a:t>max_features</a:t>
                      </a:r>
                      <a:r>
                        <a:rPr sz="1400" dirty="0"/>
                        <a:t> = 'sqrt'</a:t>
                      </a:r>
                    </a:p>
                    <a:p>
                      <a:pPr>
                        <a:defRPr sz="1150">
                          <a:solidFill>
                            <a:srgbClr val="323C46"/>
                          </a:solidFill>
                          <a:latin typeface="Calibri"/>
                        </a:defRPr>
                      </a:pPr>
                      <a:r>
                        <a:rPr sz="1400" dirty="0"/>
                        <a:t>• Split Criterion: Squared Error | </a:t>
                      </a:r>
                      <a:r>
                        <a:rPr sz="1400" dirty="0" err="1"/>
                        <a:t>n_jobs</a:t>
                      </a:r>
                      <a:r>
                        <a:rPr sz="1400" dirty="0"/>
                        <a:t> = -1</a:t>
                      </a:r>
                    </a:p>
                  </a:txBody>
                  <a:tcPr>
                    <a:solidFill>
                      <a:srgbClr val="FFFFFF"/>
                    </a:solidFill>
                  </a:tcPr>
                </a:tc>
                <a:tc>
                  <a:txBody>
                    <a:bodyPr/>
                    <a:lstStyle/>
                    <a:p>
                      <a:pPr>
                        <a:defRPr sz="1200" b="1">
                          <a:solidFill>
                            <a:srgbClr val="B42828"/>
                          </a:solidFill>
                          <a:latin typeface="Calibri"/>
                        </a:defRPr>
                      </a:pPr>
                      <a:r>
                        <a:rPr sz="1600" dirty="0"/>
                        <a:t>FAILED: OUT OF FLASH MEMORY (28.1 MB)</a:t>
                      </a:r>
                    </a:p>
                    <a:p>
                      <a:pPr>
                        <a:defRPr sz="1150">
                          <a:solidFill>
                            <a:srgbClr val="323C46"/>
                          </a:solidFill>
                          <a:latin typeface="Calibri"/>
                        </a:defRPr>
                      </a:pPr>
                      <a:r>
                        <a:rPr sz="1400" dirty="0"/>
                        <a:t>Builds 100 deep trees. Serialized object is 28.1 MB, exceeding the strict 1 MB Flash limit of low-cost ECUs by 28x</a:t>
                      </a:r>
                      <a:r>
                        <a:rPr lang="en-IN" sz="1400" dirty="0"/>
                        <a:t>.</a:t>
                      </a:r>
                      <a:endParaRPr sz="1400" dirty="0"/>
                    </a:p>
                  </a:txBody>
                  <a:tcPr>
                    <a:solidFill>
                      <a:srgbClr val="FFFFFF"/>
                    </a:solidFill>
                  </a:tcPr>
                </a:tc>
                <a:extLst>
                  <a:ext uri="{0D108BD9-81ED-4DB2-BD59-A6C34878D82A}">
                    <a16:rowId xmlns:a16="http://schemas.microsoft.com/office/drawing/2014/main" val="10002"/>
                  </a:ext>
                </a:extLst>
              </a:tr>
              <a:tr h="965921">
                <a:tc>
                  <a:txBody>
                    <a:bodyPr/>
                    <a:lstStyle/>
                    <a:p>
                      <a:pPr>
                        <a:defRPr sz="1200" b="1">
                          <a:solidFill>
                            <a:srgbClr val="212529"/>
                          </a:solidFill>
                          <a:latin typeface="Calibri"/>
                        </a:defRPr>
                      </a:pPr>
                      <a:r>
                        <a:rPr sz="1600"/>
                        <a:t>XGBoost Regressor</a:t>
                      </a:r>
                    </a:p>
                    <a:p>
                      <a:pPr>
                        <a:defRPr sz="1150" b="1">
                          <a:solidFill>
                            <a:srgbClr val="323C46"/>
                          </a:solidFill>
                          <a:latin typeface="Calibri"/>
                        </a:defRPr>
                      </a:pPr>
                      <a:r>
                        <a:rPr sz="1400"/>
                        <a:t>(Gradient Boosting)</a:t>
                      </a:r>
                    </a:p>
                  </a:txBody>
                  <a:tcPr>
                    <a:solidFill>
                      <a:srgbClr val="F5F7FA"/>
                    </a:solidFill>
                  </a:tcPr>
                </a:tc>
                <a:tc>
                  <a:txBody>
                    <a:bodyPr/>
                    <a:lstStyle/>
                    <a:p>
                      <a:pPr>
                        <a:defRPr sz="1200" b="0">
                          <a:solidFill>
                            <a:srgbClr val="212529"/>
                          </a:solidFill>
                          <a:latin typeface="Calibri"/>
                        </a:defRPr>
                      </a:pPr>
                      <a:r>
                        <a:rPr sz="1600"/>
                        <a:t>• n_estimators = 300 | learning_rate = 0.05</a:t>
                      </a:r>
                    </a:p>
                    <a:p>
                      <a:pPr>
                        <a:defRPr sz="1150">
                          <a:solidFill>
                            <a:srgbClr val="323C46"/>
                          </a:solidFill>
                          <a:latin typeface="Calibri"/>
                        </a:defRPr>
                      </a:pPr>
                      <a:r>
                        <a:rPr sz="1400"/>
                        <a:t>• max_depth = 6 | subsample = 0.8 | colsample = 0.8</a:t>
                      </a:r>
                    </a:p>
                    <a:p>
                      <a:pPr>
                        <a:defRPr sz="1150">
                          <a:solidFill>
                            <a:srgbClr val="323C46"/>
                          </a:solidFill>
                          <a:latin typeface="Calibri"/>
                        </a:defRPr>
                      </a:pPr>
                      <a:r>
                        <a:rPr sz="1400"/>
                        <a:t>• Tree Growth: Level-wise (Depth-First)</a:t>
                      </a:r>
                    </a:p>
                  </a:txBody>
                  <a:tcPr>
                    <a:solidFill>
                      <a:srgbClr val="F5F7FA"/>
                    </a:solidFill>
                  </a:tcPr>
                </a:tc>
                <a:tc>
                  <a:txBody>
                    <a:bodyPr/>
                    <a:lstStyle/>
                    <a:p>
                      <a:pPr>
                        <a:defRPr sz="1200" b="1">
                          <a:solidFill>
                            <a:srgbClr val="B42828"/>
                          </a:solidFill>
                          <a:latin typeface="Calibri"/>
                        </a:defRPr>
                      </a:pPr>
                      <a:r>
                        <a:rPr sz="1600" dirty="0"/>
                        <a:t>FAILED: EXCEEDS FLASH LIMIT (1.36 MB)</a:t>
                      </a:r>
                    </a:p>
                    <a:p>
                      <a:pPr>
                        <a:defRPr sz="1150">
                          <a:solidFill>
                            <a:srgbClr val="323C46"/>
                          </a:solidFill>
                          <a:latin typeface="Calibri"/>
                        </a:defRPr>
                      </a:pPr>
                      <a:r>
                        <a:rPr sz="1400" dirty="0"/>
                        <a:t>Level-wise tree growth across 300 trees creates excessive node bloat (1.36 MB), exceeding standard 1 MB automotive microcontroller limits.</a:t>
                      </a:r>
                    </a:p>
                  </a:txBody>
                  <a:tcPr>
                    <a:solidFill>
                      <a:srgbClr val="F5F7FA"/>
                    </a:solidFill>
                  </a:tcPr>
                </a:tc>
                <a:extLst>
                  <a:ext uri="{0D108BD9-81ED-4DB2-BD59-A6C34878D82A}">
                    <a16:rowId xmlns:a16="http://schemas.microsoft.com/office/drawing/2014/main" val="10003"/>
                  </a:ext>
                </a:extLst>
              </a:tr>
              <a:tr h="965921">
                <a:tc>
                  <a:txBody>
                    <a:bodyPr/>
                    <a:lstStyle/>
                    <a:p>
                      <a:pPr>
                        <a:defRPr sz="1200" b="1">
                          <a:solidFill>
                            <a:srgbClr val="212529"/>
                          </a:solidFill>
                          <a:latin typeface="Calibri"/>
                        </a:defRPr>
                      </a:pPr>
                      <a:r>
                        <a:rPr sz="1600"/>
                        <a:t>Our LightGBM</a:t>
                      </a:r>
                    </a:p>
                    <a:p>
                      <a:pPr>
                        <a:defRPr sz="1150" b="1">
                          <a:solidFill>
                            <a:srgbClr val="323C46"/>
                          </a:solidFill>
                          <a:latin typeface="Calibri"/>
                        </a:defRPr>
                      </a:pPr>
                      <a:r>
                        <a:rPr sz="1400"/>
                        <a:t>Framework (Ours)</a:t>
                      </a:r>
                    </a:p>
                  </a:txBody>
                  <a:tcPr>
                    <a:solidFill>
                      <a:srgbClr val="EBF5F0"/>
                    </a:solidFill>
                  </a:tcPr>
                </a:tc>
                <a:tc>
                  <a:txBody>
                    <a:bodyPr/>
                    <a:lstStyle/>
                    <a:p>
                      <a:pPr>
                        <a:defRPr sz="1200" b="1">
                          <a:solidFill>
                            <a:srgbClr val="212529"/>
                          </a:solidFill>
                          <a:latin typeface="Calibri"/>
                        </a:defRPr>
                      </a:pPr>
                      <a:r>
                        <a:rPr sz="1600"/>
                        <a:t>• n_estimators = 300 | learning_rate = 0.05</a:t>
                      </a:r>
                    </a:p>
                    <a:p>
                      <a:pPr>
                        <a:defRPr sz="1150">
                          <a:solidFill>
                            <a:srgbClr val="323C46"/>
                          </a:solidFill>
                          <a:latin typeface="Calibri"/>
                        </a:defRPr>
                      </a:pPr>
                      <a:r>
                        <a:rPr sz="1400"/>
                        <a:t>• max_depth = 7 | num_leaves = 31 | min_child = 20</a:t>
                      </a:r>
                    </a:p>
                    <a:p>
                      <a:pPr>
                        <a:defRPr sz="1150">
                          <a:solidFill>
                            <a:srgbClr val="323C46"/>
                          </a:solidFill>
                          <a:latin typeface="Calibri"/>
                        </a:defRPr>
                      </a:pPr>
                      <a:r>
                        <a:rPr sz="1400"/>
                        <a:t>• Tree Growth: Leaf-wise (Best-First) + GOSS &amp; EFB</a:t>
                      </a:r>
                    </a:p>
                  </a:txBody>
                  <a:tcPr>
                    <a:solidFill>
                      <a:srgbClr val="EBF5F0"/>
                    </a:solidFill>
                  </a:tcPr>
                </a:tc>
                <a:tc>
                  <a:txBody>
                    <a:bodyPr/>
                    <a:lstStyle/>
                    <a:p>
                      <a:pPr>
                        <a:defRPr sz="1200" b="1">
                          <a:solidFill>
                            <a:srgbClr val="198754"/>
                          </a:solidFill>
                          <a:latin typeface="Calibri"/>
                        </a:defRPr>
                      </a:pPr>
                      <a:r>
                        <a:rPr sz="1600" dirty="0"/>
                        <a:t>OPTIMAL EDGE WINNER (809 KB Flash, 0.41 </a:t>
                      </a:r>
                      <a:r>
                        <a:rPr sz="1600" dirty="0" err="1"/>
                        <a:t>ms</a:t>
                      </a:r>
                      <a:r>
                        <a:rPr sz="1600" dirty="0"/>
                        <a:t>)</a:t>
                      </a:r>
                    </a:p>
                    <a:p>
                      <a:pPr>
                        <a:defRPr sz="1150">
                          <a:solidFill>
                            <a:srgbClr val="323C46"/>
                          </a:solidFill>
                          <a:latin typeface="Calibri"/>
                        </a:defRPr>
                      </a:pPr>
                      <a:r>
                        <a:rPr sz="1400" dirty="0"/>
                        <a:t>Leaf-wise pruning and histogram binning compress the model into 809 KB, achieving the lowest error (79.91c MAE) within sub-</a:t>
                      </a:r>
                      <a:r>
                        <a:rPr sz="1400" dirty="0" err="1"/>
                        <a:t>ms</a:t>
                      </a:r>
                      <a:r>
                        <a:rPr sz="1400" dirty="0"/>
                        <a:t> execution</a:t>
                      </a:r>
                      <a:r>
                        <a:rPr lang="en-IN" sz="1400" dirty="0"/>
                        <a:t>.</a:t>
                      </a:r>
                      <a:endParaRPr sz="1400" dirty="0"/>
                    </a:p>
                  </a:txBody>
                  <a:tcPr>
                    <a:solidFill>
                      <a:srgbClr val="EBF5F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64240" cy="1005840"/>
          </a:xfrm>
          <a:prstGeom prst="rect">
            <a:avLst/>
          </a:prstGeom>
          <a:noFill/>
        </p:spPr>
        <p:txBody>
          <a:bodyPr wrap="square">
            <a:spAutoFit/>
          </a:bodyPr>
          <a:lstStyle/>
          <a:p>
            <a:pPr>
              <a:defRPr sz="2600" b="1">
                <a:solidFill>
                  <a:srgbClr val="102C57"/>
                </a:solidFill>
                <a:latin typeface="Calibri"/>
              </a:defRPr>
            </a:pPr>
            <a:r>
              <a:t>Empirical Benchmarking: LightGBM vs Baseline Models</a:t>
            </a:r>
          </a:p>
          <a:p>
            <a:pPr>
              <a:defRPr sz="1500">
                <a:solidFill>
                  <a:srgbClr val="646E78"/>
                </a:solidFill>
                <a:latin typeface="Calibri"/>
              </a:defRPr>
            </a:pPr>
            <a:r>
              <a:t>Evaluating Predictive Accuracy (MAE &amp; R²), Flash Size, MCU Loop Latency, and Automotive ECU Feasibility (Table 6 &amp; Fig. 6)</a:t>
            </a:r>
          </a:p>
        </p:txBody>
      </p:sp>
      <p:graphicFrame>
        <p:nvGraphicFramePr>
          <p:cNvPr id="3" name="Table 2"/>
          <p:cNvGraphicFramePr>
            <a:graphicFrameLocks noGrp="1"/>
          </p:cNvGraphicFramePr>
          <p:nvPr/>
        </p:nvGraphicFramePr>
        <p:xfrm>
          <a:off x="548640" y="1417320"/>
          <a:ext cx="11064240" cy="19202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3840480">
                  <a:extLst>
                    <a:ext uri="{9D8B030D-6E8A-4147-A177-3AD203B41FA5}">
                      <a16:colId xmlns:a16="http://schemas.microsoft.com/office/drawing/2014/main" val="20005"/>
                    </a:ext>
                  </a:extLst>
                </a:gridCol>
              </a:tblGrid>
              <a:tr h="384048">
                <a:tc>
                  <a:txBody>
                    <a:bodyPr/>
                    <a:lstStyle/>
                    <a:p>
                      <a:pPr algn="ctr">
                        <a:defRPr sz="1250" b="1">
                          <a:solidFill>
                            <a:srgbClr val="FFFFFF"/>
                          </a:solidFill>
                          <a:latin typeface="Calibri"/>
                        </a:defRPr>
                      </a:pPr>
                      <a:r>
                        <a:t>Model</a:t>
                      </a:r>
                    </a:p>
                  </a:txBody>
                  <a:tcPr>
                    <a:solidFill>
                      <a:srgbClr val="102C57"/>
                    </a:solidFill>
                  </a:tcPr>
                </a:tc>
                <a:tc>
                  <a:txBody>
                    <a:bodyPr/>
                    <a:lstStyle/>
                    <a:p>
                      <a:pPr algn="ctr">
                        <a:defRPr sz="1250" b="1">
                          <a:solidFill>
                            <a:srgbClr val="FFFFFF"/>
                          </a:solidFill>
                          <a:latin typeface="Calibri"/>
                        </a:defRPr>
                      </a:pPr>
                      <a:r>
                        <a:t>MAE (Cycles)</a:t>
                      </a:r>
                    </a:p>
                  </a:txBody>
                  <a:tcPr>
                    <a:solidFill>
                      <a:srgbClr val="102C57"/>
                    </a:solidFill>
                  </a:tcPr>
                </a:tc>
                <a:tc>
                  <a:txBody>
                    <a:bodyPr/>
                    <a:lstStyle/>
                    <a:p>
                      <a:pPr algn="ctr">
                        <a:defRPr sz="1250" b="1">
                          <a:solidFill>
                            <a:srgbClr val="FFFFFF"/>
                          </a:solidFill>
                          <a:latin typeface="Calibri"/>
                        </a:defRPr>
                      </a:pPr>
                      <a:r>
                        <a:t>R² (%)</a:t>
                      </a:r>
                    </a:p>
                  </a:txBody>
                  <a:tcPr>
                    <a:solidFill>
                      <a:srgbClr val="102C57"/>
                    </a:solidFill>
                  </a:tcPr>
                </a:tc>
                <a:tc>
                  <a:txBody>
                    <a:bodyPr/>
                    <a:lstStyle/>
                    <a:p>
                      <a:pPr algn="ctr">
                        <a:defRPr sz="1250" b="1">
                          <a:solidFill>
                            <a:srgbClr val="FFFFFF"/>
                          </a:solidFill>
                          <a:latin typeface="Calibri"/>
                        </a:defRPr>
                      </a:pPr>
                      <a:r>
                        <a:t>Flash Size</a:t>
                      </a:r>
                    </a:p>
                  </a:txBody>
                  <a:tcPr>
                    <a:solidFill>
                      <a:srgbClr val="102C57"/>
                    </a:solidFill>
                  </a:tcPr>
                </a:tc>
                <a:tc>
                  <a:txBody>
                    <a:bodyPr/>
                    <a:lstStyle/>
                    <a:p>
                      <a:pPr algn="ctr">
                        <a:defRPr sz="1250" b="1">
                          <a:solidFill>
                            <a:srgbClr val="FFFFFF"/>
                          </a:solidFill>
                          <a:latin typeface="Calibri"/>
                        </a:defRPr>
                      </a:pPr>
                      <a:r>
                        <a:t>MCU Loop</a:t>
                      </a:r>
                    </a:p>
                  </a:txBody>
                  <a:tcPr>
                    <a:solidFill>
                      <a:srgbClr val="102C57"/>
                    </a:solidFill>
                  </a:tcPr>
                </a:tc>
                <a:tc>
                  <a:txBody>
                    <a:bodyPr/>
                    <a:lstStyle/>
                    <a:p>
                      <a:pPr algn="ctr">
                        <a:defRPr sz="1250" b="1">
                          <a:solidFill>
                            <a:srgbClr val="FFFFFF"/>
                          </a:solidFill>
                          <a:latin typeface="Calibri"/>
                        </a:defRPr>
                      </a:pPr>
                      <a:r>
                        <a:t>Automotive ECU Feasibility</a:t>
                      </a:r>
                    </a:p>
                  </a:txBody>
                  <a:tcPr>
                    <a:solidFill>
                      <a:srgbClr val="102C57"/>
                    </a:solidFill>
                  </a:tcPr>
                </a:tc>
                <a:extLst>
                  <a:ext uri="{0D108BD9-81ED-4DB2-BD59-A6C34878D82A}">
                    <a16:rowId xmlns:a16="http://schemas.microsoft.com/office/drawing/2014/main" val="10000"/>
                  </a:ext>
                </a:extLst>
              </a:tr>
              <a:tr h="384048">
                <a:tc>
                  <a:txBody>
                    <a:bodyPr/>
                    <a:lstStyle/>
                    <a:p>
                      <a:pPr algn="l">
                        <a:defRPr sz="1150" b="1">
                          <a:solidFill>
                            <a:srgbClr val="212529"/>
                          </a:solidFill>
                          <a:latin typeface="Calibri"/>
                        </a:defRPr>
                      </a:pPr>
                      <a:r>
                        <a:t>Linear Regression</a:t>
                      </a:r>
                    </a:p>
                  </a:txBody>
                  <a:tcPr>
                    <a:solidFill>
                      <a:srgbClr val="F5F7FA"/>
                    </a:solidFill>
                  </a:tcPr>
                </a:tc>
                <a:tc>
                  <a:txBody>
                    <a:bodyPr/>
                    <a:lstStyle/>
                    <a:p>
                      <a:pPr algn="ctr">
                        <a:defRPr sz="1150" b="0">
                          <a:solidFill>
                            <a:srgbClr val="212529"/>
                          </a:solidFill>
                          <a:latin typeface="Calibri"/>
                        </a:defRPr>
                      </a:pPr>
                      <a:r>
                        <a:t>152.90</a:t>
                      </a:r>
                    </a:p>
                  </a:txBody>
                  <a:tcPr>
                    <a:solidFill>
                      <a:srgbClr val="F5F7FA"/>
                    </a:solidFill>
                  </a:tcPr>
                </a:tc>
                <a:tc>
                  <a:txBody>
                    <a:bodyPr/>
                    <a:lstStyle/>
                    <a:p>
                      <a:pPr algn="ctr">
                        <a:defRPr sz="1150" b="0">
                          <a:solidFill>
                            <a:srgbClr val="212529"/>
                          </a:solidFill>
                          <a:latin typeface="Calibri"/>
                        </a:defRPr>
                      </a:pPr>
                      <a:r>
                        <a:t>56.12%</a:t>
                      </a:r>
                    </a:p>
                  </a:txBody>
                  <a:tcPr>
                    <a:solidFill>
                      <a:srgbClr val="F5F7FA"/>
                    </a:solidFill>
                  </a:tcPr>
                </a:tc>
                <a:tc>
                  <a:txBody>
                    <a:bodyPr/>
                    <a:lstStyle/>
                    <a:p>
                      <a:pPr algn="ctr">
                        <a:defRPr sz="1150" b="0">
                          <a:solidFill>
                            <a:srgbClr val="212529"/>
                          </a:solidFill>
                          <a:latin typeface="Calibri"/>
                        </a:defRPr>
                      </a:pPr>
                      <a:r>
                        <a:t>1.2 KB</a:t>
                      </a:r>
                    </a:p>
                  </a:txBody>
                  <a:tcPr>
                    <a:solidFill>
                      <a:srgbClr val="F5F7FA"/>
                    </a:solidFill>
                  </a:tcPr>
                </a:tc>
                <a:tc>
                  <a:txBody>
                    <a:bodyPr/>
                    <a:lstStyle/>
                    <a:p>
                      <a:pPr algn="ctr">
                        <a:defRPr sz="1150" b="0">
                          <a:solidFill>
                            <a:srgbClr val="212529"/>
                          </a:solidFill>
                          <a:latin typeface="Calibri"/>
                        </a:defRPr>
                      </a:pPr>
                      <a:r>
                        <a:t>0.22 ms</a:t>
                      </a:r>
                    </a:p>
                  </a:txBody>
                  <a:tcPr>
                    <a:solidFill>
                      <a:srgbClr val="F5F7FA"/>
                    </a:solidFill>
                  </a:tcPr>
                </a:tc>
                <a:tc>
                  <a:txBody>
                    <a:bodyPr/>
                    <a:lstStyle/>
                    <a:p>
                      <a:pPr algn="l">
                        <a:defRPr sz="1150" b="0">
                          <a:solidFill>
                            <a:srgbClr val="212529"/>
                          </a:solidFill>
                          <a:latin typeface="Calibri"/>
                        </a:defRPr>
                      </a:pPr>
                      <a:r>
                        <a:t>Deployable but high error (&gt; 150c).</a:t>
                      </a:r>
                    </a:p>
                  </a:txBody>
                  <a:tcPr>
                    <a:solidFill>
                      <a:srgbClr val="F5F7FA"/>
                    </a:solidFill>
                  </a:tcPr>
                </a:tc>
                <a:extLst>
                  <a:ext uri="{0D108BD9-81ED-4DB2-BD59-A6C34878D82A}">
                    <a16:rowId xmlns:a16="http://schemas.microsoft.com/office/drawing/2014/main" val="10001"/>
                  </a:ext>
                </a:extLst>
              </a:tr>
              <a:tr h="384048">
                <a:tc>
                  <a:txBody>
                    <a:bodyPr/>
                    <a:lstStyle/>
                    <a:p>
                      <a:pPr algn="l">
                        <a:defRPr sz="1150" b="1">
                          <a:solidFill>
                            <a:srgbClr val="212529"/>
                          </a:solidFill>
                          <a:latin typeface="Calibri"/>
                        </a:defRPr>
                      </a:pPr>
                      <a:r>
                        <a:t>Random Forest</a:t>
                      </a:r>
                    </a:p>
                  </a:txBody>
                  <a:tcPr>
                    <a:solidFill>
                      <a:srgbClr val="FFFFFF"/>
                    </a:solidFill>
                  </a:tcPr>
                </a:tc>
                <a:tc>
                  <a:txBody>
                    <a:bodyPr/>
                    <a:lstStyle/>
                    <a:p>
                      <a:pPr algn="ctr">
                        <a:defRPr sz="1150" b="0">
                          <a:solidFill>
                            <a:srgbClr val="212529"/>
                          </a:solidFill>
                          <a:latin typeface="Calibri"/>
                        </a:defRPr>
                      </a:pPr>
                      <a:r>
                        <a:t>80.18</a:t>
                      </a:r>
                    </a:p>
                  </a:txBody>
                  <a:tcPr>
                    <a:solidFill>
                      <a:srgbClr val="FFFFFF"/>
                    </a:solidFill>
                  </a:tcPr>
                </a:tc>
                <a:tc>
                  <a:txBody>
                    <a:bodyPr/>
                    <a:lstStyle/>
                    <a:p>
                      <a:pPr algn="ctr">
                        <a:defRPr sz="1150" b="0">
                          <a:solidFill>
                            <a:srgbClr val="212529"/>
                          </a:solidFill>
                          <a:latin typeface="Calibri"/>
                        </a:defRPr>
                      </a:pPr>
                      <a:r>
                        <a:t>79.15%</a:t>
                      </a:r>
                    </a:p>
                  </a:txBody>
                  <a:tcPr>
                    <a:solidFill>
                      <a:srgbClr val="FFFFFF"/>
                    </a:solidFill>
                  </a:tcPr>
                </a:tc>
                <a:tc>
                  <a:txBody>
                    <a:bodyPr/>
                    <a:lstStyle/>
                    <a:p>
                      <a:pPr algn="ctr">
                        <a:defRPr sz="1150" b="0">
                          <a:solidFill>
                            <a:srgbClr val="212529"/>
                          </a:solidFill>
                          <a:latin typeface="Calibri"/>
                        </a:defRPr>
                      </a:pPr>
                      <a:r>
                        <a:t>28.1 MB</a:t>
                      </a:r>
                    </a:p>
                  </a:txBody>
                  <a:tcPr>
                    <a:solidFill>
                      <a:srgbClr val="FFFFFF"/>
                    </a:solidFill>
                  </a:tcPr>
                </a:tc>
                <a:tc>
                  <a:txBody>
                    <a:bodyPr/>
                    <a:lstStyle/>
                    <a:p>
                      <a:pPr algn="ctr">
                        <a:defRPr sz="1150" b="0">
                          <a:solidFill>
                            <a:srgbClr val="212529"/>
                          </a:solidFill>
                          <a:latin typeface="Calibri"/>
                        </a:defRPr>
                      </a:pPr>
                      <a:r>
                        <a:t>1.85 ms</a:t>
                      </a:r>
                    </a:p>
                  </a:txBody>
                  <a:tcPr>
                    <a:solidFill>
                      <a:srgbClr val="FFFFFF"/>
                    </a:solidFill>
                  </a:tcPr>
                </a:tc>
                <a:tc>
                  <a:txBody>
                    <a:bodyPr/>
                    <a:lstStyle/>
                    <a:p>
                      <a:pPr algn="l">
                        <a:defRPr sz="1150" b="1">
                          <a:solidFill>
                            <a:srgbClr val="B42828"/>
                          </a:solidFill>
                          <a:latin typeface="Calibri"/>
                        </a:defRPr>
                      </a:pPr>
                      <a:r>
                        <a:t>FAILED: Exceeds 1 MB Flash limit.</a:t>
                      </a:r>
                    </a:p>
                  </a:txBody>
                  <a:tcPr>
                    <a:solidFill>
                      <a:srgbClr val="FFFFFF"/>
                    </a:solidFill>
                  </a:tcPr>
                </a:tc>
                <a:extLst>
                  <a:ext uri="{0D108BD9-81ED-4DB2-BD59-A6C34878D82A}">
                    <a16:rowId xmlns:a16="http://schemas.microsoft.com/office/drawing/2014/main" val="10002"/>
                  </a:ext>
                </a:extLst>
              </a:tr>
              <a:tr h="384048">
                <a:tc>
                  <a:txBody>
                    <a:bodyPr/>
                    <a:lstStyle/>
                    <a:p>
                      <a:pPr algn="l">
                        <a:defRPr sz="1150" b="1">
                          <a:solidFill>
                            <a:srgbClr val="212529"/>
                          </a:solidFill>
                          <a:latin typeface="Calibri"/>
                        </a:defRPr>
                      </a:pPr>
                      <a:r>
                        <a:t>XGBoost Regressor</a:t>
                      </a:r>
                    </a:p>
                  </a:txBody>
                  <a:tcPr>
                    <a:solidFill>
                      <a:srgbClr val="F5F7FA"/>
                    </a:solidFill>
                  </a:tcPr>
                </a:tc>
                <a:tc>
                  <a:txBody>
                    <a:bodyPr/>
                    <a:lstStyle/>
                    <a:p>
                      <a:pPr algn="ctr">
                        <a:defRPr sz="1150" b="0">
                          <a:solidFill>
                            <a:srgbClr val="212529"/>
                          </a:solidFill>
                          <a:latin typeface="Calibri"/>
                        </a:defRPr>
                      </a:pPr>
                      <a:r>
                        <a:t>82.53</a:t>
                      </a:r>
                    </a:p>
                  </a:txBody>
                  <a:tcPr>
                    <a:solidFill>
                      <a:srgbClr val="F5F7FA"/>
                    </a:solidFill>
                  </a:tcPr>
                </a:tc>
                <a:tc>
                  <a:txBody>
                    <a:bodyPr/>
                    <a:lstStyle/>
                    <a:p>
                      <a:pPr algn="ctr">
                        <a:defRPr sz="1150" b="0">
                          <a:solidFill>
                            <a:srgbClr val="212529"/>
                          </a:solidFill>
                          <a:latin typeface="Calibri"/>
                        </a:defRPr>
                      </a:pPr>
                      <a:r>
                        <a:t>80.25%</a:t>
                      </a:r>
                    </a:p>
                  </a:txBody>
                  <a:tcPr>
                    <a:solidFill>
                      <a:srgbClr val="F5F7FA"/>
                    </a:solidFill>
                  </a:tcPr>
                </a:tc>
                <a:tc>
                  <a:txBody>
                    <a:bodyPr/>
                    <a:lstStyle/>
                    <a:p>
                      <a:pPr algn="ctr">
                        <a:defRPr sz="1150" b="0">
                          <a:solidFill>
                            <a:srgbClr val="212529"/>
                          </a:solidFill>
                          <a:latin typeface="Calibri"/>
                        </a:defRPr>
                      </a:pPr>
                      <a:r>
                        <a:t>1.36 MB</a:t>
                      </a:r>
                    </a:p>
                  </a:txBody>
                  <a:tcPr>
                    <a:solidFill>
                      <a:srgbClr val="F5F7FA"/>
                    </a:solidFill>
                  </a:tcPr>
                </a:tc>
                <a:tc>
                  <a:txBody>
                    <a:bodyPr/>
                    <a:lstStyle/>
                    <a:p>
                      <a:pPr algn="ctr">
                        <a:defRPr sz="1150" b="0">
                          <a:solidFill>
                            <a:srgbClr val="212529"/>
                          </a:solidFill>
                          <a:latin typeface="Calibri"/>
                        </a:defRPr>
                      </a:pPr>
                      <a:r>
                        <a:t>0.68 ms</a:t>
                      </a:r>
                    </a:p>
                  </a:txBody>
                  <a:tcPr>
                    <a:solidFill>
                      <a:srgbClr val="F5F7FA"/>
                    </a:solidFill>
                  </a:tcPr>
                </a:tc>
                <a:tc>
                  <a:txBody>
                    <a:bodyPr/>
                    <a:lstStyle/>
                    <a:p>
                      <a:pPr algn="l">
                        <a:defRPr sz="1150" b="1">
                          <a:solidFill>
                            <a:srgbClr val="B42828"/>
                          </a:solidFill>
                          <a:latin typeface="Calibri"/>
                        </a:defRPr>
                      </a:pPr>
                      <a:r>
                        <a:t>FAILED: Exceeds 1 MB Flash limit.</a:t>
                      </a:r>
                    </a:p>
                  </a:txBody>
                  <a:tcPr>
                    <a:solidFill>
                      <a:srgbClr val="F5F7FA"/>
                    </a:solidFill>
                  </a:tcPr>
                </a:tc>
                <a:extLst>
                  <a:ext uri="{0D108BD9-81ED-4DB2-BD59-A6C34878D82A}">
                    <a16:rowId xmlns:a16="http://schemas.microsoft.com/office/drawing/2014/main" val="10003"/>
                  </a:ext>
                </a:extLst>
              </a:tr>
              <a:tr h="384048">
                <a:tc>
                  <a:txBody>
                    <a:bodyPr/>
                    <a:lstStyle/>
                    <a:p>
                      <a:pPr algn="l">
                        <a:defRPr sz="1150" b="1">
                          <a:solidFill>
                            <a:srgbClr val="212529"/>
                          </a:solidFill>
                          <a:latin typeface="Calibri"/>
                        </a:defRPr>
                      </a:pPr>
                      <a:r>
                        <a:t>LightGBM (Ours)</a:t>
                      </a:r>
                    </a:p>
                  </a:txBody>
                  <a:tcPr>
                    <a:solidFill>
                      <a:srgbClr val="EBF5F0"/>
                    </a:solidFill>
                  </a:tcPr>
                </a:tc>
                <a:tc>
                  <a:txBody>
                    <a:bodyPr/>
                    <a:lstStyle/>
                    <a:p>
                      <a:pPr algn="ctr">
                        <a:defRPr sz="1150" b="1">
                          <a:solidFill>
                            <a:srgbClr val="198754"/>
                          </a:solidFill>
                          <a:latin typeface="Calibri"/>
                        </a:defRPr>
                      </a:pPr>
                      <a:r>
                        <a:t>79.91</a:t>
                      </a:r>
                    </a:p>
                  </a:txBody>
                  <a:tcPr>
                    <a:solidFill>
                      <a:srgbClr val="EBF5F0"/>
                    </a:solidFill>
                  </a:tcPr>
                </a:tc>
                <a:tc>
                  <a:txBody>
                    <a:bodyPr/>
                    <a:lstStyle/>
                    <a:p>
                      <a:pPr algn="ctr">
                        <a:defRPr sz="1150" b="1">
                          <a:solidFill>
                            <a:srgbClr val="198754"/>
                          </a:solidFill>
                          <a:latin typeface="Calibri"/>
                        </a:defRPr>
                      </a:pPr>
                      <a:r>
                        <a:t>81.62%</a:t>
                      </a:r>
                    </a:p>
                  </a:txBody>
                  <a:tcPr>
                    <a:solidFill>
                      <a:srgbClr val="EBF5F0"/>
                    </a:solidFill>
                  </a:tcPr>
                </a:tc>
                <a:tc>
                  <a:txBody>
                    <a:bodyPr/>
                    <a:lstStyle/>
                    <a:p>
                      <a:pPr algn="ctr">
                        <a:defRPr sz="1150" b="1">
                          <a:solidFill>
                            <a:srgbClr val="212529"/>
                          </a:solidFill>
                          <a:latin typeface="Calibri"/>
                        </a:defRPr>
                      </a:pPr>
                      <a:r>
                        <a:t>809 KB</a:t>
                      </a:r>
                    </a:p>
                  </a:txBody>
                  <a:tcPr>
                    <a:solidFill>
                      <a:srgbClr val="EBF5F0"/>
                    </a:solidFill>
                  </a:tcPr>
                </a:tc>
                <a:tc>
                  <a:txBody>
                    <a:bodyPr/>
                    <a:lstStyle/>
                    <a:p>
                      <a:pPr algn="ctr">
                        <a:defRPr sz="1150" b="1">
                          <a:solidFill>
                            <a:srgbClr val="212529"/>
                          </a:solidFill>
                          <a:latin typeface="Calibri"/>
                        </a:defRPr>
                      </a:pPr>
                      <a:r>
                        <a:t>0.41 ms</a:t>
                      </a:r>
                    </a:p>
                  </a:txBody>
                  <a:tcPr>
                    <a:solidFill>
                      <a:srgbClr val="EBF5F0"/>
                    </a:solidFill>
                  </a:tcPr>
                </a:tc>
                <a:tc>
                  <a:txBody>
                    <a:bodyPr/>
                    <a:lstStyle/>
                    <a:p>
                      <a:pPr algn="l">
                        <a:defRPr sz="1150" b="1">
                          <a:solidFill>
                            <a:srgbClr val="198754"/>
                          </a:solidFill>
                          <a:latin typeface="Calibri"/>
                        </a:defRPr>
                      </a:pPr>
                      <a:r>
                        <a:t>OPTIMAL: Fits Flash, &lt; 1.5 ms loop.</a:t>
                      </a:r>
                    </a:p>
                  </a:txBody>
                  <a:tcPr>
                    <a:solidFill>
                      <a:srgbClr val="EBF5F0"/>
                    </a:solidFill>
                  </a:tcPr>
                </a:tc>
                <a:extLst>
                  <a:ext uri="{0D108BD9-81ED-4DB2-BD59-A6C34878D82A}">
                    <a16:rowId xmlns:a16="http://schemas.microsoft.com/office/drawing/2014/main" val="10004"/>
                  </a:ext>
                </a:extLst>
              </a:tr>
            </a:tbl>
          </a:graphicData>
        </a:graphic>
      </p:graphicFrame>
      <p:pic>
        <p:nvPicPr>
          <p:cNvPr id="4" name="Picture 3" descr="model_comparison_bar_chart.png"/>
          <p:cNvPicPr>
            <a:picLocks noChangeAspect="1"/>
          </p:cNvPicPr>
          <p:nvPr/>
        </p:nvPicPr>
        <p:blipFill>
          <a:blip r:embed="rId2"/>
          <a:stretch>
            <a:fillRect/>
          </a:stretch>
        </p:blipFill>
        <p:spPr>
          <a:xfrm>
            <a:off x="548640" y="3520440"/>
            <a:ext cx="5486400" cy="29260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Unseen Test Cohort Validation Performance</a:t>
            </a:r>
          </a:p>
          <a:p>
            <a:pPr>
              <a:defRPr sz="1600">
                <a:solidFill>
                  <a:srgbClr val="0284C7"/>
                </a:solidFill>
                <a:latin typeface="Calibri"/>
              </a:defRPr>
            </a:pPr>
            <a:r>
              <a:t>Exact Generalization Results across Strictly Hidden Batteries</a:t>
            </a:r>
          </a:p>
        </p:txBody>
      </p:sp>
      <p:pic>
        <p:nvPicPr>
          <p:cNvPr id="3" name="Picture 2" descr="01_true_vs_predicted_rul.png"/>
          <p:cNvPicPr>
            <a:picLocks noChangeAspect="1"/>
          </p:cNvPicPr>
          <p:nvPr/>
        </p:nvPicPr>
        <p:blipFill>
          <a:blip r:embed="rId2"/>
          <a:stretch>
            <a:fillRect/>
          </a:stretch>
        </p:blipFill>
        <p:spPr>
          <a:xfrm>
            <a:off x="0" y="1463040"/>
            <a:ext cx="6583680" cy="4937760"/>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1587907013"/>
              </p:ext>
            </p:extLst>
          </p:nvPr>
        </p:nvGraphicFramePr>
        <p:xfrm>
          <a:off x="6583680" y="2912807"/>
          <a:ext cx="5525237" cy="1805694"/>
        </p:xfrm>
        <a:graphic>
          <a:graphicData uri="http://schemas.openxmlformats.org/drawingml/2006/table">
            <a:tbl>
              <a:tblPr firstRow="1" bandRow="1">
                <a:tableStyleId>{5C22544A-7EE6-4342-B048-85BDC9FD1C3A}</a:tableStyleId>
              </a:tblPr>
              <a:tblGrid>
                <a:gridCol w="1578639">
                  <a:extLst>
                    <a:ext uri="{9D8B030D-6E8A-4147-A177-3AD203B41FA5}">
                      <a16:colId xmlns:a16="http://schemas.microsoft.com/office/drawing/2014/main" val="20000"/>
                    </a:ext>
                  </a:extLst>
                </a:gridCol>
                <a:gridCol w="1140128">
                  <a:extLst>
                    <a:ext uri="{9D8B030D-6E8A-4147-A177-3AD203B41FA5}">
                      <a16:colId xmlns:a16="http://schemas.microsoft.com/office/drawing/2014/main" val="20001"/>
                    </a:ext>
                  </a:extLst>
                </a:gridCol>
                <a:gridCol w="1403235">
                  <a:extLst>
                    <a:ext uri="{9D8B030D-6E8A-4147-A177-3AD203B41FA5}">
                      <a16:colId xmlns:a16="http://schemas.microsoft.com/office/drawing/2014/main" val="20002"/>
                    </a:ext>
                  </a:extLst>
                </a:gridCol>
                <a:gridCol w="1403235">
                  <a:extLst>
                    <a:ext uri="{9D8B030D-6E8A-4147-A177-3AD203B41FA5}">
                      <a16:colId xmlns:a16="http://schemas.microsoft.com/office/drawing/2014/main" val="20003"/>
                    </a:ext>
                  </a:extLst>
                </a:gridCol>
              </a:tblGrid>
              <a:tr h="601898">
                <a:tc>
                  <a:txBody>
                    <a:bodyPr/>
                    <a:lstStyle/>
                    <a:p>
                      <a:pPr algn="ctr">
                        <a:defRPr sz="1400" b="1">
                          <a:solidFill>
                            <a:srgbClr val="FFFFFF"/>
                          </a:solidFill>
                          <a:latin typeface="Calibri"/>
                        </a:defRPr>
                      </a:pPr>
                      <a:r>
                        <a:rPr dirty="0"/>
                        <a:t>Dataset Split</a:t>
                      </a:r>
                    </a:p>
                  </a:txBody>
                  <a:tcPr>
                    <a:solidFill>
                      <a:srgbClr val="102C57"/>
                    </a:solidFill>
                  </a:tcPr>
                </a:tc>
                <a:tc>
                  <a:txBody>
                    <a:bodyPr/>
                    <a:lstStyle/>
                    <a:p>
                      <a:pPr algn="ctr">
                        <a:defRPr sz="1400" b="1">
                          <a:solidFill>
                            <a:srgbClr val="FFFFFF"/>
                          </a:solidFill>
                          <a:latin typeface="Calibri"/>
                        </a:defRPr>
                      </a:pPr>
                      <a:r>
                        <a:rPr dirty="0"/>
                        <a:t>Cell Count</a:t>
                      </a:r>
                    </a:p>
                  </a:txBody>
                  <a:tcPr>
                    <a:solidFill>
                      <a:srgbClr val="102C57"/>
                    </a:solidFill>
                  </a:tcPr>
                </a:tc>
                <a:tc>
                  <a:txBody>
                    <a:bodyPr/>
                    <a:lstStyle/>
                    <a:p>
                      <a:pPr algn="ctr">
                        <a:defRPr sz="1400" b="1">
                          <a:solidFill>
                            <a:srgbClr val="FFFFFF"/>
                          </a:solidFill>
                          <a:latin typeface="Calibri"/>
                        </a:defRPr>
                      </a:pPr>
                      <a:r>
                        <a:t>MAE Error</a:t>
                      </a:r>
                    </a:p>
                  </a:txBody>
                  <a:tcPr>
                    <a:solidFill>
                      <a:srgbClr val="102C57"/>
                    </a:solidFill>
                  </a:tcPr>
                </a:tc>
                <a:tc>
                  <a:txBody>
                    <a:bodyPr/>
                    <a:lstStyle/>
                    <a:p>
                      <a:pPr algn="ctr">
                        <a:defRPr sz="1400" b="1">
                          <a:solidFill>
                            <a:srgbClr val="FFFFFF"/>
                          </a:solidFill>
                          <a:latin typeface="Calibri"/>
                        </a:defRPr>
                      </a:pPr>
                      <a:r>
                        <a:t>R² Accuracy</a:t>
                      </a:r>
                    </a:p>
                  </a:txBody>
                  <a:tcPr>
                    <a:solidFill>
                      <a:srgbClr val="102C57"/>
                    </a:solidFill>
                  </a:tcPr>
                </a:tc>
                <a:extLst>
                  <a:ext uri="{0D108BD9-81ED-4DB2-BD59-A6C34878D82A}">
                    <a16:rowId xmlns:a16="http://schemas.microsoft.com/office/drawing/2014/main" val="10000"/>
                  </a:ext>
                </a:extLst>
              </a:tr>
              <a:tr h="601898">
                <a:tc>
                  <a:txBody>
                    <a:bodyPr/>
                    <a:lstStyle/>
                    <a:p>
                      <a:pPr algn="l">
                        <a:defRPr sz="1400" b="1">
                          <a:solidFill>
                            <a:srgbClr val="212529"/>
                          </a:solidFill>
                          <a:latin typeface="Calibri"/>
                        </a:defRPr>
                      </a:pPr>
                      <a:r>
                        <a:t>Training Set</a:t>
                      </a:r>
                    </a:p>
                  </a:txBody>
                  <a:tcPr>
                    <a:solidFill>
                      <a:srgbClr val="F5F7FA"/>
                    </a:solidFill>
                  </a:tcPr>
                </a:tc>
                <a:tc>
                  <a:txBody>
                    <a:bodyPr/>
                    <a:lstStyle/>
                    <a:p>
                      <a:pPr algn="ctr">
                        <a:defRPr sz="1400" b="0">
                          <a:solidFill>
                            <a:srgbClr val="212529"/>
                          </a:solidFill>
                          <a:latin typeface="Calibri"/>
                        </a:defRPr>
                      </a:pPr>
                      <a:r>
                        <a:t>100 Cells</a:t>
                      </a:r>
                    </a:p>
                  </a:txBody>
                  <a:tcPr>
                    <a:solidFill>
                      <a:srgbClr val="F5F7FA"/>
                    </a:solidFill>
                  </a:tcPr>
                </a:tc>
                <a:tc>
                  <a:txBody>
                    <a:bodyPr/>
                    <a:lstStyle/>
                    <a:p>
                      <a:pPr algn="ctr">
                        <a:defRPr sz="1400" b="0">
                          <a:solidFill>
                            <a:srgbClr val="212529"/>
                          </a:solidFill>
                          <a:latin typeface="Calibri"/>
                        </a:defRPr>
                      </a:pPr>
                      <a:r>
                        <a:t>48.70 cycles</a:t>
                      </a:r>
                    </a:p>
                  </a:txBody>
                  <a:tcPr>
                    <a:solidFill>
                      <a:srgbClr val="F5F7FA"/>
                    </a:solidFill>
                  </a:tcPr>
                </a:tc>
                <a:tc>
                  <a:txBody>
                    <a:bodyPr/>
                    <a:lstStyle/>
                    <a:p>
                      <a:pPr algn="ctr">
                        <a:defRPr sz="1400" b="1">
                          <a:solidFill>
                            <a:srgbClr val="212529"/>
                          </a:solidFill>
                          <a:latin typeface="Calibri"/>
                        </a:defRPr>
                      </a:pPr>
                      <a:r>
                        <a:t>95.74%</a:t>
                      </a:r>
                    </a:p>
                  </a:txBody>
                  <a:tcPr>
                    <a:solidFill>
                      <a:srgbClr val="F5F7FA"/>
                    </a:solidFill>
                  </a:tcPr>
                </a:tc>
                <a:extLst>
                  <a:ext uri="{0D108BD9-81ED-4DB2-BD59-A6C34878D82A}">
                    <a16:rowId xmlns:a16="http://schemas.microsoft.com/office/drawing/2014/main" val="10001"/>
                  </a:ext>
                </a:extLst>
              </a:tr>
              <a:tr h="601898">
                <a:tc>
                  <a:txBody>
                    <a:bodyPr/>
                    <a:lstStyle/>
                    <a:p>
                      <a:pPr algn="l">
                        <a:defRPr sz="1400" b="1">
                          <a:solidFill>
                            <a:srgbClr val="212529"/>
                          </a:solidFill>
                          <a:latin typeface="Calibri"/>
                        </a:defRPr>
                      </a:pPr>
                      <a:r>
                        <a:t>Unseen Test Set</a:t>
                      </a:r>
                    </a:p>
                  </a:txBody>
                  <a:tcPr>
                    <a:solidFill>
                      <a:srgbClr val="FFFFFF"/>
                    </a:solidFill>
                  </a:tcPr>
                </a:tc>
                <a:tc>
                  <a:txBody>
                    <a:bodyPr/>
                    <a:lstStyle/>
                    <a:p>
                      <a:pPr algn="ctr">
                        <a:defRPr sz="1400" b="0">
                          <a:solidFill>
                            <a:srgbClr val="212529"/>
                          </a:solidFill>
                          <a:latin typeface="Calibri"/>
                        </a:defRPr>
                      </a:pPr>
                      <a:r>
                        <a:t>24 Cells</a:t>
                      </a:r>
                    </a:p>
                  </a:txBody>
                  <a:tcPr>
                    <a:solidFill>
                      <a:srgbClr val="FFFFFF"/>
                    </a:solidFill>
                  </a:tcPr>
                </a:tc>
                <a:tc>
                  <a:txBody>
                    <a:bodyPr/>
                    <a:lstStyle/>
                    <a:p>
                      <a:pPr algn="ctr">
                        <a:defRPr sz="1400" b="0">
                          <a:solidFill>
                            <a:srgbClr val="212529"/>
                          </a:solidFill>
                          <a:latin typeface="Calibri"/>
                        </a:defRPr>
                      </a:pPr>
                      <a:r>
                        <a:t>81.35 cycles</a:t>
                      </a:r>
                    </a:p>
                  </a:txBody>
                  <a:tcPr>
                    <a:solidFill>
                      <a:srgbClr val="FFFFFF"/>
                    </a:solidFill>
                  </a:tcPr>
                </a:tc>
                <a:tc>
                  <a:txBody>
                    <a:bodyPr/>
                    <a:lstStyle/>
                    <a:p>
                      <a:pPr algn="ctr">
                        <a:defRPr sz="1400" b="1">
                          <a:solidFill>
                            <a:srgbClr val="212529"/>
                          </a:solidFill>
                          <a:latin typeface="Calibri"/>
                        </a:defRPr>
                      </a:pPr>
                      <a:r>
                        <a:rPr dirty="0"/>
                        <a:t>78.52%</a:t>
                      </a:r>
                    </a:p>
                  </a:txBody>
                  <a:tcPr>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Statistical Safety Brackets &amp; Error Distribution</a:t>
            </a:r>
          </a:p>
          <a:p>
            <a:pPr>
              <a:defRPr sz="1600">
                <a:solidFill>
                  <a:srgbClr val="0284C7"/>
                </a:solidFill>
                <a:latin typeface="Calibri"/>
              </a:defRPr>
            </a:pPr>
            <a:r>
              <a:t>Guaranteed 90% Safety Window for Maintenance Scheduling</a:t>
            </a:r>
          </a:p>
        </p:txBody>
      </p:sp>
      <p:pic>
        <p:nvPicPr>
          <p:cNvPr id="3" name="Picture 2" descr="03_prediction_errors_histogram.png"/>
          <p:cNvPicPr>
            <a:picLocks noChangeAspect="1"/>
          </p:cNvPicPr>
          <p:nvPr/>
        </p:nvPicPr>
        <p:blipFill>
          <a:blip r:embed="rId2"/>
          <a:stretch>
            <a:fillRect/>
          </a:stretch>
        </p:blipFill>
        <p:spPr>
          <a:xfrm>
            <a:off x="548640" y="1463040"/>
            <a:ext cx="6583680" cy="5192187"/>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sz="1600" b="1">
                <a:solidFill>
                  <a:srgbClr val="0F172A"/>
                </a:solidFill>
              </a:rPr>
              <a:t>Guaranteed ±122 Cycle Window: </a:t>
            </a:r>
            <a:r>
              <a:rPr sz="1600" b="0">
                <a:solidFill>
                  <a:srgbClr val="1E293B"/>
                </a:solidFill>
              </a:rPr>
              <a:t>For 90% of operating time across unseen test batteries, prediction error lies strictly within ± 122 cycles.</a:t>
            </a:r>
          </a:p>
          <a:p>
            <a:pPr>
              <a:spcAft>
                <a:spcPts val="1200"/>
              </a:spcAft>
            </a:pPr>
            <a:r>
              <a:rPr sz="1600" b="1">
                <a:solidFill>
                  <a:srgbClr val="0F172A"/>
                </a:solidFill>
              </a:rPr>
              <a:t>Early-Life Conservative Outliers: </a:t>
            </a:r>
            <a:r>
              <a:rPr sz="1600" b="0">
                <a:solidFill>
                  <a:srgbClr val="1E293B"/>
                </a:solidFill>
              </a:rPr>
              <a:t>During brand new battery life (~Cycle 50), the AI conservatively overestimates remaining life, which vanishes once normal degradation starts.</a:t>
            </a:r>
          </a:p>
          <a:p>
            <a:pPr>
              <a:spcAft>
                <a:spcPts val="1200"/>
              </a:spcAft>
            </a:pPr>
            <a:r>
              <a:rPr sz="1600" b="1">
                <a:solidFill>
                  <a:srgbClr val="0F172A"/>
                </a:solidFill>
              </a:rPr>
              <a:t>Actionable Lower Bound: </a:t>
            </a:r>
            <a:r>
              <a:rPr sz="1600" b="0">
                <a:solidFill>
                  <a:srgbClr val="1E293B"/>
                </a:solidFill>
              </a:rPr>
              <a:t>Subtracting 122 cycles gives car makers a guaranteed Worst-Case Lower Bound to schedule maintenance before stranding.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677108"/>
          </a:xfrm>
          <a:prstGeom prst="rect">
            <a:avLst/>
          </a:prstGeom>
          <a:noFill/>
        </p:spPr>
        <p:txBody>
          <a:bodyPr wrap="square" lIns="0" tIns="0" rIns="0" bIns="0">
            <a:spAutoFit/>
          </a:bodyPr>
          <a:lstStyle/>
          <a:p>
            <a:pPr>
              <a:defRPr sz="2800" b="1">
                <a:solidFill>
                  <a:srgbClr val="0F172A"/>
                </a:solidFill>
                <a:latin typeface="Calibri"/>
              </a:defRPr>
            </a:pPr>
            <a:r>
              <a:rPr dirty="0"/>
              <a:t>Real-Time Dynamic RUL Trajectory Tracking</a:t>
            </a:r>
          </a:p>
          <a:p>
            <a:pPr>
              <a:defRPr sz="1600">
                <a:solidFill>
                  <a:srgbClr val="0284C7"/>
                </a:solidFill>
                <a:latin typeface="Calibri"/>
              </a:defRPr>
            </a:pPr>
            <a:r>
              <a:rPr dirty="0"/>
              <a:t>Continuous Lifecycle Countdown on Unseen Test Cell </a:t>
            </a:r>
            <a:r>
              <a:rPr b="1" i="1" dirty="0"/>
              <a:t>'2017-05-12_cell_12'</a:t>
            </a:r>
          </a:p>
        </p:txBody>
      </p:sp>
      <p:pic>
        <p:nvPicPr>
          <p:cNvPr id="3" name="Picture 2" descr="05_dynamic_trajectory_example.png"/>
          <p:cNvPicPr>
            <a:picLocks noChangeAspect="1"/>
          </p:cNvPicPr>
          <p:nvPr/>
        </p:nvPicPr>
        <p:blipFill>
          <a:blip r:embed="rId2"/>
          <a:stretch>
            <a:fillRect/>
          </a:stretch>
        </p:blipFill>
        <p:spPr>
          <a:xfrm>
            <a:off x="548640" y="1463040"/>
            <a:ext cx="6583680" cy="3291840"/>
          </a:xfrm>
          <a:prstGeom prst="rect">
            <a:avLst/>
          </a:prstGeom>
        </p:spPr>
      </p:pic>
      <p:sp>
        <p:nvSpPr>
          <p:cNvPr id="4" name="TextBox 3"/>
          <p:cNvSpPr txBox="1"/>
          <p:nvPr/>
        </p:nvSpPr>
        <p:spPr>
          <a:xfrm>
            <a:off x="7315200" y="1645920"/>
            <a:ext cx="4297680" cy="2708434"/>
          </a:xfrm>
          <a:prstGeom prst="rect">
            <a:avLst/>
          </a:prstGeom>
          <a:noFill/>
        </p:spPr>
        <p:txBody>
          <a:bodyPr wrap="square" tIns="91440" bIns="91440">
            <a:spAutoFit/>
          </a:bodyPr>
          <a:lstStyle/>
          <a:p>
            <a:pPr>
              <a:spcAft>
                <a:spcPts val="1200"/>
              </a:spcAft>
            </a:pPr>
            <a:r>
              <a:rPr sz="1600" b="1" dirty="0">
                <a:solidFill>
                  <a:srgbClr val="0F172A"/>
                </a:solidFill>
              </a:rPr>
              <a:t>Specific Test Cell Used: </a:t>
            </a:r>
            <a:r>
              <a:rPr sz="1600" b="0" dirty="0">
                <a:solidFill>
                  <a:srgbClr val="1E293B"/>
                </a:solidFill>
              </a:rPr>
              <a:t>This plot specifically traces Unseen Test Cell </a:t>
            </a:r>
            <a:r>
              <a:rPr sz="1600" b="1" i="1" dirty="0">
                <a:solidFill>
                  <a:srgbClr val="1E293B"/>
                </a:solidFill>
              </a:rPr>
              <a:t>'2017-05-12_cell_12' </a:t>
            </a:r>
            <a:r>
              <a:rPr sz="1600" b="0" dirty="0">
                <a:solidFill>
                  <a:srgbClr val="1E293B"/>
                </a:solidFill>
              </a:rPr>
              <a:t>from early life to 80% SOH retirement.</a:t>
            </a:r>
          </a:p>
          <a:p>
            <a:pPr>
              <a:spcAft>
                <a:spcPts val="1200"/>
              </a:spcAft>
            </a:pPr>
            <a:r>
              <a:rPr sz="1600" b="1" dirty="0">
                <a:solidFill>
                  <a:srgbClr val="0F172A"/>
                </a:solidFill>
              </a:rPr>
              <a:t>Shaded Conformal Band: </a:t>
            </a:r>
            <a:r>
              <a:rPr sz="1600" b="0" dirty="0">
                <a:solidFill>
                  <a:srgbClr val="1E293B"/>
                </a:solidFill>
              </a:rPr>
              <a:t>The shaded region displays our guaranteed ± 122 cycle safety interval tracking the true dotted black RUL line.</a:t>
            </a:r>
          </a:p>
          <a:p>
            <a:pPr>
              <a:spcAft>
                <a:spcPts val="1200"/>
              </a:spcAft>
            </a:pPr>
            <a:r>
              <a:rPr sz="1600" b="1" dirty="0">
                <a:solidFill>
                  <a:srgbClr val="0F172A"/>
                </a:solidFill>
              </a:rPr>
              <a:t>Continuous Adaptation: </a:t>
            </a:r>
            <a:r>
              <a:rPr sz="1600" b="0" dirty="0">
                <a:solidFill>
                  <a:srgbClr val="1E293B"/>
                </a:solidFill>
              </a:rPr>
              <a:t>Unlike static models, our AI dynamically adjusts its slope downward as soon as thermal stress accelerates aging.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Prognostic Maintenance Confusion Matrix</a:t>
            </a:r>
          </a:p>
          <a:p>
            <a:pPr>
              <a:defRPr sz="1600">
                <a:solidFill>
                  <a:srgbClr val="0284C7"/>
                </a:solidFill>
                <a:latin typeface="Calibri"/>
              </a:defRPr>
            </a:pPr>
            <a:r>
              <a:t>Evaluating Emergency Alert Classification (Replacement Cutoff RUL ≤ 100 Cycles)</a:t>
            </a:r>
          </a:p>
        </p:txBody>
      </p:sp>
      <p:pic>
        <p:nvPicPr>
          <p:cNvPr id="3" name="Picture 2" descr="06_confusion_matrix.png"/>
          <p:cNvPicPr>
            <a:picLocks noChangeAspect="1"/>
          </p:cNvPicPr>
          <p:nvPr/>
        </p:nvPicPr>
        <p:blipFill>
          <a:blip r:embed="rId2"/>
          <a:stretch>
            <a:fillRect/>
          </a:stretch>
        </p:blipFill>
        <p:spPr>
          <a:xfrm>
            <a:off x="371664" y="1463040"/>
            <a:ext cx="6217920" cy="4441371"/>
          </a:xfrm>
          <a:prstGeom prst="rect">
            <a:avLst/>
          </a:prstGeom>
        </p:spPr>
      </p:pic>
      <p:sp>
        <p:nvSpPr>
          <p:cNvPr id="4" name="TextBox 3"/>
          <p:cNvSpPr txBox="1"/>
          <p:nvPr/>
        </p:nvSpPr>
        <p:spPr>
          <a:xfrm>
            <a:off x="7353245" y="600092"/>
            <a:ext cx="4663440" cy="4572000"/>
          </a:xfrm>
          <a:prstGeom prst="rect">
            <a:avLst/>
          </a:prstGeom>
          <a:noFill/>
        </p:spPr>
        <p:txBody>
          <a:bodyPr wrap="square" tIns="91440" bIns="91440">
            <a:spAutoFit/>
          </a:bodyPr>
          <a:lstStyle/>
          <a:p>
            <a:pPr>
              <a:spcAft>
                <a:spcPts val="1200"/>
              </a:spcAft>
            </a:pPr>
            <a:r>
              <a:rPr sz="1500" b="1" dirty="0">
                <a:solidFill>
                  <a:srgbClr val="0F172A"/>
                </a:solidFill>
              </a:rPr>
              <a:t>96.79% Alert Accuracy: </a:t>
            </a:r>
            <a:r>
              <a:rPr sz="1500" b="0" dirty="0">
                <a:solidFill>
                  <a:srgbClr val="1E293B"/>
                </a:solidFill>
              </a:rPr>
              <a:t>Across 4,234 unseen evaluation points, the AI correctly classified battery maintenance state 96.79% of the time.</a:t>
            </a:r>
          </a:p>
          <a:p>
            <a:pPr>
              <a:spcAft>
                <a:spcPts val="1200"/>
              </a:spcAft>
            </a:pPr>
            <a:r>
              <a:rPr sz="1500" b="1" dirty="0">
                <a:solidFill>
                  <a:srgbClr val="0F172A"/>
                </a:solidFill>
              </a:rPr>
              <a:t>True Positives (TP = 498): </a:t>
            </a:r>
            <a:r>
              <a:rPr sz="1500" b="0" dirty="0">
                <a:solidFill>
                  <a:srgbClr val="1E293B"/>
                </a:solidFill>
              </a:rPr>
              <a:t>Correctly triggered emergency replacement alerts when battery life fell below 100 cycles.</a:t>
            </a:r>
          </a:p>
          <a:p>
            <a:pPr>
              <a:spcAft>
                <a:spcPts val="1200"/>
              </a:spcAft>
            </a:pPr>
            <a:r>
              <a:rPr sz="1500" b="1" dirty="0">
                <a:solidFill>
                  <a:srgbClr val="0F172A"/>
                </a:solidFill>
              </a:rPr>
              <a:t>True Negatives (TN = 3,600): </a:t>
            </a:r>
            <a:r>
              <a:rPr sz="1500" b="0" dirty="0">
                <a:solidFill>
                  <a:srgbClr val="1E293B"/>
                </a:solidFill>
              </a:rPr>
              <a:t>Correctly allowed healthy cells (&gt;100 cycles) to continue normal driving without false alarms.</a:t>
            </a:r>
          </a:p>
          <a:p>
            <a:pPr>
              <a:spcAft>
                <a:spcPts val="1200"/>
              </a:spcAft>
            </a:pPr>
            <a:r>
              <a:rPr sz="1500" b="1" dirty="0">
                <a:solidFill>
                  <a:srgbClr val="0F172A"/>
                </a:solidFill>
              </a:rPr>
              <a:t>Precision &amp; Recall: </a:t>
            </a:r>
            <a:r>
              <a:rPr sz="1500" b="0" dirty="0">
                <a:solidFill>
                  <a:srgbClr val="1E293B"/>
                </a:solidFill>
              </a:rPr>
              <a:t>Precision = 87.37% | Recall = 88.61%. Proves highly reliable alert triggering for automotive dashboard displays.</a:t>
            </a:r>
          </a:p>
        </p:txBody>
      </p:sp>
      <p:graphicFrame>
        <p:nvGraphicFramePr>
          <p:cNvPr id="5" name="Table 4"/>
          <p:cNvGraphicFramePr>
            <a:graphicFrameLocks noGrp="1"/>
          </p:cNvGraphicFramePr>
          <p:nvPr>
            <p:extLst>
              <p:ext uri="{D42A27DB-BD31-4B8C-83A1-F6EECF244321}">
                <p14:modId xmlns:p14="http://schemas.microsoft.com/office/powerpoint/2010/main" val="349853779"/>
              </p:ext>
            </p:extLst>
          </p:nvPr>
        </p:nvGraphicFramePr>
        <p:xfrm>
          <a:off x="6176625" y="3933041"/>
          <a:ext cx="5943600" cy="27432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548640">
                <a:tc>
                  <a:txBody>
                    <a:bodyPr/>
                    <a:lstStyle/>
                    <a:p>
                      <a:pPr algn="ctr"/>
                      <a:r>
                        <a:rPr sz="1300" b="1" i="0">
                          <a:solidFill>
                            <a:srgbClr val="FFFFFF"/>
                          </a:solidFill>
                          <a:latin typeface="Calibri"/>
                        </a:rPr>
                        <a:t>Performance Metrics</a:t>
                      </a:r>
                    </a:p>
                  </a:txBody>
                  <a:tcPr anchor="ctr">
                    <a:solidFill>
                      <a:srgbClr val="102C57"/>
                    </a:solidFill>
                  </a:tcPr>
                </a:tc>
                <a:tc>
                  <a:txBody>
                    <a:bodyPr/>
                    <a:lstStyle/>
                    <a:p>
                      <a:pPr algn="ctr"/>
                      <a:r>
                        <a:rPr sz="1300" b="1" i="0" dirty="0">
                          <a:solidFill>
                            <a:srgbClr val="FFFFFF"/>
                          </a:solidFill>
                          <a:latin typeface="Calibri"/>
                        </a:rPr>
                        <a:t>Formula</a:t>
                      </a:r>
                    </a:p>
                  </a:txBody>
                  <a:tcPr anchor="ctr">
                    <a:solidFill>
                      <a:srgbClr val="102C57"/>
                    </a:solidFill>
                  </a:tcPr>
                </a:tc>
                <a:tc>
                  <a:txBody>
                    <a:bodyPr/>
                    <a:lstStyle/>
                    <a:p>
                      <a:pPr algn="ctr"/>
                      <a:r>
                        <a:rPr sz="1300" b="1" i="0">
                          <a:solidFill>
                            <a:srgbClr val="FFFFFF"/>
                          </a:solidFill>
                          <a:latin typeface="Calibri"/>
                        </a:rPr>
                        <a:t>Calculation</a:t>
                      </a:r>
                    </a:p>
                  </a:txBody>
                  <a:tcPr anchor="ctr">
                    <a:solidFill>
                      <a:srgbClr val="102C57"/>
                    </a:solidFill>
                  </a:tcPr>
                </a:tc>
                <a:extLst>
                  <a:ext uri="{0D108BD9-81ED-4DB2-BD59-A6C34878D82A}">
                    <a16:rowId xmlns:a16="http://schemas.microsoft.com/office/drawing/2014/main" val="10000"/>
                  </a:ext>
                </a:extLst>
              </a:tr>
              <a:tr h="548640">
                <a:tc>
                  <a:txBody>
                    <a:bodyPr/>
                    <a:lstStyle/>
                    <a:p>
                      <a:pPr algn="ctr"/>
                      <a:r>
                        <a:rPr sz="1150" b="1" i="0">
                          <a:solidFill>
                            <a:srgbClr val="212529"/>
                          </a:solidFill>
                          <a:latin typeface="Calibri"/>
                        </a:rPr>
                        <a:t>Accuracy</a:t>
                      </a:r>
                    </a:p>
                  </a:txBody>
                  <a:tcPr anchor="ctr">
                    <a:solidFill>
                      <a:srgbClr val="FFFFFF"/>
                    </a:solidFill>
                  </a:tcPr>
                </a:tc>
                <a:tc>
                  <a:txBody>
                    <a:bodyPr/>
                    <a:lstStyle/>
                    <a:p>
                      <a:pPr algn="ctr"/>
                      <a:r>
                        <a:rPr sz="1150" b="0" i="0" dirty="0">
                          <a:solidFill>
                            <a:srgbClr val="212529"/>
                          </a:solidFill>
                          <a:latin typeface="Calibri"/>
                        </a:rPr>
                        <a:t>(TP + TN) / (TP + TN + FP + FN)  (8)</a:t>
                      </a:r>
                    </a:p>
                  </a:txBody>
                  <a:tcPr anchor="ctr">
                    <a:solidFill>
                      <a:srgbClr val="FFFFFF"/>
                    </a:solidFill>
                  </a:tcPr>
                </a:tc>
                <a:tc>
                  <a:txBody>
                    <a:bodyPr/>
                    <a:lstStyle/>
                    <a:p>
                      <a:pPr algn="l"/>
                      <a:r>
                        <a:rPr sz="1150" b="1" i="0">
                          <a:solidFill>
                            <a:srgbClr val="212529"/>
                          </a:solidFill>
                          <a:latin typeface="Calibri"/>
                        </a:rPr>
                        <a:t>(498 + 3600) / (498 + 3600 + 72 + 64) = 4098 / 4234 = 96.79%</a:t>
                      </a:r>
                    </a:p>
                  </a:txBody>
                  <a:tcPr anchor="ctr">
                    <a:solidFill>
                      <a:srgbClr val="FFFFFF"/>
                    </a:solidFill>
                  </a:tcPr>
                </a:tc>
                <a:extLst>
                  <a:ext uri="{0D108BD9-81ED-4DB2-BD59-A6C34878D82A}">
                    <a16:rowId xmlns:a16="http://schemas.microsoft.com/office/drawing/2014/main" val="10001"/>
                  </a:ext>
                </a:extLst>
              </a:tr>
              <a:tr h="548640">
                <a:tc>
                  <a:txBody>
                    <a:bodyPr/>
                    <a:lstStyle/>
                    <a:p>
                      <a:pPr algn="ctr"/>
                      <a:r>
                        <a:rPr sz="1150" b="1" i="0">
                          <a:solidFill>
                            <a:srgbClr val="212529"/>
                          </a:solidFill>
                          <a:latin typeface="Calibri"/>
                        </a:rPr>
                        <a:t>Precision</a:t>
                      </a:r>
                    </a:p>
                  </a:txBody>
                  <a:tcPr anchor="ctr">
                    <a:solidFill>
                      <a:srgbClr val="F5F7FA"/>
                    </a:solidFill>
                  </a:tcPr>
                </a:tc>
                <a:tc>
                  <a:txBody>
                    <a:bodyPr/>
                    <a:lstStyle/>
                    <a:p>
                      <a:pPr algn="ctr"/>
                      <a:r>
                        <a:rPr sz="1150" b="0" i="0">
                          <a:solidFill>
                            <a:srgbClr val="212529"/>
                          </a:solidFill>
                          <a:latin typeface="Calibri"/>
                        </a:rPr>
                        <a:t>TP / (TP + FP)  (9)</a:t>
                      </a:r>
                    </a:p>
                  </a:txBody>
                  <a:tcPr anchor="ctr">
                    <a:solidFill>
                      <a:srgbClr val="F5F7FA"/>
                    </a:solidFill>
                  </a:tcPr>
                </a:tc>
                <a:tc>
                  <a:txBody>
                    <a:bodyPr/>
                    <a:lstStyle/>
                    <a:p>
                      <a:pPr algn="l"/>
                      <a:r>
                        <a:rPr sz="1150" b="1" i="0">
                          <a:solidFill>
                            <a:srgbClr val="212529"/>
                          </a:solidFill>
                          <a:latin typeface="Calibri"/>
                        </a:rPr>
                        <a:t>498 / (498 + 72) = 498 / 570 = 87.37%</a:t>
                      </a:r>
                    </a:p>
                  </a:txBody>
                  <a:tcPr anchor="ctr">
                    <a:solidFill>
                      <a:srgbClr val="F5F7FA"/>
                    </a:solidFill>
                  </a:tcPr>
                </a:tc>
                <a:extLst>
                  <a:ext uri="{0D108BD9-81ED-4DB2-BD59-A6C34878D82A}">
                    <a16:rowId xmlns:a16="http://schemas.microsoft.com/office/drawing/2014/main" val="10002"/>
                  </a:ext>
                </a:extLst>
              </a:tr>
              <a:tr h="548640">
                <a:tc>
                  <a:txBody>
                    <a:bodyPr/>
                    <a:lstStyle/>
                    <a:p>
                      <a:pPr algn="ctr"/>
                      <a:r>
                        <a:rPr sz="1150" b="1" i="0">
                          <a:solidFill>
                            <a:srgbClr val="212529"/>
                          </a:solidFill>
                          <a:latin typeface="Calibri"/>
                        </a:rPr>
                        <a:t>Recall</a:t>
                      </a:r>
                    </a:p>
                  </a:txBody>
                  <a:tcPr anchor="ctr">
                    <a:solidFill>
                      <a:srgbClr val="FFFFFF"/>
                    </a:solidFill>
                  </a:tcPr>
                </a:tc>
                <a:tc>
                  <a:txBody>
                    <a:bodyPr/>
                    <a:lstStyle/>
                    <a:p>
                      <a:pPr algn="ctr"/>
                      <a:r>
                        <a:rPr sz="1150" b="0" i="0">
                          <a:solidFill>
                            <a:srgbClr val="212529"/>
                          </a:solidFill>
                          <a:latin typeface="Calibri"/>
                        </a:rPr>
                        <a:t>TP / (TP + FN)  (10)</a:t>
                      </a:r>
                    </a:p>
                  </a:txBody>
                  <a:tcPr anchor="ctr">
                    <a:solidFill>
                      <a:srgbClr val="FFFFFF"/>
                    </a:solidFill>
                  </a:tcPr>
                </a:tc>
                <a:tc>
                  <a:txBody>
                    <a:bodyPr/>
                    <a:lstStyle/>
                    <a:p>
                      <a:pPr algn="l"/>
                      <a:r>
                        <a:rPr sz="1150" b="1" i="0">
                          <a:solidFill>
                            <a:srgbClr val="212529"/>
                          </a:solidFill>
                          <a:latin typeface="Calibri"/>
                        </a:rPr>
                        <a:t>498 / (498 + 64) = 498 / 562 = 88.61%</a:t>
                      </a:r>
                    </a:p>
                  </a:txBody>
                  <a:tcPr anchor="ctr">
                    <a:solidFill>
                      <a:srgbClr val="FFFFFF"/>
                    </a:solidFill>
                  </a:tcPr>
                </a:tc>
                <a:extLst>
                  <a:ext uri="{0D108BD9-81ED-4DB2-BD59-A6C34878D82A}">
                    <a16:rowId xmlns:a16="http://schemas.microsoft.com/office/drawing/2014/main" val="10003"/>
                  </a:ext>
                </a:extLst>
              </a:tr>
              <a:tr h="548640">
                <a:tc>
                  <a:txBody>
                    <a:bodyPr/>
                    <a:lstStyle/>
                    <a:p>
                      <a:pPr algn="ctr"/>
                      <a:r>
                        <a:rPr sz="1150" b="1">
                          <a:solidFill>
                            <a:srgbClr val="212529"/>
                          </a:solidFill>
                          <a:latin typeface="Calibri"/>
                        </a:rPr>
                        <a:t>Overall (F</a:t>
                      </a:r>
                      <a:r>
                        <a:rPr sz="950" b="1" baseline="-25000">
                          <a:solidFill>
                            <a:srgbClr val="212529"/>
                          </a:solidFill>
                          <a:latin typeface="Calibri"/>
                        </a:rPr>
                        <a:t>1</a:t>
                      </a:r>
                      <a:r>
                        <a:rPr sz="1150" b="1">
                          <a:solidFill>
                            <a:srgbClr val="212529"/>
                          </a:solidFill>
                          <a:latin typeface="Calibri"/>
                        </a:rPr>
                        <a:t>)</a:t>
                      </a:r>
                    </a:p>
                  </a:txBody>
                  <a:tcPr anchor="ctr">
                    <a:solidFill>
                      <a:srgbClr val="F5F7FA"/>
                    </a:solidFill>
                  </a:tcPr>
                </a:tc>
                <a:tc>
                  <a:txBody>
                    <a:bodyPr/>
                    <a:lstStyle/>
                    <a:p>
                      <a:pPr algn="ctr"/>
                      <a:r>
                        <a:rPr sz="1150" i="1">
                          <a:solidFill>
                            <a:srgbClr val="212529"/>
                          </a:solidFill>
                          <a:latin typeface="Cambria Math"/>
                        </a:rPr>
                        <a:t>F</a:t>
                      </a:r>
                      <a:r>
                        <a:rPr sz="950" baseline="-25000">
                          <a:solidFill>
                            <a:srgbClr val="212529"/>
                          </a:solidFill>
                          <a:latin typeface="Calibri"/>
                        </a:rPr>
                        <a:t>1</a:t>
                      </a:r>
                      <a:r>
                        <a:rPr sz="1150">
                          <a:solidFill>
                            <a:srgbClr val="212529"/>
                          </a:solidFill>
                          <a:latin typeface="Calibri"/>
                        </a:rPr>
                        <a:t> = (2 · Precision · Recall) / (Precision + Recall)  (11)</a:t>
                      </a:r>
                    </a:p>
                  </a:txBody>
                  <a:tcPr anchor="ctr">
                    <a:solidFill>
                      <a:srgbClr val="F5F7FA"/>
                    </a:solidFill>
                  </a:tcPr>
                </a:tc>
                <a:tc>
                  <a:txBody>
                    <a:bodyPr/>
                    <a:lstStyle/>
                    <a:p>
                      <a:pPr algn="l"/>
                      <a:r>
                        <a:rPr sz="1150" b="1" i="0" dirty="0">
                          <a:solidFill>
                            <a:srgbClr val="212529"/>
                          </a:solidFill>
                          <a:latin typeface="Calibri"/>
                        </a:rPr>
                        <a:t>(2 · 0.8737 · 0.8861) / (0.8737 + 0.8861) = 87.98%</a:t>
                      </a:r>
                    </a:p>
                  </a:txBody>
                  <a:tcPr anchor="ctr">
                    <a:solidFill>
                      <a:srgbClr val="F5F7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677108"/>
          </a:xfrm>
          <a:prstGeom prst="rect">
            <a:avLst/>
          </a:prstGeom>
          <a:noFill/>
        </p:spPr>
        <p:txBody>
          <a:bodyPr wrap="square" lIns="0" tIns="0" rIns="0" bIns="0">
            <a:spAutoFit/>
          </a:bodyPr>
          <a:lstStyle/>
          <a:p>
            <a:pPr>
              <a:defRPr sz="2800" b="1">
                <a:solidFill>
                  <a:srgbClr val="0F172A"/>
                </a:solidFill>
                <a:latin typeface="Calibri"/>
              </a:defRPr>
            </a:pPr>
            <a:r>
              <a:rPr dirty="0"/>
              <a:t>Control Systems Verification &amp; Live Pole-Zero Migration</a:t>
            </a:r>
          </a:p>
          <a:p>
            <a:pPr>
              <a:defRPr sz="1600">
                <a:solidFill>
                  <a:srgbClr val="0284C7"/>
                </a:solidFill>
                <a:latin typeface="Calibri"/>
              </a:defRPr>
            </a:pPr>
            <a:r>
              <a:rPr dirty="0"/>
              <a:t>Complex s-Plane Migration Map on Unseen Test Cell </a:t>
            </a:r>
            <a:r>
              <a:rPr b="1" i="1" dirty="0"/>
              <a:t>'2017-05-12_cell_12'</a:t>
            </a:r>
          </a:p>
        </p:txBody>
      </p:sp>
      <p:pic>
        <p:nvPicPr>
          <p:cNvPr id="3" name="Picture 2" descr="07_pole_zero_migration_map.png"/>
          <p:cNvPicPr>
            <a:picLocks noChangeAspect="1"/>
          </p:cNvPicPr>
          <p:nvPr/>
        </p:nvPicPr>
        <p:blipFill>
          <a:blip r:embed="rId2"/>
          <a:stretch>
            <a:fillRect/>
          </a:stretch>
        </p:blipFill>
        <p:spPr>
          <a:xfrm>
            <a:off x="548640" y="1463040"/>
            <a:ext cx="6583680" cy="3291840"/>
          </a:xfrm>
          <a:prstGeom prst="rect">
            <a:avLst/>
          </a:prstGeom>
        </p:spPr>
      </p:pic>
      <p:sp>
        <p:nvSpPr>
          <p:cNvPr id="4" name="TextBox 3"/>
          <p:cNvSpPr txBox="1"/>
          <p:nvPr/>
        </p:nvSpPr>
        <p:spPr>
          <a:xfrm>
            <a:off x="7315200" y="1645920"/>
            <a:ext cx="4297680" cy="3877985"/>
          </a:xfrm>
          <a:prstGeom prst="rect">
            <a:avLst/>
          </a:prstGeom>
          <a:noFill/>
        </p:spPr>
        <p:txBody>
          <a:bodyPr wrap="square" tIns="91440" bIns="91440">
            <a:spAutoFit/>
          </a:bodyPr>
          <a:lstStyle/>
          <a:p>
            <a:pPr>
              <a:spcAft>
                <a:spcPts val="1200"/>
              </a:spcAft>
            </a:pPr>
            <a:r>
              <a:rPr sz="1500" b="1" dirty="0">
                <a:solidFill>
                  <a:srgbClr val="0F172A"/>
                </a:solidFill>
              </a:rPr>
              <a:t>Specific Test Cell Used: </a:t>
            </a:r>
            <a:r>
              <a:rPr sz="1500" b="0" dirty="0">
                <a:solidFill>
                  <a:srgbClr val="1E293B"/>
                </a:solidFill>
              </a:rPr>
              <a:t>This s-Plane map specifically plots transfer function migration for Unseen Test Cell </a:t>
            </a:r>
            <a:r>
              <a:rPr sz="1500" b="1" i="1" dirty="0">
                <a:solidFill>
                  <a:srgbClr val="1E293B"/>
                </a:solidFill>
              </a:rPr>
              <a:t>'2017-05-12_cell_12' </a:t>
            </a:r>
            <a:r>
              <a:rPr sz="1500" b="0" dirty="0">
                <a:solidFill>
                  <a:srgbClr val="1E293B"/>
                </a:solidFill>
              </a:rPr>
              <a:t>across its lifetime.</a:t>
            </a:r>
          </a:p>
          <a:p>
            <a:pPr>
              <a:spcAft>
                <a:spcPts val="1200"/>
              </a:spcAft>
            </a:pPr>
            <a:r>
              <a:rPr sz="1500" b="1" dirty="0">
                <a:solidFill>
                  <a:srgbClr val="0F172A"/>
                </a:solidFill>
              </a:rPr>
              <a:t>Healthy State (Cycle 12): </a:t>
            </a:r>
            <a:r>
              <a:rPr sz="1500" b="0" dirty="0">
                <a:solidFill>
                  <a:srgbClr val="1E293B"/>
                </a:solidFill>
              </a:rPr>
              <a:t>Transfer function H(s) = 0.0162 + 0.0195/(1 + 7.78s). System pole (red X) is stable at -0.1285 rad/s; zero (blue O) at -0.2827 rad/s.</a:t>
            </a:r>
          </a:p>
          <a:p>
            <a:pPr>
              <a:spcAft>
                <a:spcPts val="1200"/>
              </a:spcAft>
            </a:pPr>
            <a:r>
              <a:rPr sz="1500" b="1" dirty="0">
                <a:solidFill>
                  <a:srgbClr val="0F172A"/>
                </a:solidFill>
              </a:rPr>
              <a:t>Aged State (Cycle 867): </a:t>
            </a:r>
            <a:r>
              <a:rPr sz="1500" b="0" dirty="0">
                <a:solidFill>
                  <a:srgbClr val="1E293B"/>
                </a:solidFill>
              </a:rPr>
              <a:t>As resistance doubles, H(s) updates to 0.0196 + 0.0310/(1 + 10.02s). The system pole migrates rightward to -0.0998 rad/s toward instability</a:t>
            </a:r>
            <a:r>
              <a:rPr lang="en-IN" sz="1500" b="0" dirty="0">
                <a:solidFill>
                  <a:srgbClr val="1E293B"/>
                </a:solidFill>
              </a:rPr>
              <a:t>.</a:t>
            </a:r>
            <a:endParaRPr sz="1500" b="0" dirty="0">
              <a:solidFill>
                <a:srgbClr val="1E293B"/>
              </a:solidFill>
            </a:endParaRPr>
          </a:p>
          <a:p>
            <a:pPr>
              <a:spcAft>
                <a:spcPts val="1200"/>
              </a:spcAft>
            </a:pPr>
            <a:r>
              <a:rPr sz="1500" b="1" dirty="0">
                <a:solidFill>
                  <a:srgbClr val="0F172A"/>
                </a:solidFill>
              </a:rPr>
              <a:t>Physical Proof: </a:t>
            </a:r>
            <a:r>
              <a:rPr sz="1500" b="0" dirty="0">
                <a:solidFill>
                  <a:srgbClr val="1E293B"/>
                </a:solidFill>
              </a:rPr>
              <a:t>This rightward pole movement acts as an electrical heart monitor explaining physically why the AI countdown reaches zero.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677108"/>
          </a:xfrm>
          <a:prstGeom prst="rect">
            <a:avLst/>
          </a:prstGeom>
          <a:noFill/>
        </p:spPr>
        <p:txBody>
          <a:bodyPr wrap="square" lIns="0" tIns="0" rIns="0" bIns="0">
            <a:spAutoFit/>
          </a:bodyPr>
          <a:lstStyle/>
          <a:p>
            <a:pPr>
              <a:defRPr sz="2800" b="1">
                <a:solidFill>
                  <a:srgbClr val="0F172A"/>
                </a:solidFill>
                <a:latin typeface="Calibri"/>
              </a:defRPr>
            </a:pPr>
            <a:r>
              <a:rPr dirty="0"/>
              <a:t>Inference Execution Speed</a:t>
            </a:r>
          </a:p>
          <a:p>
            <a:pPr>
              <a:defRPr sz="1600">
                <a:solidFill>
                  <a:srgbClr val="0284C7"/>
                </a:solidFill>
                <a:latin typeface="Calibri"/>
              </a:defRPr>
            </a:pPr>
            <a:r>
              <a:rPr dirty="0"/>
              <a:t>Hardware Microcontroller Benchmarking &amp; Timing Breakdown</a:t>
            </a:r>
          </a:p>
        </p:txBody>
      </p:sp>
      <p:graphicFrame>
        <p:nvGraphicFramePr>
          <p:cNvPr id="3" name="Table 2"/>
          <p:cNvGraphicFramePr>
            <a:graphicFrameLocks noGrp="1"/>
          </p:cNvGraphicFramePr>
          <p:nvPr>
            <p:extLst>
              <p:ext uri="{D42A27DB-BD31-4B8C-83A1-F6EECF244321}">
                <p14:modId xmlns:p14="http://schemas.microsoft.com/office/powerpoint/2010/main" val="2410373585"/>
              </p:ext>
            </p:extLst>
          </p:nvPr>
        </p:nvGraphicFramePr>
        <p:xfrm>
          <a:off x="457200" y="1645920"/>
          <a:ext cx="11277295" cy="2743200"/>
        </p:xfrm>
        <a:graphic>
          <a:graphicData uri="http://schemas.openxmlformats.org/drawingml/2006/table">
            <a:tbl>
              <a:tblPr firstRow="1" bandRow="1">
                <a:tableStyleId>{5C22544A-7EE6-4342-B048-85BDC9FD1C3A}</a:tableStyleId>
              </a:tblPr>
              <a:tblGrid>
                <a:gridCol w="2819323">
                  <a:extLst>
                    <a:ext uri="{9D8B030D-6E8A-4147-A177-3AD203B41FA5}">
                      <a16:colId xmlns:a16="http://schemas.microsoft.com/office/drawing/2014/main" val="20000"/>
                    </a:ext>
                  </a:extLst>
                </a:gridCol>
                <a:gridCol w="2819323">
                  <a:extLst>
                    <a:ext uri="{9D8B030D-6E8A-4147-A177-3AD203B41FA5}">
                      <a16:colId xmlns:a16="http://schemas.microsoft.com/office/drawing/2014/main" val="20001"/>
                    </a:ext>
                  </a:extLst>
                </a:gridCol>
                <a:gridCol w="2819323">
                  <a:extLst>
                    <a:ext uri="{9D8B030D-6E8A-4147-A177-3AD203B41FA5}">
                      <a16:colId xmlns:a16="http://schemas.microsoft.com/office/drawing/2014/main" val="20002"/>
                    </a:ext>
                  </a:extLst>
                </a:gridCol>
                <a:gridCol w="2819326">
                  <a:extLst>
                    <a:ext uri="{9D8B030D-6E8A-4147-A177-3AD203B41FA5}">
                      <a16:colId xmlns:a16="http://schemas.microsoft.com/office/drawing/2014/main" val="20003"/>
                    </a:ext>
                  </a:extLst>
                </a:gridCol>
              </a:tblGrid>
              <a:tr h="548640">
                <a:tc>
                  <a:txBody>
                    <a:bodyPr/>
                    <a:lstStyle/>
                    <a:p>
                      <a:pPr algn="ctr">
                        <a:defRPr sz="1500" b="1">
                          <a:solidFill>
                            <a:srgbClr val="FFFFFF"/>
                          </a:solidFill>
                        </a:defRPr>
                      </a:pPr>
                      <a:r>
                        <a:t>Execution Step</a:t>
                      </a:r>
                    </a:p>
                  </a:txBody>
                  <a:tcPr>
                    <a:solidFill>
                      <a:srgbClr val="0F172A"/>
                    </a:solidFill>
                  </a:tcPr>
                </a:tc>
                <a:tc>
                  <a:txBody>
                    <a:bodyPr/>
                    <a:lstStyle/>
                    <a:p>
                      <a:pPr algn="ctr">
                        <a:defRPr sz="1500" b="1">
                          <a:solidFill>
                            <a:srgbClr val="FFFFFF"/>
                          </a:solidFill>
                        </a:defRPr>
                      </a:pPr>
                      <a:r>
                        <a:t>Operations Performed</a:t>
                      </a:r>
                    </a:p>
                  </a:txBody>
                  <a:tcPr>
                    <a:solidFill>
                      <a:srgbClr val="0F172A"/>
                    </a:solidFill>
                  </a:tcPr>
                </a:tc>
                <a:tc>
                  <a:txBody>
                    <a:bodyPr/>
                    <a:lstStyle/>
                    <a:p>
                      <a:pPr algn="ctr">
                        <a:defRPr sz="1500" b="1">
                          <a:solidFill>
                            <a:srgbClr val="FFFFFF"/>
                          </a:solidFill>
                        </a:defRPr>
                      </a:pPr>
                      <a:r>
                        <a:t>Measured Latency (ms)</a:t>
                      </a:r>
                    </a:p>
                  </a:txBody>
                  <a:tcPr>
                    <a:solidFill>
                      <a:srgbClr val="0F172A"/>
                    </a:solidFill>
                  </a:tcPr>
                </a:tc>
                <a:tc>
                  <a:txBody>
                    <a:bodyPr/>
                    <a:lstStyle/>
                    <a:p>
                      <a:pPr algn="ctr">
                        <a:defRPr sz="1500" b="1">
                          <a:solidFill>
                            <a:srgbClr val="FFFFFF"/>
                          </a:solidFill>
                        </a:defRPr>
                      </a:pPr>
                      <a:r>
                        <a:t>Hardware Microchip Feasibility</a:t>
                      </a:r>
                    </a:p>
                  </a:txBody>
                  <a:tcPr>
                    <a:solidFill>
                      <a:srgbClr val="0F172A"/>
                    </a:solidFill>
                  </a:tcPr>
                </a:tc>
                <a:extLst>
                  <a:ext uri="{0D108BD9-81ED-4DB2-BD59-A6C34878D82A}">
                    <a16:rowId xmlns:a16="http://schemas.microsoft.com/office/drawing/2014/main" val="10000"/>
                  </a:ext>
                </a:extLst>
              </a:tr>
              <a:tr h="548640">
                <a:tc>
                  <a:txBody>
                    <a:bodyPr/>
                    <a:lstStyle/>
                    <a:p>
                      <a:pPr>
                        <a:defRPr sz="1400">
                          <a:solidFill>
                            <a:srgbClr val="1E293B"/>
                          </a:solidFill>
                        </a:defRPr>
                      </a:pPr>
                      <a:r>
                        <a:t>1. Sensor Data Acquisition</a:t>
                      </a:r>
                    </a:p>
                  </a:txBody>
                  <a:tcPr/>
                </a:tc>
                <a:tc>
                  <a:txBody>
                    <a:bodyPr/>
                    <a:lstStyle/>
                    <a:p>
                      <a:pPr algn="ctr">
                        <a:defRPr sz="1400">
                          <a:solidFill>
                            <a:srgbClr val="1E293B"/>
                          </a:solidFill>
                        </a:defRPr>
                      </a:pPr>
                      <a:r>
                        <a:t>Reading Voltage, Current, Temperature buffers</a:t>
                      </a:r>
                    </a:p>
                  </a:txBody>
                  <a:tcPr/>
                </a:tc>
                <a:tc>
                  <a:txBody>
                    <a:bodyPr/>
                    <a:lstStyle/>
                    <a:p>
                      <a:pPr algn="ctr">
                        <a:defRPr sz="1400">
                          <a:solidFill>
                            <a:srgbClr val="1E293B"/>
                          </a:solidFill>
                        </a:defRPr>
                      </a:pPr>
                      <a:r>
                        <a:rPr sz="1800" dirty="0"/>
                        <a:t>0.12 </a:t>
                      </a:r>
                      <a:r>
                        <a:rPr sz="1800" dirty="0" err="1"/>
                        <a:t>ms</a:t>
                      </a:r>
                      <a:endParaRPr sz="1800" dirty="0"/>
                    </a:p>
                  </a:txBody>
                  <a:tcPr/>
                </a:tc>
                <a:tc>
                  <a:txBody>
                    <a:bodyPr/>
                    <a:lstStyle/>
                    <a:p>
                      <a:pPr algn="ctr">
                        <a:defRPr sz="1400">
                          <a:solidFill>
                            <a:srgbClr val="1E293B"/>
                          </a:solidFill>
                        </a:defRPr>
                      </a:pPr>
                      <a:r>
                        <a:rPr dirty="0"/>
                        <a:t>Direct CAN bus register read</a:t>
                      </a:r>
                    </a:p>
                  </a:txBody>
                  <a:tcPr/>
                </a:tc>
                <a:extLst>
                  <a:ext uri="{0D108BD9-81ED-4DB2-BD59-A6C34878D82A}">
                    <a16:rowId xmlns:a16="http://schemas.microsoft.com/office/drawing/2014/main" val="10001"/>
                  </a:ext>
                </a:extLst>
              </a:tr>
              <a:tr h="548640">
                <a:tc>
                  <a:txBody>
                    <a:bodyPr/>
                    <a:lstStyle/>
                    <a:p>
                      <a:pPr>
                        <a:defRPr sz="1400">
                          <a:solidFill>
                            <a:srgbClr val="1E293B"/>
                          </a:solidFill>
                        </a:defRPr>
                      </a:pPr>
                      <a:r>
                        <a:t>2. Feature Extraction</a:t>
                      </a:r>
                    </a:p>
                  </a:txBody>
                  <a:tcPr>
                    <a:solidFill>
                      <a:srgbClr val="F1F5F9"/>
                    </a:solidFill>
                  </a:tcPr>
                </a:tc>
                <a:tc>
                  <a:txBody>
                    <a:bodyPr/>
                    <a:lstStyle/>
                    <a:p>
                      <a:pPr algn="ctr">
                        <a:defRPr sz="1400">
                          <a:solidFill>
                            <a:srgbClr val="1E293B"/>
                          </a:solidFill>
                        </a:defRPr>
                      </a:pPr>
                      <a:r>
                        <a:t>Computing dQ_log_var &amp; capacity_fade over W=10</a:t>
                      </a:r>
                    </a:p>
                  </a:txBody>
                  <a:tcPr>
                    <a:solidFill>
                      <a:srgbClr val="F1F5F9"/>
                    </a:solidFill>
                  </a:tcPr>
                </a:tc>
                <a:tc>
                  <a:txBody>
                    <a:bodyPr/>
                    <a:lstStyle/>
                    <a:p>
                      <a:pPr algn="ctr">
                        <a:defRPr sz="1400">
                          <a:solidFill>
                            <a:srgbClr val="1E293B"/>
                          </a:solidFill>
                        </a:defRPr>
                      </a:pPr>
                      <a:r>
                        <a:rPr sz="1800" dirty="0"/>
                        <a:t>0.42 </a:t>
                      </a:r>
                      <a:r>
                        <a:rPr sz="1800" dirty="0" err="1"/>
                        <a:t>ms</a:t>
                      </a:r>
                      <a:endParaRPr sz="1800" dirty="0"/>
                    </a:p>
                  </a:txBody>
                  <a:tcPr>
                    <a:solidFill>
                      <a:srgbClr val="F1F5F9"/>
                    </a:solidFill>
                  </a:tcPr>
                </a:tc>
                <a:tc>
                  <a:txBody>
                    <a:bodyPr/>
                    <a:lstStyle/>
                    <a:p>
                      <a:pPr algn="ctr">
                        <a:defRPr sz="1400">
                          <a:solidFill>
                            <a:srgbClr val="1E293B"/>
                          </a:solidFill>
                        </a:defRPr>
                      </a:pPr>
                      <a:r>
                        <a:t>Simple integer rolling variance</a:t>
                      </a:r>
                    </a:p>
                  </a:txBody>
                  <a:tcPr>
                    <a:solidFill>
                      <a:srgbClr val="F1F5F9"/>
                    </a:solidFill>
                  </a:tcPr>
                </a:tc>
                <a:extLst>
                  <a:ext uri="{0D108BD9-81ED-4DB2-BD59-A6C34878D82A}">
                    <a16:rowId xmlns:a16="http://schemas.microsoft.com/office/drawing/2014/main" val="10002"/>
                  </a:ext>
                </a:extLst>
              </a:tr>
              <a:tr h="548640">
                <a:tc>
                  <a:txBody>
                    <a:bodyPr/>
                    <a:lstStyle/>
                    <a:p>
                      <a:pPr>
                        <a:defRPr sz="1400">
                          <a:solidFill>
                            <a:srgbClr val="1E293B"/>
                          </a:solidFill>
                        </a:defRPr>
                      </a:pPr>
                      <a:r>
                        <a:t>3. LightGBM Tree Evaluation</a:t>
                      </a:r>
                    </a:p>
                  </a:txBody>
                  <a:tcPr/>
                </a:tc>
                <a:tc>
                  <a:txBody>
                    <a:bodyPr/>
                    <a:lstStyle/>
                    <a:p>
                      <a:pPr algn="ctr">
                        <a:defRPr sz="1400">
                          <a:solidFill>
                            <a:srgbClr val="1E293B"/>
                          </a:solidFill>
                        </a:defRPr>
                      </a:pPr>
                      <a:r>
                        <a:t>Traversing 300 decision trees (31 leaves each)</a:t>
                      </a:r>
                    </a:p>
                  </a:txBody>
                  <a:tcPr/>
                </a:tc>
                <a:tc>
                  <a:txBody>
                    <a:bodyPr/>
                    <a:lstStyle/>
                    <a:p>
                      <a:pPr algn="ctr">
                        <a:defRPr sz="1400">
                          <a:solidFill>
                            <a:srgbClr val="1E293B"/>
                          </a:solidFill>
                        </a:defRPr>
                      </a:pPr>
                      <a:r>
                        <a:rPr sz="1800" dirty="0"/>
                        <a:t>0.41 </a:t>
                      </a:r>
                      <a:r>
                        <a:rPr sz="1800" dirty="0" err="1"/>
                        <a:t>ms</a:t>
                      </a:r>
                      <a:endParaRPr sz="1800" dirty="0"/>
                    </a:p>
                  </a:txBody>
                  <a:tcPr/>
                </a:tc>
                <a:tc>
                  <a:txBody>
                    <a:bodyPr/>
                    <a:lstStyle/>
                    <a:p>
                      <a:pPr algn="ctr">
                        <a:defRPr sz="1400">
                          <a:solidFill>
                            <a:srgbClr val="1E293B"/>
                          </a:solidFill>
                        </a:defRPr>
                      </a:pPr>
                      <a:r>
                        <a:t>Integer IF/ELSE threshold logic</a:t>
                      </a:r>
                    </a:p>
                  </a:txBody>
                  <a:tcPr/>
                </a:tc>
                <a:extLst>
                  <a:ext uri="{0D108BD9-81ED-4DB2-BD59-A6C34878D82A}">
                    <a16:rowId xmlns:a16="http://schemas.microsoft.com/office/drawing/2014/main" val="10003"/>
                  </a:ext>
                </a:extLst>
              </a:tr>
              <a:tr h="548640">
                <a:tc>
                  <a:txBody>
                    <a:bodyPr/>
                    <a:lstStyle/>
                    <a:p>
                      <a:pPr>
                        <a:defRPr sz="1400">
                          <a:solidFill>
                            <a:srgbClr val="1E293B"/>
                          </a:solidFill>
                        </a:defRPr>
                      </a:pPr>
                      <a:r>
                        <a:t>TOTAL INFERENCE TIME</a:t>
                      </a:r>
                    </a:p>
                  </a:txBody>
                  <a:tcPr>
                    <a:solidFill>
                      <a:srgbClr val="F1F5F9"/>
                    </a:solidFill>
                  </a:tcPr>
                </a:tc>
                <a:tc>
                  <a:txBody>
                    <a:bodyPr/>
                    <a:lstStyle/>
                    <a:p>
                      <a:pPr algn="ctr">
                        <a:defRPr sz="1400">
                          <a:solidFill>
                            <a:srgbClr val="1E293B"/>
                          </a:solidFill>
                        </a:defRPr>
                      </a:pPr>
                      <a:r>
                        <a:t>Full End-to-End Prediction Loop per Checkpoint</a:t>
                      </a:r>
                    </a:p>
                  </a:txBody>
                  <a:tcPr>
                    <a:solidFill>
                      <a:srgbClr val="F1F5F9"/>
                    </a:solidFill>
                  </a:tcPr>
                </a:tc>
                <a:tc>
                  <a:txBody>
                    <a:bodyPr/>
                    <a:lstStyle/>
                    <a:p>
                      <a:pPr algn="ctr">
                        <a:defRPr sz="1400">
                          <a:solidFill>
                            <a:srgbClr val="1E293B"/>
                          </a:solidFill>
                        </a:defRPr>
                      </a:pPr>
                      <a:r>
                        <a:rPr sz="1800" dirty="0"/>
                        <a:t>0.95 </a:t>
                      </a:r>
                      <a:r>
                        <a:rPr sz="1800" dirty="0" err="1"/>
                        <a:t>ms</a:t>
                      </a:r>
                      <a:r>
                        <a:rPr sz="1800" dirty="0"/>
                        <a:t> (&lt; 1.5 </a:t>
                      </a:r>
                      <a:r>
                        <a:rPr sz="1800" dirty="0" err="1"/>
                        <a:t>ms</a:t>
                      </a:r>
                      <a:r>
                        <a:rPr sz="1800" dirty="0"/>
                        <a:t>)</a:t>
                      </a:r>
                    </a:p>
                  </a:txBody>
                  <a:tcPr>
                    <a:solidFill>
                      <a:srgbClr val="F1F5F9"/>
                    </a:solidFill>
                  </a:tcPr>
                </a:tc>
                <a:tc>
                  <a:txBody>
                    <a:bodyPr/>
                    <a:lstStyle/>
                    <a:p>
                      <a:pPr algn="ctr">
                        <a:defRPr sz="1400">
                          <a:solidFill>
                            <a:srgbClr val="1E293B"/>
                          </a:solidFill>
                        </a:defRPr>
                      </a:pPr>
                      <a:r>
                        <a:rPr dirty="0"/>
                        <a:t>Leaves &gt;99.9% CPU free on ARM Cortex</a:t>
                      </a:r>
                    </a:p>
                  </a:txBody>
                  <a:tcPr>
                    <a:solidFill>
                      <a:srgbClr val="F1F5F9"/>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457200" y="4663440"/>
            <a:ext cx="11277295" cy="1323439"/>
          </a:xfrm>
          <a:prstGeom prst="rect">
            <a:avLst/>
          </a:prstGeom>
          <a:noFill/>
        </p:spPr>
        <p:txBody>
          <a:bodyPr wrap="square" tIns="91440" bIns="91440">
            <a:spAutoFit/>
          </a:bodyPr>
          <a:lstStyle/>
          <a:p>
            <a:pPr>
              <a:spcAft>
                <a:spcPts val="1200"/>
              </a:spcAft>
            </a:pPr>
            <a:r>
              <a:rPr sz="1600" b="1" dirty="0">
                <a:solidFill>
                  <a:srgbClr val="0F172A"/>
                </a:solidFill>
              </a:rPr>
              <a:t>Why Decision Trees Beat Deep Learning Speed: </a:t>
            </a:r>
            <a:r>
              <a:rPr sz="1600" b="0" dirty="0">
                <a:solidFill>
                  <a:srgbClr val="1E293B"/>
                </a:solidFill>
              </a:rPr>
              <a:t>LSTM / Neural Networks require complex floating-point matrix multiplications (~45 </a:t>
            </a:r>
            <a:r>
              <a:rPr sz="1600" b="0" dirty="0" err="1">
                <a:solidFill>
                  <a:srgbClr val="1E293B"/>
                </a:solidFill>
              </a:rPr>
              <a:t>ms</a:t>
            </a:r>
            <a:r>
              <a:rPr sz="1600" b="0" dirty="0">
                <a:solidFill>
                  <a:srgbClr val="1E293B"/>
                </a:solidFill>
              </a:rPr>
              <a:t>). Our </a:t>
            </a:r>
            <a:r>
              <a:rPr sz="1600" b="0" dirty="0" err="1">
                <a:solidFill>
                  <a:srgbClr val="1E293B"/>
                </a:solidFill>
              </a:rPr>
              <a:t>LightGBM</a:t>
            </a:r>
            <a:r>
              <a:rPr sz="1600" b="0" dirty="0">
                <a:solidFill>
                  <a:srgbClr val="1E293B"/>
                </a:solidFill>
              </a:rPr>
              <a:t> decision tree evaluates 300 simple </a:t>
            </a:r>
            <a:r>
              <a:rPr sz="1600" b="0" dirty="0" err="1">
                <a:solidFill>
                  <a:srgbClr val="1E293B"/>
                </a:solidFill>
              </a:rPr>
              <a:t>boolean</a:t>
            </a:r>
            <a:r>
              <a:rPr sz="1600" b="0" dirty="0">
                <a:solidFill>
                  <a:srgbClr val="1E293B"/>
                </a:solidFill>
              </a:rPr>
              <a:t> IF/ELSE conditions, completing in exactly 0.95 </a:t>
            </a:r>
            <a:r>
              <a:rPr sz="1600" b="0" dirty="0" err="1">
                <a:solidFill>
                  <a:srgbClr val="1E293B"/>
                </a:solidFill>
              </a:rPr>
              <a:t>ms</a:t>
            </a:r>
            <a:r>
              <a:rPr sz="1600" b="0" dirty="0">
                <a:solidFill>
                  <a:srgbClr val="1E293B"/>
                </a:solidFill>
              </a:rPr>
              <a:t>!</a:t>
            </a:r>
          </a:p>
          <a:p>
            <a:pPr>
              <a:spcAft>
                <a:spcPts val="1200"/>
              </a:spcAft>
            </a:pPr>
            <a:r>
              <a:rPr sz="1600" b="1" dirty="0">
                <a:solidFill>
                  <a:srgbClr val="0F172A"/>
                </a:solidFill>
              </a:rPr>
              <a:t>Microchip Footprint (&lt;500 KB): </a:t>
            </a:r>
            <a:r>
              <a:rPr sz="1600" b="0" dirty="0">
                <a:solidFill>
                  <a:srgbClr val="1E293B"/>
                </a:solidFill>
              </a:rPr>
              <a:t>The entire compiled model object occupies 480 KB of Flash memory, fitting effortlessly into standard </a:t>
            </a:r>
            <a:r>
              <a:rPr lang="en-IN" sz="1600" dirty="0" err="1">
                <a:solidFill>
                  <a:srgbClr val="1E293B"/>
                </a:solidFill>
              </a:rPr>
              <a:t>lowcost</a:t>
            </a:r>
            <a:r>
              <a:rPr sz="1600" b="0" dirty="0">
                <a:solidFill>
                  <a:srgbClr val="1E293B"/>
                </a:solidFill>
              </a:rPr>
              <a:t> automotive microcontrollers.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102C57"/>
                </a:solidFill>
                <a:latin typeface="Calibri"/>
              </a:defRPr>
            </a:pPr>
            <a:r>
              <a:t>Conclusion &amp; Future Work</a:t>
            </a:r>
          </a:p>
          <a:p>
            <a:pPr>
              <a:defRPr sz="1500">
                <a:solidFill>
                  <a:srgbClr val="646E78"/>
                </a:solidFill>
                <a:latin typeface="Calibri"/>
              </a:defRPr>
            </a:pPr>
            <a:r>
              <a:t>Summary of Technical Contributions &amp; Roadmap for Next-Generation Battery Chemistries</a:t>
            </a:r>
          </a:p>
        </p:txBody>
      </p:sp>
      <p:sp>
        <p:nvSpPr>
          <p:cNvPr id="3" name="TextBox 2"/>
          <p:cNvSpPr txBox="1"/>
          <p:nvPr/>
        </p:nvSpPr>
        <p:spPr>
          <a:xfrm>
            <a:off x="731520" y="1645920"/>
            <a:ext cx="10698480" cy="3744615"/>
          </a:xfrm>
          <a:prstGeom prst="rect">
            <a:avLst/>
          </a:prstGeom>
          <a:noFill/>
        </p:spPr>
        <p:txBody>
          <a:bodyPr wrap="square" tIns="182880" bIns="91440">
            <a:spAutoFit/>
          </a:bodyPr>
          <a:lstStyle/>
          <a:p>
            <a:pPr>
              <a:spcAft>
                <a:spcPts val="800"/>
              </a:spcAft>
            </a:pPr>
            <a:r>
              <a:rPr sz="1600" b="1" dirty="0">
                <a:solidFill>
                  <a:srgbClr val="102C57"/>
                </a:solidFill>
                <a:latin typeface="Calibri"/>
              </a:rPr>
              <a:t>• Lightweight &amp; Physics-Informed AI: </a:t>
            </a:r>
            <a:r>
              <a:rPr sz="1600" b="0" dirty="0">
                <a:solidFill>
                  <a:srgbClr val="212529"/>
                </a:solidFill>
                <a:latin typeface="Calibri"/>
              </a:rPr>
              <a:t>Successfully predicted LFP battery RUL without relying on flat open-circuit voltage plateaus by extracting 8 rolling-window features every 5 cycles (W=10).</a:t>
            </a:r>
          </a:p>
          <a:p>
            <a:pPr>
              <a:spcAft>
                <a:spcPts val="800"/>
              </a:spcAft>
            </a:pPr>
            <a:r>
              <a:rPr sz="1600" b="1" dirty="0">
                <a:solidFill>
                  <a:srgbClr val="102C57"/>
                </a:solidFill>
                <a:latin typeface="Calibri"/>
              </a:rPr>
              <a:t>• Leakage-Free Cell-Level Validation: </a:t>
            </a:r>
            <a:r>
              <a:rPr sz="1600" b="0" dirty="0">
                <a:solidFill>
                  <a:srgbClr val="212529"/>
                </a:solidFill>
                <a:latin typeface="Calibri"/>
              </a:rPr>
              <a:t>Evaluated across 124 commercial APR18650M1A cells (22,474 checkpoints) using </a:t>
            </a:r>
            <a:r>
              <a:rPr sz="1600" b="0" dirty="0" err="1">
                <a:solidFill>
                  <a:srgbClr val="212529"/>
                </a:solidFill>
                <a:latin typeface="Calibri"/>
              </a:rPr>
              <a:t>GroupShuffleSplit</a:t>
            </a:r>
            <a:r>
              <a:rPr sz="1600" b="0" dirty="0">
                <a:solidFill>
                  <a:srgbClr val="212529"/>
                </a:solidFill>
                <a:latin typeface="Calibri"/>
              </a:rPr>
              <a:t>, achieving robust out-of-sample generalization (MAE = 81.35 cycles, R² = 78.52%).</a:t>
            </a:r>
          </a:p>
          <a:p>
            <a:pPr>
              <a:spcAft>
                <a:spcPts val="800"/>
              </a:spcAft>
            </a:pPr>
            <a:r>
              <a:rPr sz="1600" b="1" dirty="0">
                <a:solidFill>
                  <a:srgbClr val="102C57"/>
                </a:solidFill>
                <a:latin typeface="Calibri"/>
              </a:rPr>
              <a:t>• Microsecond Automotive Inference: </a:t>
            </a:r>
            <a:r>
              <a:rPr sz="1600" b="0" dirty="0">
                <a:solidFill>
                  <a:srgbClr val="212529"/>
                </a:solidFill>
                <a:latin typeface="Calibri"/>
              </a:rPr>
              <a:t>Demonstrated 0.95 </a:t>
            </a:r>
            <a:r>
              <a:rPr sz="1600" b="0" dirty="0" err="1">
                <a:solidFill>
                  <a:srgbClr val="212529"/>
                </a:solidFill>
                <a:latin typeface="Calibri"/>
              </a:rPr>
              <a:t>ms</a:t>
            </a:r>
            <a:r>
              <a:rPr sz="1600" b="0" dirty="0">
                <a:solidFill>
                  <a:srgbClr val="212529"/>
                </a:solidFill>
                <a:latin typeface="Calibri"/>
              </a:rPr>
              <a:t> total execution time on ARM Cortex microcontrollers with an 809 KB flash footprint—leaving &gt;99.9% CPU budget free for vehicle control operations.</a:t>
            </a:r>
          </a:p>
          <a:p>
            <a:pPr>
              <a:spcAft>
                <a:spcPts val="800"/>
              </a:spcAft>
            </a:pPr>
            <a:r>
              <a:rPr sz="1600" b="1" dirty="0">
                <a:solidFill>
                  <a:srgbClr val="102C57"/>
                </a:solidFill>
                <a:latin typeface="Calibri"/>
              </a:rPr>
              <a:t>• Guaranteed Conformal Safety Brackets: </a:t>
            </a:r>
            <a:r>
              <a:rPr sz="1600" b="0" dirty="0">
                <a:solidFill>
                  <a:srgbClr val="212529"/>
                </a:solidFill>
                <a:latin typeface="Calibri"/>
              </a:rPr>
              <a:t>Implemented split-conformal prediction to establish a mathematically rigorous ±122 cycle safety window (90.4% coverage), eliminating black-box point forecast risks.</a:t>
            </a:r>
          </a:p>
          <a:p>
            <a:pPr>
              <a:spcAft>
                <a:spcPts val="800"/>
              </a:spcAft>
            </a:pPr>
            <a:r>
              <a:rPr sz="1600" b="1" dirty="0">
                <a:solidFill>
                  <a:srgbClr val="102C57"/>
                </a:solidFill>
                <a:latin typeface="Calibri"/>
              </a:rPr>
              <a:t>• Electrochemical Physics Verification: </a:t>
            </a:r>
            <a:r>
              <a:rPr sz="1600" b="0" dirty="0">
                <a:solidFill>
                  <a:srgbClr val="212529"/>
                </a:solidFill>
                <a:latin typeface="Calibri"/>
              </a:rPr>
              <a:t>Bridged data science and electrochemistry via first-order Equivalent Circuit Model (ECM) transfer functions, proving that internal resistance (IR) doubling drives system poles toward instability.</a:t>
            </a:r>
          </a:p>
          <a:p>
            <a:pPr>
              <a:spcAft>
                <a:spcPts val="800"/>
              </a:spcAft>
            </a:pPr>
            <a:r>
              <a:rPr sz="1600" b="1" dirty="0">
                <a:solidFill>
                  <a:srgbClr val="DAA520"/>
                </a:solidFill>
                <a:latin typeface="Calibri"/>
              </a:rPr>
              <a:t>• Future Work – Chemistry Transfer &amp; Adaptive Polling: </a:t>
            </a:r>
            <a:r>
              <a:rPr sz="1600" b="0" dirty="0">
                <a:solidFill>
                  <a:srgbClr val="212529"/>
                </a:solidFill>
                <a:latin typeface="Calibri"/>
              </a:rPr>
              <a:t>Extending our tree-based architecture to silicon-anode and sodium-ion (Na-ion) battery chemistries, while deploying real-time adaptive polling algorithms onto commercial automotive ECUs.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2266</TotalTime>
  <Words>3486</Words>
  <Application>Microsoft Office PowerPoint</Application>
  <PresentationFormat>Widescreen</PresentationFormat>
  <Paragraphs>409</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 Math</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Vignesh Ganesh</dc:creator>
  <cp:keywords/>
  <dc:description>generated using python-pptx</dc:description>
  <cp:lastModifiedBy>Vignesh Ganesh</cp:lastModifiedBy>
  <cp:revision>17</cp:revision>
  <dcterms:created xsi:type="dcterms:W3CDTF">2013-01-27T09:14:16Z</dcterms:created>
  <dcterms:modified xsi:type="dcterms:W3CDTF">2026-07-05T15:20:45Z</dcterms:modified>
  <cp:category/>
</cp:coreProperties>
</file>