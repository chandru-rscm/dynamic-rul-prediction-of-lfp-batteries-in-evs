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657600"/>
          </a:xfrm>
          <a:prstGeom prst="rect">
            <a:avLst/>
          </a:prstGeom>
          <a:noFill/>
        </p:spPr>
        <p:txBody>
          <a:bodyPr wrap="square">
            <a:spAutoFit/>
          </a:bodyPr>
          <a:lstStyle/>
          <a:p>
            <a:pPr algn="ctr">
              <a:defRPr sz="3600" b="1">
                <a:solidFill>
                  <a:srgbClr val="FFFFFF"/>
                </a:solidFill>
              </a:defRPr>
            </a:pPr>
            <a:r>
              <a:t>Dynamic Remaining Useful Life (RUL) Prediction</a:t>
            </a:r>
            <a:br/>
            <a:r>
              <a:t>for LFP Batteries in Electric Vehicles</a:t>
            </a:r>
          </a:p>
          <a:p>
            <a:pPr algn="ctr">
              <a:spcBef>
                <a:spcPts val="2000"/>
              </a:spcBef>
              <a:defRPr sz="2200">
                <a:solidFill>
                  <a:srgbClr val="38BDF8"/>
                </a:solidFill>
              </a:defRPr>
            </a:pPr>
            <a:r>
              <a:t>A Machine Learning &amp; Control Systems Approach for Real-Time EV Prognostics</a:t>
            </a:r>
          </a:p>
          <a:p>
            <a:pPr algn="ctr">
              <a:spcBef>
                <a:spcPts val="3500"/>
              </a:spcBef>
              <a:defRPr sz="1600">
                <a:solidFill>
                  <a:srgbClr val="CBD5E1"/>
                </a:solidFill>
              </a:defRPr>
            </a:pPr>
            <a:r>
              <a:t>Master Defense Deck | Complete Flow diagrams, Dedicated Image Layouts &amp; Defense Justifications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What is RUL &amp; Why is it Critical?</a:t>
            </a:r>
          </a:p>
          <a:p>
            <a:pPr>
              <a:defRPr sz="1600">
                <a:solidFill>
                  <a:srgbClr val="0284C7"/>
                </a:solidFill>
                <a:latin typeface="Calibri"/>
              </a:defRPr>
            </a:pPr>
            <a:r>
              <a:t>The core motivation behind our research</a:t>
            </a:r>
          </a:p>
        </p:txBody>
      </p:sp>
      <p:sp>
        <p:nvSpPr>
          <p:cNvPr id="3" name="Rounded Rectangle 2"/>
          <p:cNvSpPr/>
          <p:nvPr/>
        </p:nvSpPr>
        <p:spPr>
          <a:xfrm>
            <a:off x="548640" y="1645920"/>
            <a:ext cx="3474720" cy="4572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3108960" cy="4206240"/>
          </a:xfrm>
          <a:prstGeom prst="rect">
            <a:avLst/>
          </a:prstGeom>
          <a:noFill/>
        </p:spPr>
        <p:txBody>
          <a:bodyPr wrap="square">
            <a:spAutoFit/>
          </a:bodyPr>
          <a:lstStyle/>
          <a:p>
            <a:pPr>
              <a:spcAft>
                <a:spcPts val="1400"/>
              </a:spcAft>
              <a:defRPr sz="2000" b="1">
                <a:solidFill>
                  <a:srgbClr val="0F172A"/>
                </a:solidFill>
                <a:latin typeface="Calibri"/>
              </a:defRPr>
            </a:pPr>
            <a:r>
              <a:t>What is RUL?</a:t>
            </a:r>
          </a:p>
          <a:p>
            <a:pPr>
              <a:defRPr sz="1500">
                <a:solidFill>
                  <a:srgbClr val="1E293B"/>
                </a:solidFill>
                <a:latin typeface="Calibri"/>
              </a:defRPr>
            </a:pPr>
            <a:r>
              <a:t>Remaining Useful Life is the exact number of charge/discharge cycles remaining before an EV battery degrades to its end of life retirement threshold (80% State of Health).</a:t>
            </a:r>
          </a:p>
        </p:txBody>
      </p:sp>
      <p:sp>
        <p:nvSpPr>
          <p:cNvPr id="5" name="Rounded Rectangle 4"/>
          <p:cNvSpPr/>
          <p:nvPr/>
        </p:nvSpPr>
        <p:spPr>
          <a:xfrm>
            <a:off x="4297680" y="1645920"/>
            <a:ext cx="3474720" cy="45720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60" y="1920240"/>
            <a:ext cx="3108960" cy="4206240"/>
          </a:xfrm>
          <a:prstGeom prst="rect">
            <a:avLst/>
          </a:prstGeom>
          <a:noFill/>
        </p:spPr>
        <p:txBody>
          <a:bodyPr wrap="square">
            <a:spAutoFit/>
          </a:bodyPr>
          <a:lstStyle/>
          <a:p>
            <a:pPr>
              <a:spcAft>
                <a:spcPts val="1400"/>
              </a:spcAft>
              <a:defRPr sz="2000" b="1">
                <a:solidFill>
                  <a:srgbClr val="0F172A"/>
                </a:solidFill>
                <a:latin typeface="Calibri"/>
              </a:defRPr>
            </a:pPr>
            <a:r>
              <a:t>Why is it Needed?</a:t>
            </a:r>
          </a:p>
          <a:p>
            <a:pPr>
              <a:defRPr sz="1500">
                <a:solidFill>
                  <a:srgbClr val="1E293B"/>
                </a:solidFill>
                <a:latin typeface="Calibri"/>
              </a:defRPr>
            </a:pPr>
            <a:r>
              <a:t>EV drivers constantly face 'Range Anxiety' and sudden battery failures. Traditional BMS only measure current state — they can't warn drivers when the battery will permanently fail. One unexpected breakdown means stranded passengers and catastrophic warranty costs.</a:t>
            </a:r>
          </a:p>
        </p:txBody>
      </p:sp>
      <p:sp>
        <p:nvSpPr>
          <p:cNvPr id="7" name="Rounded Rectangle 6"/>
          <p:cNvSpPr/>
          <p:nvPr/>
        </p:nvSpPr>
        <p:spPr>
          <a:xfrm>
            <a:off x="8046720" y="1645920"/>
            <a:ext cx="3566160" cy="45720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920240"/>
            <a:ext cx="3200400" cy="4206240"/>
          </a:xfrm>
          <a:prstGeom prst="rect">
            <a:avLst/>
          </a:prstGeom>
          <a:noFill/>
        </p:spPr>
        <p:txBody>
          <a:bodyPr wrap="square">
            <a:spAutoFit/>
          </a:bodyPr>
          <a:lstStyle/>
          <a:p>
            <a:pPr>
              <a:spcAft>
                <a:spcPts val="1400"/>
              </a:spcAft>
              <a:defRPr sz="2000" b="1">
                <a:solidFill>
                  <a:srgbClr val="FFFFFF"/>
                </a:solidFill>
                <a:latin typeface="Calibri"/>
              </a:defRPr>
            </a:pPr>
            <a:r>
              <a:t>What We're Doing</a:t>
            </a:r>
          </a:p>
          <a:p>
            <a:pPr>
              <a:defRPr sz="1500">
                <a:solidFill>
                  <a:srgbClr val="FFFFFF"/>
                </a:solidFill>
                <a:latin typeface="Calibri"/>
              </a:defRPr>
            </a:pPr>
            <a:r>
              <a:t>We're building a Dynamic AI Predictive Dashboard that continuously monitors vehicle sensor data while driving — forecasting the exact remaining lifespan and providing a mathematically guaranteed worst-case safety warning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Problem Statement &amp; Industrial Need</a:t>
            </a:r>
          </a:p>
          <a:p>
            <a:pPr>
              <a:defRPr sz="1600">
                <a:solidFill>
                  <a:srgbClr val="0284C7"/>
                </a:solidFill>
                <a:latin typeface="Calibri"/>
              </a:defRPr>
            </a:pPr>
            <a:r>
              <a:t>Overcoming Blind Single-Point AI Predictions in Electric Vehicle BMS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800">
                <a:solidFill>
                  <a:srgbClr val="0F172A"/>
                </a:solidFill>
              </a:rPr>
              <a:t>The Automotive Problem: </a:t>
            </a:r>
            <a:r>
              <a:rPr b="0" sz="1800">
                <a:solidFill>
                  <a:srgbClr val="1E293B"/>
                </a:solidFill>
              </a:rPr>
              <a:t>Standard EV battery systems assume capacity fades in a linear straight line. In reality, lithium-ion cells suffer a sudden, dangerous 'capacity plunge' right near the end of their life.</a:t>
            </a:r>
          </a:p>
          <a:p>
            <a:pPr>
              <a:spcAft>
                <a:spcPts val="1200"/>
              </a:spcAft>
            </a:pPr>
            <a:r>
              <a:rPr b="1" sz="1800">
                <a:solidFill>
                  <a:srgbClr val="0F172A"/>
                </a:solidFill>
              </a:rPr>
              <a:t>Why Normal AI Fails: </a:t>
            </a:r>
            <a:r>
              <a:rPr b="0" sz="1800">
                <a:solidFill>
                  <a:srgbClr val="1E293B"/>
                </a:solidFill>
              </a:rPr>
              <a:t>Standard machine learning gives a blind single guess without any safety warning or confidence bounds. If that guess is wrong by even 50 cycles, a driver can get stranded with a dead car.</a:t>
            </a:r>
          </a:p>
          <a:p>
            <a:pPr>
              <a:spcAft>
                <a:spcPts val="1200"/>
              </a:spcAft>
            </a:pPr>
            <a:r>
              <a:rPr b="1" sz="1800">
                <a:solidFill>
                  <a:srgbClr val="0F172A"/>
                </a:solidFill>
              </a:rPr>
              <a:t>Our Industrial Solution: </a:t>
            </a:r>
            <a:r>
              <a:rPr b="0" sz="1800">
                <a:solidFill>
                  <a:srgbClr val="1E293B"/>
                </a:solidFill>
              </a:rPr>
              <a:t>A dynamic tracking dashboard that polls vehicle telemetry every 5 cycles while driving, combining regularized LightGBM decision trees with physical electrical equations and a guaranteed 90% Conformal Prediction safety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Base Paper Comparison &amp; Our Core Contributions</a:t>
            </a:r>
          </a:p>
          <a:p>
            <a:pPr>
              <a:defRPr sz="1600">
                <a:solidFill>
                  <a:srgbClr val="0284C7"/>
                </a:solidFill>
                <a:latin typeface="Calibri"/>
              </a:defRPr>
            </a:pPr>
            <a:r>
              <a:t>Advancing from Static Snapshot Estimation to Continuous Vehicle Telemetry</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700">
                <a:solidFill>
                  <a:srgbClr val="0F172A"/>
                </a:solidFill>
              </a:rPr>
              <a:t>Base Benchmark Paper: </a:t>
            </a:r>
            <a:r>
              <a:rPr b="0" sz="1700">
                <a:solidFill>
                  <a:srgbClr val="1E293B"/>
                </a:solidFill>
              </a:rPr>
              <a:t>Severson et al., 'Data-driven prediction of battery cycle life before capacity degradation', Nature Energy (2019).</a:t>
            </a:r>
          </a:p>
          <a:p>
            <a:pPr>
              <a:spcAft>
                <a:spcPts val="1200"/>
              </a:spcAft>
            </a:pPr>
            <a:r>
              <a:rPr b="1" sz="1700">
                <a:solidFill>
                  <a:srgbClr val="0F172A"/>
                </a:solidFill>
              </a:rPr>
              <a:t>Base Paper Limitation: </a:t>
            </a:r>
            <a:r>
              <a:rPr b="0" sz="1700">
                <a:solidFill>
                  <a:srgbClr val="1E293B"/>
                </a:solidFill>
              </a:rPr>
              <a:t>They took a single static snapshot of early life (Cycles 10–100) and made one lifetime guess. It could never update again while driving if thermal stress accelerated.</a:t>
            </a:r>
          </a:p>
          <a:p>
            <a:pPr>
              <a:spcAft>
                <a:spcPts val="1200"/>
              </a:spcAft>
            </a:pPr>
            <a:r>
              <a:rPr b="1" sz="1700">
                <a:solidFill>
                  <a:srgbClr val="0F172A"/>
                </a:solidFill>
              </a:rPr>
              <a:t>Our Improvement 1 - Dynamic Real-Time Tracking: </a:t>
            </a:r>
            <a:r>
              <a:rPr b="0" sz="1700">
                <a:solidFill>
                  <a:srgbClr val="1E293B"/>
                </a:solidFill>
              </a:rPr>
              <a:t>We poll telemetry checkpoints every 5 cycles to continuously update remaining lifespan while driving.</a:t>
            </a:r>
          </a:p>
          <a:p>
            <a:pPr>
              <a:spcAft>
                <a:spcPts val="1200"/>
              </a:spcAft>
            </a:pPr>
            <a:r>
              <a:rPr b="1" sz="1700">
                <a:solidFill>
                  <a:srgbClr val="0F172A"/>
                </a:solidFill>
              </a:rPr>
              <a:t>Our Improvement 2 - Guaranteed Safety Margins: </a:t>
            </a:r>
            <a:r>
              <a:rPr b="0" sz="1700">
                <a:solidFill>
                  <a:srgbClr val="1E293B"/>
                </a:solidFill>
              </a:rPr>
              <a:t>Instead of a raw guess, we provide a 90% Conformal Prediction safety bracket giving a known worst-case maintenance window.</a:t>
            </a:r>
          </a:p>
          <a:p>
            <a:pPr>
              <a:spcAft>
                <a:spcPts val="1200"/>
              </a:spcAft>
            </a:pPr>
            <a:r>
              <a:rPr b="1" sz="1700">
                <a:solidFill>
                  <a:srgbClr val="0F172A"/>
                </a:solidFill>
              </a:rPr>
              <a:t>Our Improvement 3 - True Unseen Validation: </a:t>
            </a:r>
            <a:r>
              <a:rPr b="0" sz="1700">
                <a:solidFill>
                  <a:srgbClr val="1E293B"/>
                </a:solidFill>
              </a:rPr>
              <a:t>We used Grouped Leave-Cells-Out validation so the AI is tested on completely hidden EV batteries.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 Light Gradient Boosting Machine</a:t>
            </a:r>
          </a:p>
          <a:p>
            <a:pPr>
              <a:defRPr sz="1600">
                <a:solidFill>
                  <a:srgbClr val="0284C7"/>
                </a:solidFill>
                <a:latin typeface="Calibri"/>
              </a:defRPr>
            </a:pPr>
            <a:r>
              <a:t>Sequential error correction optimized specifically for tabular sensor data</a:t>
            </a:r>
          </a:p>
        </p:txBody>
      </p:sp>
      <p:sp>
        <p:nvSpPr>
          <p:cNvPr id="3" name="Rounded Rectangle 2"/>
          <p:cNvSpPr/>
          <p:nvPr/>
        </p:nvSpPr>
        <p:spPr>
          <a:xfrm>
            <a:off x="594360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1737360"/>
            <a:ext cx="1188720" cy="731520"/>
          </a:xfrm>
          <a:prstGeom prst="rect">
            <a:avLst/>
          </a:prstGeom>
          <a:noFill/>
        </p:spPr>
        <p:txBody>
          <a:bodyPr wrap="square">
            <a:spAutoFit/>
          </a:bodyPr>
          <a:lstStyle/>
          <a:p>
            <a:pPr algn="ctr">
              <a:defRPr sz="1600" b="1">
                <a:solidFill>
                  <a:srgbClr val="FFFFFF"/>
                </a:solidFill>
              </a:defRPr>
            </a:pPr>
            <a:r>
              <a:t>Tree 1</a:t>
            </a:r>
          </a:p>
        </p:txBody>
      </p:sp>
      <p:sp>
        <p:nvSpPr>
          <p:cNvPr id="5" name="Rounded Rectangle 4"/>
          <p:cNvSpPr/>
          <p:nvPr/>
        </p:nvSpPr>
        <p:spPr>
          <a:xfrm>
            <a:off x="7498079"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737360"/>
            <a:ext cx="1188720" cy="731520"/>
          </a:xfrm>
          <a:prstGeom prst="rect">
            <a:avLst/>
          </a:prstGeom>
          <a:noFill/>
        </p:spPr>
        <p:txBody>
          <a:bodyPr wrap="square">
            <a:spAutoFit/>
          </a:bodyPr>
          <a:lstStyle/>
          <a:p>
            <a:pPr algn="ctr">
              <a:defRPr sz="1600" b="1">
                <a:solidFill>
                  <a:srgbClr val="FFFFFF"/>
                </a:solidFill>
              </a:defRPr>
            </a:pPr>
            <a:r>
              <a:t>Tree 2</a:t>
            </a:r>
          </a:p>
        </p:txBody>
      </p:sp>
      <p:sp>
        <p:nvSpPr>
          <p:cNvPr id="7" name="Rounded Rectangle 6"/>
          <p:cNvSpPr/>
          <p:nvPr/>
        </p:nvSpPr>
        <p:spPr>
          <a:xfrm>
            <a:off x="905256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1737360"/>
            <a:ext cx="1188720" cy="731520"/>
          </a:xfrm>
          <a:prstGeom prst="rect">
            <a:avLst/>
          </a:prstGeom>
          <a:noFill/>
        </p:spPr>
        <p:txBody>
          <a:bodyPr wrap="square">
            <a:spAutoFit/>
          </a:bodyPr>
          <a:lstStyle/>
          <a:p>
            <a:pPr algn="ctr">
              <a:defRPr sz="1600" b="1">
                <a:solidFill>
                  <a:srgbClr val="FFFFFF"/>
                </a:solidFill>
              </a:defRPr>
            </a:pPr>
            <a:r>
              <a:t>Tree 3</a:t>
            </a:r>
          </a:p>
        </p:txBody>
      </p:sp>
      <p:sp>
        <p:nvSpPr>
          <p:cNvPr id="9" name="Rounded Rectangle 8"/>
          <p:cNvSpPr/>
          <p:nvPr/>
        </p:nvSpPr>
        <p:spPr>
          <a:xfrm>
            <a:off x="10607040" y="1645920"/>
            <a:ext cx="1188720" cy="9144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0" y="1737360"/>
            <a:ext cx="1188720" cy="731520"/>
          </a:xfrm>
          <a:prstGeom prst="rect">
            <a:avLst/>
          </a:prstGeom>
          <a:noFill/>
        </p:spPr>
        <p:txBody>
          <a:bodyPr wrap="square">
            <a:spAutoFit/>
          </a:bodyPr>
          <a:lstStyle/>
          <a:p>
            <a:pPr algn="ctr">
              <a:defRPr sz="1600" b="1">
                <a:solidFill>
                  <a:srgbClr val="FFFFFF"/>
                </a:solidFill>
              </a:defRPr>
            </a:pPr>
            <a:r>
              <a:t>Tree N</a:t>
            </a:r>
          </a:p>
        </p:txBody>
      </p:sp>
      <p:sp>
        <p:nvSpPr>
          <p:cNvPr id="11" name="TextBox 10"/>
          <p:cNvSpPr txBox="1"/>
          <p:nvPr/>
        </p:nvSpPr>
        <p:spPr>
          <a:xfrm>
            <a:off x="7178040" y="1828800"/>
            <a:ext cx="365760" cy="548640"/>
          </a:xfrm>
          <a:prstGeom prst="rect">
            <a:avLst/>
          </a:prstGeom>
          <a:noFill/>
        </p:spPr>
        <p:txBody>
          <a:bodyPr wrap="none">
            <a:spAutoFit/>
          </a:bodyPr>
          <a:lstStyle/>
          <a:p>
            <a:pPr>
              <a:defRPr sz="2400" b="1">
                <a:solidFill>
                  <a:srgbClr val="0D9488"/>
                </a:solidFill>
              </a:defRPr>
            </a:pPr>
            <a:r>
              <a:t>→</a:t>
            </a:r>
          </a:p>
        </p:txBody>
      </p:sp>
      <p:sp>
        <p:nvSpPr>
          <p:cNvPr id="12" name="TextBox 11"/>
          <p:cNvSpPr txBox="1"/>
          <p:nvPr/>
        </p:nvSpPr>
        <p:spPr>
          <a:xfrm>
            <a:off x="8732520" y="1828800"/>
            <a:ext cx="365760" cy="548640"/>
          </a:xfrm>
          <a:prstGeom prst="rect">
            <a:avLst/>
          </a:prstGeom>
          <a:noFill/>
        </p:spPr>
        <p:txBody>
          <a:bodyPr wrap="none">
            <a:spAutoFit/>
          </a:bodyPr>
          <a:lstStyle/>
          <a:p>
            <a:pPr>
              <a:defRPr sz="2400" b="1">
                <a:solidFill>
                  <a:srgbClr val="0D9488"/>
                </a:solidFill>
              </a:defRPr>
            </a:pPr>
            <a:r>
              <a:t>→</a:t>
            </a:r>
          </a:p>
        </p:txBody>
      </p:sp>
      <p:sp>
        <p:nvSpPr>
          <p:cNvPr id="13" name="TextBox 12"/>
          <p:cNvSpPr txBox="1"/>
          <p:nvPr/>
        </p:nvSpPr>
        <p:spPr>
          <a:xfrm>
            <a:off x="10287000" y="1828800"/>
            <a:ext cx="365760" cy="548640"/>
          </a:xfrm>
          <a:prstGeom prst="rect">
            <a:avLst/>
          </a:prstGeom>
          <a:noFill/>
        </p:spPr>
        <p:txBody>
          <a:bodyPr wrap="none">
            <a:spAutoFit/>
          </a:bodyPr>
          <a:lstStyle/>
          <a:p>
            <a:pPr>
              <a:defRPr sz="2400" b="1">
                <a:solidFill>
                  <a:srgbClr val="0D9488"/>
                </a:solidFill>
              </a:defRPr>
            </a:pPr>
            <a:r>
              <a:t>→</a:t>
            </a:r>
          </a:p>
        </p:txBody>
      </p:sp>
      <p:sp>
        <p:nvSpPr>
          <p:cNvPr id="14" name="TextBox 13"/>
          <p:cNvSpPr txBox="1"/>
          <p:nvPr/>
        </p:nvSpPr>
        <p:spPr>
          <a:xfrm>
            <a:off x="5943600" y="2651760"/>
            <a:ext cx="5852160" cy="457200"/>
          </a:xfrm>
          <a:prstGeom prst="rect">
            <a:avLst/>
          </a:prstGeom>
          <a:noFill/>
        </p:spPr>
        <p:txBody>
          <a:bodyPr wrap="none">
            <a:spAutoFit/>
          </a:bodyPr>
          <a:lstStyle/>
          <a:p>
            <a:pPr>
              <a:defRPr sz="1300" i="1">
                <a:solidFill>
                  <a:srgbClr val="475569"/>
                </a:solidFill>
              </a:defRPr>
            </a:pPr>
            <a:r>
              <a:t>Each tree learns from the residual error of the trees before it.</a:t>
            </a:r>
          </a:p>
        </p:txBody>
      </p:sp>
      <p:sp>
        <p:nvSpPr>
          <p:cNvPr id="15" name="TextBox 14"/>
          <p:cNvSpPr txBox="1"/>
          <p:nvPr/>
        </p:nvSpPr>
        <p:spPr>
          <a:xfrm>
            <a:off x="548640" y="1645920"/>
            <a:ext cx="5120640" cy="2286000"/>
          </a:xfrm>
          <a:prstGeom prst="rect">
            <a:avLst/>
          </a:prstGeom>
          <a:noFill/>
        </p:spPr>
        <p:txBody>
          <a:bodyPr wrap="square" tIns="91440" bIns="91440">
            <a:spAutoFit/>
          </a:bodyPr>
          <a:lstStyle/>
          <a:p>
            <a:pPr>
              <a:spcAft>
                <a:spcPts val="1200"/>
              </a:spcAft>
            </a:pPr>
            <a:r>
              <a:rPr b="1" sz="1500">
                <a:solidFill>
                  <a:srgbClr val="0F172A"/>
                </a:solidFill>
              </a:rPr>
              <a:t>How it learns: </a:t>
            </a:r>
            <a:r>
              <a:rPr b="0" sz="1500">
                <a:solidFill>
                  <a:srgbClr val="1E293B"/>
                </a:solidFill>
              </a:rPr>
              <a:t>Builds hundreds of sequential Decision Trees.</a:t>
            </a:r>
          </a:p>
          <a:p>
            <a:pPr>
              <a:spcAft>
                <a:spcPts val="1200"/>
              </a:spcAft>
            </a:pPr>
            <a:r>
              <a:rPr b="1" sz="1500">
                <a:solidFill>
                  <a:srgbClr val="0F172A"/>
                </a:solidFill>
              </a:rPr>
              <a:t>Gradient Boosting: </a:t>
            </a:r>
            <a:r>
              <a:rPr b="0" sz="1500">
                <a:solidFill>
                  <a:srgbClr val="1E293B"/>
                </a:solidFill>
              </a:rPr>
              <a:t>Each new tree is mathematically designed to correct the residual errors made by the previous tree.</a:t>
            </a:r>
          </a:p>
          <a:p>
            <a:pPr>
              <a:spcAft>
                <a:spcPts val="1200"/>
              </a:spcAft>
            </a:pPr>
            <a:r>
              <a:rPr b="1" sz="1500">
                <a:solidFill>
                  <a:srgbClr val="0F172A"/>
                </a:solidFill>
              </a:rPr>
              <a:t>High Efficiency: </a:t>
            </a:r>
            <a:r>
              <a:rPr b="0" sz="1500">
                <a:solidFill>
                  <a:srgbClr val="1E293B"/>
                </a:solidFill>
              </a:rPr>
              <a:t>Neural networks are computationally heavy. LightGBM runs in under 1 millisecond on car microcontrollers.</a:t>
            </a:r>
          </a:p>
        </p:txBody>
      </p:sp>
      <p:sp>
        <p:nvSpPr>
          <p:cNvPr id="16" name="Rounded Rectangle 15"/>
          <p:cNvSpPr/>
          <p:nvPr/>
        </p:nvSpPr>
        <p:spPr>
          <a:xfrm>
            <a:off x="548640" y="3931920"/>
            <a:ext cx="5120640" cy="256032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06240"/>
            <a:ext cx="4754880" cy="2194560"/>
          </a:xfrm>
          <a:prstGeom prst="rect">
            <a:avLst/>
          </a:prstGeom>
          <a:noFill/>
        </p:spPr>
        <p:txBody>
          <a:bodyPr wrap="square">
            <a:spAutoFit/>
          </a:bodyPr>
          <a:lstStyle/>
          <a:p>
            <a:pPr>
              <a:spcAft>
                <a:spcPts val="1400"/>
              </a:spcAft>
              <a:defRPr sz="2000" b="1">
                <a:solidFill>
                  <a:srgbClr val="0F172A"/>
                </a:solidFill>
                <a:latin typeface="Calibri"/>
              </a:defRPr>
            </a:pPr>
            <a:r>
              <a:t>Validation Plan</a:t>
            </a:r>
          </a:p>
          <a:p>
            <a:pPr>
              <a:defRPr sz="1500">
                <a:solidFill>
                  <a:srgbClr val="1E293B"/>
                </a:solidFill>
                <a:latin typeface="Calibri"/>
              </a:defRPr>
            </a:pPr>
            <a:r>
              <a:t>Validated using Grouped Leave-Cells-Out Validation (GroupShuffleSplit). Of 124 batteries, 100 complete cell lifespans trained the model, while 24 randomly sampled physical batteries were locked away as strictly unseen test cases to prevent data leakage.</a:t>
            </a:r>
          </a:p>
        </p:txBody>
      </p:sp>
      <p:sp>
        <p:nvSpPr>
          <p:cNvPr id="18" name="Rounded Rectangle 17"/>
          <p:cNvSpPr/>
          <p:nvPr/>
        </p:nvSpPr>
        <p:spPr>
          <a:xfrm>
            <a:off x="5943600" y="3291840"/>
            <a:ext cx="5852160" cy="3200400"/>
          </a:xfrm>
          <a:prstGeom prst="roundRect">
            <a:avLst/>
          </a:prstGeom>
          <a:solidFill>
            <a:srgbClr val="FFFFFF"/>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657600"/>
            <a:ext cx="2560320" cy="2286000"/>
          </a:xfrm>
          <a:prstGeom prst="rect">
            <a:avLst/>
          </a:prstGeom>
          <a:noFill/>
        </p:spPr>
        <p:txBody>
          <a:bodyPr wrap="none">
            <a:spAutoFit/>
          </a:bodyPr>
          <a:lstStyle/>
          <a:p>
            <a:pPr algn="ctr">
              <a:defRPr sz="6400" b="1">
                <a:solidFill>
                  <a:srgbClr val="0D9488"/>
                </a:solidFill>
              </a:defRPr>
            </a:pPr>
            <a:r>
              <a:t>8</a:t>
            </a:r>
          </a:p>
          <a:p>
            <a:pPr algn="ctr">
              <a:defRPr sz="1400">
                <a:solidFill>
                  <a:srgbClr val="475569"/>
                </a:solidFill>
              </a:defRPr>
            </a:pPr>
            <a:r>
              <a:t>physics features per prediction window</a:t>
            </a:r>
          </a:p>
        </p:txBody>
      </p:sp>
      <p:sp>
        <p:nvSpPr>
          <p:cNvPr id="20" name="TextBox 19"/>
          <p:cNvSpPr txBox="1"/>
          <p:nvPr/>
        </p:nvSpPr>
        <p:spPr>
          <a:xfrm>
            <a:off x="8961120" y="3657600"/>
            <a:ext cx="2560320" cy="2286000"/>
          </a:xfrm>
          <a:prstGeom prst="rect">
            <a:avLst/>
          </a:prstGeom>
          <a:noFill/>
        </p:spPr>
        <p:txBody>
          <a:bodyPr wrap="none">
            <a:spAutoFit/>
          </a:bodyPr>
          <a:lstStyle/>
          <a:p>
            <a:pPr algn="ctr">
              <a:defRPr sz="6400" b="1">
                <a:solidFill>
                  <a:srgbClr val="0D9488"/>
                </a:solidFill>
              </a:defRPr>
            </a:pPr>
            <a:r>
              <a:t>124</a:t>
            </a:r>
          </a:p>
          <a:p>
            <a:pPr algn="ctr">
              <a:defRPr sz="1400">
                <a:solidFill>
                  <a:srgbClr val="475569"/>
                </a:solidFill>
              </a:defRPr>
            </a:pPr>
            <a:r>
              <a:t>physical battery cells in the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Training &amp; Validation Flow Architecture</a:t>
            </a:r>
          </a:p>
          <a:p>
            <a:pPr>
              <a:defRPr sz="1600">
                <a:solidFill>
                  <a:srgbClr val="0284C7"/>
                </a:solidFill>
                <a:latin typeface="Calibri"/>
              </a:defRPr>
            </a:pPr>
            <a:r>
              <a:t>Grouped Leave-Cells-Out Splitting &amp; Guaranteed Safety Brackets</a:t>
            </a:r>
          </a:p>
        </p:txBody>
      </p:sp>
      <p:sp>
        <p:nvSpPr>
          <p:cNvPr id="3" name="Rounded Rectangle 2"/>
          <p:cNvSpPr/>
          <p:nvPr/>
        </p:nvSpPr>
        <p:spPr>
          <a:xfrm>
            <a:off x="3291840" y="1463040"/>
            <a:ext cx="5577840" cy="822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91840" y="1554480"/>
            <a:ext cx="5577840" cy="640080"/>
          </a:xfrm>
          <a:prstGeom prst="rect">
            <a:avLst/>
          </a:prstGeom>
          <a:noFill/>
        </p:spPr>
        <p:txBody>
          <a:bodyPr wrap="square">
            <a:spAutoFit/>
          </a:bodyPr>
          <a:lstStyle/>
          <a:p>
            <a:pPr algn="ctr">
              <a:defRPr sz="1600" b="1">
                <a:solidFill>
                  <a:srgbClr val="FFFFFF"/>
                </a:solidFill>
              </a:defRPr>
            </a:pPr>
            <a:r>
              <a:t>124 Total Physical Batteries</a:t>
            </a:r>
          </a:p>
        </p:txBody>
      </p:sp>
      <p:sp>
        <p:nvSpPr>
          <p:cNvPr id="5" name="Rounded Rectangle 4"/>
          <p:cNvSpPr/>
          <p:nvPr/>
        </p:nvSpPr>
        <p:spPr>
          <a:xfrm>
            <a:off x="1097280" y="2651760"/>
            <a:ext cx="4754880" cy="1371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4754880" cy="1188720"/>
          </a:xfrm>
          <a:prstGeom prst="rect">
            <a:avLst/>
          </a:prstGeom>
          <a:noFill/>
        </p:spPr>
        <p:txBody>
          <a:bodyPr wrap="square">
            <a:spAutoFit/>
          </a:bodyPr>
          <a:lstStyle/>
          <a:p>
            <a:pPr algn="ctr">
              <a:defRPr sz="1600" b="1">
                <a:solidFill>
                  <a:srgbClr val="FFFFFF"/>
                </a:solidFill>
              </a:defRPr>
            </a:pPr>
            <a:r>
              <a:t>80% Training Vault</a:t>
            </a:r>
          </a:p>
          <a:p>
            <a:pPr algn="ctr">
              <a:defRPr sz="1200">
                <a:solidFill>
                  <a:srgbClr val="FFFFFF"/>
                </a:solidFill>
              </a:defRPr>
            </a:pPr>
            <a:r>
              <a:t>Contains ~100 Batteries</a:t>
            </a:r>
            <a:br/>
            <a:r>
              <a:t>Used to train the LightGBM algorithm • AI learns from its own mistakes</a:t>
            </a:r>
          </a:p>
        </p:txBody>
      </p:sp>
      <p:sp>
        <p:nvSpPr>
          <p:cNvPr id="7" name="Rounded Rectangle 6"/>
          <p:cNvSpPr/>
          <p:nvPr/>
        </p:nvSpPr>
        <p:spPr>
          <a:xfrm>
            <a:off x="6309360" y="2651760"/>
            <a:ext cx="4754880" cy="1371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2743200"/>
            <a:ext cx="4754880" cy="1188720"/>
          </a:xfrm>
          <a:prstGeom prst="rect">
            <a:avLst/>
          </a:prstGeom>
          <a:noFill/>
        </p:spPr>
        <p:txBody>
          <a:bodyPr wrap="square">
            <a:spAutoFit/>
          </a:bodyPr>
          <a:lstStyle/>
          <a:p>
            <a:pPr algn="ctr">
              <a:defRPr sz="1600" b="1">
                <a:solidFill>
                  <a:srgbClr val="FFFFFF"/>
                </a:solidFill>
              </a:defRPr>
            </a:pPr>
            <a:r>
              <a:t>20% Testing Vault</a:t>
            </a:r>
          </a:p>
          <a:p>
            <a:pPr algn="ctr">
              <a:defRPr sz="1200">
                <a:solidFill>
                  <a:srgbClr val="FFFFFF"/>
                </a:solidFill>
              </a:defRPr>
            </a:pPr>
            <a:r>
              <a:t>24 strictly hidden Batteries</a:t>
            </a:r>
            <a:br/>
            <a:r>
              <a:t>AI never sees these during training • Pure real-world evaluation</a:t>
            </a:r>
          </a:p>
        </p:txBody>
      </p:sp>
      <p:sp>
        <p:nvSpPr>
          <p:cNvPr id="9" name="Rounded Rectangle 8"/>
          <p:cNvSpPr/>
          <p:nvPr/>
        </p:nvSpPr>
        <p:spPr>
          <a:xfrm>
            <a:off x="1097280" y="4297680"/>
            <a:ext cx="4754880" cy="64008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389120"/>
            <a:ext cx="4754880" cy="457200"/>
          </a:xfrm>
          <a:prstGeom prst="rect">
            <a:avLst/>
          </a:prstGeom>
          <a:noFill/>
        </p:spPr>
        <p:txBody>
          <a:bodyPr wrap="square">
            <a:spAutoFit/>
          </a:bodyPr>
          <a:lstStyle/>
          <a:p>
            <a:pPr algn="ctr">
              <a:defRPr sz="1600" b="1">
                <a:solidFill>
                  <a:srgbClr val="0F172A"/>
                </a:solidFill>
              </a:defRPr>
            </a:pPr>
            <a:r>
              <a:t>Trained AI Model</a:t>
            </a:r>
          </a:p>
        </p:txBody>
      </p:sp>
      <p:sp>
        <p:nvSpPr>
          <p:cNvPr id="11" name="Rounded Rectangle 10"/>
          <p:cNvSpPr/>
          <p:nvPr/>
        </p:nvSpPr>
        <p:spPr>
          <a:xfrm>
            <a:off x="6309360" y="4297680"/>
            <a:ext cx="4754880" cy="6400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4389120"/>
            <a:ext cx="4754880" cy="457200"/>
          </a:xfrm>
          <a:prstGeom prst="rect">
            <a:avLst/>
          </a:prstGeom>
          <a:noFill/>
        </p:spPr>
        <p:txBody>
          <a:bodyPr wrap="square">
            <a:spAutoFit/>
          </a:bodyPr>
          <a:lstStyle/>
          <a:p>
            <a:pPr algn="ctr">
              <a:defRPr sz="1600" b="1">
                <a:solidFill>
                  <a:srgbClr val="0F172A"/>
                </a:solidFill>
              </a:defRPr>
            </a:pPr>
            <a:r>
              <a:t>The Final Exam</a:t>
            </a:r>
          </a:p>
        </p:txBody>
      </p:sp>
      <p:sp>
        <p:nvSpPr>
          <p:cNvPr id="13" name="Rounded Rectangle 12"/>
          <p:cNvSpPr/>
          <p:nvPr/>
        </p:nvSpPr>
        <p:spPr>
          <a:xfrm>
            <a:off x="1097280" y="5212080"/>
            <a:ext cx="9966960" cy="11887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303520"/>
            <a:ext cx="9966960" cy="1005840"/>
          </a:xfrm>
          <a:prstGeom prst="rect">
            <a:avLst/>
          </a:prstGeom>
          <a:noFill/>
        </p:spPr>
        <p:txBody>
          <a:bodyPr wrap="square">
            <a:spAutoFit/>
          </a:bodyPr>
          <a:lstStyle/>
          <a:p>
            <a:pPr algn="ctr">
              <a:defRPr sz="1600" b="1">
                <a:solidFill>
                  <a:srgbClr val="FFFFFF"/>
                </a:solidFill>
              </a:defRPr>
            </a:pPr>
            <a:r>
              <a:t>Guaranteed 90% Safety Bracket</a:t>
            </a:r>
          </a:p>
          <a:p>
            <a:pPr algn="ctr">
              <a:defRPr sz="1200">
                <a:solidFill>
                  <a:srgbClr val="FFFFFF"/>
                </a:solidFill>
              </a:defRPr>
            </a:pPr>
            <a:r>
              <a:t>Calculate absolute errors on unseen driving data • Find the 90th-percentile error boundary</a:t>
            </a:r>
            <a:br/>
            <a:r>
              <a:t>90% of the time, real-world prediction errors are strictly within ± 122 cycles!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Dataset Specifications &amp; Engineering Assumptions</a:t>
            </a:r>
          </a:p>
          <a:p>
            <a:pPr>
              <a:defRPr sz="1600">
                <a:solidFill>
                  <a:srgbClr val="0284C7"/>
                </a:solidFill>
                <a:latin typeface="Calibri"/>
              </a:defRPr>
            </a:pPr>
            <a:r>
              <a:t>Stanford / MIT / Toyota Research Institute Benchmark Dataset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600">
                <a:solidFill>
                  <a:srgbClr val="0F172A"/>
                </a:solidFill>
              </a:rPr>
              <a:t>Battery Cell Specs: </a:t>
            </a:r>
            <a:r>
              <a:rPr b="0" sz="1600">
                <a:solidFill>
                  <a:srgbClr val="1E293B"/>
                </a:solidFill>
              </a:rPr>
              <a:t>124 physical A123 Systems APR18650M1A Lithium Iron Phosphate (LFP) cylindrical cells (18 mm x 65 mm).</a:t>
            </a:r>
          </a:p>
          <a:p>
            <a:pPr>
              <a:spcAft>
                <a:spcPts val="1200"/>
              </a:spcAft>
            </a:pPr>
            <a:r>
              <a:rPr b="1" sz="1600">
                <a:solidFill>
                  <a:srgbClr val="0F172A"/>
                </a:solidFill>
              </a:rPr>
              <a:t>Nominal Ratings: </a:t>
            </a:r>
            <a:r>
              <a:rPr b="0" sz="1600">
                <a:solidFill>
                  <a:srgbClr val="1E293B"/>
                </a:solidFill>
              </a:rPr>
              <a:t>Capacity = 1.1 Ah; Voltage = 3.3 V (Operating range: 2.0 V to 3.6 V).</a:t>
            </a:r>
          </a:p>
          <a:p>
            <a:pPr>
              <a:spcAft>
                <a:spcPts val="1200"/>
              </a:spcAft>
            </a:pPr>
            <a:r>
              <a:rPr b="1" sz="1600">
                <a:solidFill>
                  <a:srgbClr val="0F172A"/>
                </a:solidFill>
              </a:rPr>
              <a:t>Testing Conditions: </a:t>
            </a:r>
            <a:r>
              <a:rPr b="0" sz="1600">
                <a:solidFill>
                  <a:srgbClr val="1E293B"/>
                </a:solidFill>
              </a:rPr>
              <a:t>Continuous fast-charging (1C to 6C rates) inside 30°C thermal chambers until 80% State of Health (0.88 Ah).</a:t>
            </a:r>
          </a:p>
          <a:p>
            <a:pPr>
              <a:spcAft>
                <a:spcPts val="1200"/>
              </a:spcAft>
            </a:pPr>
            <a:r>
              <a:rPr b="1" sz="1600">
                <a:solidFill>
                  <a:srgbClr val="0F172A"/>
                </a:solidFill>
              </a:rPr>
              <a:t>Unseen Test Cell Identity: </a:t>
            </a:r>
            <a:r>
              <a:rPr b="0" sz="1600">
                <a:solidFill>
                  <a:srgbClr val="1E293B"/>
                </a:solidFill>
              </a:rPr>
              <a:t>In our trajectory and control plots, we specifically highlight Unseen Test Cell '2017-05-12_cell_12' as our real-world validation proof.</a:t>
            </a:r>
          </a:p>
          <a:p>
            <a:pPr>
              <a:spcAft>
                <a:spcPts val="1200"/>
              </a:spcAft>
            </a:pPr>
            <a:r>
              <a:rPr b="1" sz="1600">
                <a:solidFill>
                  <a:srgbClr val="0F172A"/>
                </a:solidFill>
              </a:rPr>
              <a:t>Assumption 1 - 1st-Order Circuit Dominance: </a:t>
            </a:r>
            <a:r>
              <a:rPr b="0" sz="1600">
                <a:solidFill>
                  <a:srgbClr val="1E293B"/>
                </a:solidFill>
              </a:rPr>
              <a:t>We assume a 1-resistor/1-capacitor equivalent circuit captures &gt;95% of dynamic voltage response without lagging microchips.</a:t>
            </a:r>
          </a:p>
          <a:p>
            <a:pPr>
              <a:spcAft>
                <a:spcPts val="1200"/>
              </a:spcAft>
            </a:pPr>
            <a:r>
              <a:rPr b="1" sz="1600">
                <a:solidFill>
                  <a:srgbClr val="0F172A"/>
                </a:solidFill>
              </a:rPr>
              <a:t>Assumption 2 - Normalized Size Invariance: </a:t>
            </a:r>
            <a:r>
              <a:rPr b="0" sz="1600">
                <a:solidFill>
                  <a:srgbClr val="1E293B"/>
                </a:solidFill>
              </a:rPr>
              <a:t>By measuring capacity as a percentage (SOH = Q / Q_nom), our aging rules apply equally to 1.1 Ah lab cells and large 100 Ah EV battery packs.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Empirical Aging Trajectories across 124 Cells</a:t>
            </a:r>
          </a:p>
          <a:p>
            <a:pPr>
              <a:defRPr sz="1600">
                <a:solidFill>
                  <a:srgbClr val="0284C7"/>
                </a:solidFill>
                <a:latin typeface="Calibri"/>
              </a:defRPr>
            </a:pPr>
            <a:r>
              <a:t>Visualizing Non-Linear Capacity Plunge at End-of-Life</a:t>
            </a:r>
          </a:p>
        </p:txBody>
      </p:sp>
      <p:pic>
        <p:nvPicPr>
          <p:cNvPr id="3" name="Picture 2" descr="04_capacity_fade_curves.png"/>
          <p:cNvPicPr>
            <a:picLocks noChangeAspect="1"/>
          </p:cNvPicPr>
          <p:nvPr/>
        </p:nvPicPr>
        <p:blipFill>
          <a:blip r:embed="rId2"/>
          <a:stretch>
            <a:fillRect/>
          </a:stretch>
        </p:blipFill>
        <p:spPr>
          <a:xfrm>
            <a:off x="548640" y="1463040"/>
            <a:ext cx="6583680" cy="4315156"/>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Non-Linear Plunge: </a:t>
            </a:r>
            <a:r>
              <a:rPr b="0" sz="1600">
                <a:solidFill>
                  <a:srgbClr val="1E293B"/>
                </a:solidFill>
              </a:rPr>
              <a:t>Notice how cell trajectories stay relatively flat during mid-life before suddenly bending downward near 80% SOH.</a:t>
            </a:r>
          </a:p>
          <a:p>
            <a:pPr>
              <a:spcAft>
                <a:spcPts val="1200"/>
              </a:spcAft>
            </a:pPr>
            <a:r>
              <a:rPr b="1" sz="1600">
                <a:solidFill>
                  <a:srgbClr val="0F172A"/>
                </a:solidFill>
              </a:rPr>
              <a:t>Extreme Variance: </a:t>
            </a:r>
            <a:r>
              <a:rPr b="0" sz="1600">
                <a:solidFill>
                  <a:srgbClr val="1E293B"/>
                </a:solidFill>
              </a:rPr>
              <a:t>Fast-charging protocols cause battery failure anywhere between 500 cycles and 1,400 cycles.</a:t>
            </a:r>
          </a:p>
          <a:p>
            <a:pPr>
              <a:spcAft>
                <a:spcPts val="1200"/>
              </a:spcAft>
            </a:pPr>
            <a:r>
              <a:rPr b="1" sz="1600">
                <a:solidFill>
                  <a:srgbClr val="0F172A"/>
                </a:solidFill>
              </a:rPr>
              <a:t>Why Fixed Schedules Fail: </a:t>
            </a:r>
            <a:r>
              <a:rPr b="0" sz="1600">
                <a:solidFill>
                  <a:srgbClr val="1E293B"/>
                </a:solidFill>
              </a:rPr>
              <a:t>Replacing batteries at fixed mileage wastes healthy cells or causes unexpected road breakdowns. Dynamic tracking is mandatory.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Extraction of 8 Dynamic Physics Features</a:t>
            </a:r>
          </a:p>
          <a:p>
            <a:pPr>
              <a:defRPr sz="1600">
                <a:solidFill>
                  <a:srgbClr val="0284C7"/>
                </a:solidFill>
                <a:latin typeface="Calibri"/>
              </a:defRPr>
            </a:pPr>
            <a:r>
              <a:t>Transforming Raw Voltage Waveforms into Diagnostic Health Indicators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600">
                <a:solidFill>
                  <a:srgbClr val="0F172A"/>
                </a:solidFill>
              </a:rPr>
              <a:t>1. cycle: </a:t>
            </a:r>
            <a:r>
              <a:rPr b="0" sz="1600">
                <a:solidFill>
                  <a:srgbClr val="1E293B"/>
                </a:solidFill>
              </a:rPr>
              <a:t>Present operational age of the battery.</a:t>
            </a:r>
          </a:p>
          <a:p>
            <a:pPr>
              <a:spcAft>
                <a:spcPts val="1200"/>
              </a:spcAft>
            </a:pPr>
            <a:r>
              <a:rPr b="1" sz="1600">
                <a:solidFill>
                  <a:srgbClr val="0F172A"/>
                </a:solidFill>
              </a:rPr>
              <a:t>2. SOH: </a:t>
            </a:r>
            <a:r>
              <a:rPr b="0" sz="1600">
                <a:solidFill>
                  <a:srgbClr val="1E293B"/>
                </a:solidFill>
              </a:rPr>
              <a:t>Remaining capacity ratio (Q / Q_nom).</a:t>
            </a:r>
          </a:p>
          <a:p>
            <a:pPr>
              <a:spcAft>
                <a:spcPts val="1200"/>
              </a:spcAft>
            </a:pPr>
            <a:r>
              <a:rPr b="1" sz="1600">
                <a:solidFill>
                  <a:srgbClr val="0F172A"/>
                </a:solidFill>
              </a:rPr>
              <a:t>3. capacity_fade_window: </a:t>
            </a:r>
            <a:r>
              <a:rPr b="0" sz="1600">
                <a:solidFill>
                  <a:srgbClr val="1E293B"/>
                </a:solidFill>
              </a:rPr>
              <a:t>How fast capacity dropped over past 10 cycles.</a:t>
            </a:r>
          </a:p>
          <a:p>
            <a:pPr>
              <a:spcAft>
                <a:spcPts val="1200"/>
              </a:spcAft>
            </a:pPr>
            <a:r>
              <a:rPr b="1" sz="1600">
                <a:solidFill>
                  <a:srgbClr val="0F172A"/>
                </a:solidFill>
              </a:rPr>
              <a:t>4. IR: </a:t>
            </a:r>
            <a:r>
              <a:rPr b="0" sz="1600">
                <a:solidFill>
                  <a:srgbClr val="1E293B"/>
                </a:solidFill>
              </a:rPr>
              <a:t>Electrical friction impedance (dV / dI) impeding current flow.</a:t>
            </a:r>
          </a:p>
          <a:p>
            <a:pPr>
              <a:spcAft>
                <a:spcPts val="1200"/>
              </a:spcAft>
            </a:pPr>
            <a:r>
              <a:rPr b="1" sz="1600">
                <a:solidFill>
                  <a:srgbClr val="0F172A"/>
                </a:solidFill>
              </a:rPr>
              <a:t>5. Tavg: </a:t>
            </a:r>
            <a:r>
              <a:rPr b="0" sz="1600">
                <a:solidFill>
                  <a:srgbClr val="1E293B"/>
                </a:solidFill>
              </a:rPr>
              <a:t>Mean surface temperature across cycle (~30°C).</a:t>
            </a:r>
          </a:p>
          <a:p>
            <a:pPr>
              <a:spcAft>
                <a:spcPts val="1200"/>
              </a:spcAft>
            </a:pPr>
            <a:r>
              <a:rPr b="1" sz="1600">
                <a:solidFill>
                  <a:srgbClr val="0F172A"/>
                </a:solidFill>
              </a:rPr>
              <a:t>6. dQ_log_var: </a:t>
            </a:r>
            <a:r>
              <a:rPr b="0" sz="1600">
                <a:solidFill>
                  <a:srgbClr val="1E293B"/>
                </a:solidFill>
              </a:rPr>
              <a:t>Variance of voltage curve shape (dQ/dV). Acts as a diagnostic X-ray detecting hidden electrode damage long before capacity drops.</a:t>
            </a:r>
          </a:p>
          <a:p>
            <a:pPr>
              <a:spcAft>
                <a:spcPts val="1200"/>
              </a:spcAft>
            </a:pPr>
            <a:r>
              <a:rPr b="1" sz="1600">
                <a:solidFill>
                  <a:srgbClr val="0F172A"/>
                </a:solidFill>
              </a:rPr>
              <a:t>7. dQ_min &amp; 8. dQ_mean: </a:t>
            </a:r>
            <a:r>
              <a:rPr b="0" sz="1600">
                <a:solidFill>
                  <a:srgbClr val="1E293B"/>
                </a:solidFill>
              </a:rPr>
              <a:t>Deepest negative peak and average discharge rate across voltage bins.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Feature Importance Diagnostic Breakdown</a:t>
            </a:r>
          </a:p>
          <a:p>
            <a:pPr>
              <a:defRPr sz="1600">
                <a:solidFill>
                  <a:srgbClr val="0284C7"/>
                </a:solidFill>
                <a:latin typeface="Calibri"/>
              </a:defRPr>
            </a:pPr>
            <a:r>
              <a:t>Why Internal Resistance (IR) &amp; Temperature Dominate Inference</a:t>
            </a:r>
          </a:p>
        </p:txBody>
      </p:sp>
      <p:pic>
        <p:nvPicPr>
          <p:cNvPr id="3" name="Picture 2" descr="02_feature_importance.png"/>
          <p:cNvPicPr>
            <a:picLocks noChangeAspect="1"/>
          </p:cNvPicPr>
          <p:nvPr/>
        </p:nvPicPr>
        <p:blipFill>
          <a:blip r:embed="rId2"/>
          <a:stretch>
            <a:fillRect/>
          </a:stretch>
        </p:blipFill>
        <p:spPr>
          <a:xfrm>
            <a:off x="548640" y="1463040"/>
            <a:ext cx="6583680" cy="3715542"/>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500">
                <a:solidFill>
                  <a:srgbClr val="0F172A"/>
                </a:solidFill>
              </a:rPr>
              <a:t>Dominant Physics Predictor (`IR`): </a:t>
            </a:r>
            <a:r>
              <a:rPr b="0" sz="1500">
                <a:solidFill>
                  <a:srgbClr val="1E293B"/>
                </a:solidFill>
              </a:rPr>
              <a:t>Ranks #1 by a massive margin (~2,000 splits). Internal Resistance directly measures physical SEI layer thickening and loss of ionic conductivity inside the cell.</a:t>
            </a:r>
          </a:p>
          <a:p>
            <a:pPr>
              <a:spcAft>
                <a:spcPts val="1200"/>
              </a:spcAft>
            </a:pPr>
            <a:r>
              <a:rPr b="1" sz="1500">
                <a:solidFill>
                  <a:srgbClr val="0F172A"/>
                </a:solidFill>
              </a:rPr>
              <a:t>Thermal &amp; Capacity Anchors (`Tavg` &amp; `SOH`): </a:t>
            </a:r>
            <a:r>
              <a:rPr b="0" sz="1500">
                <a:solidFill>
                  <a:srgbClr val="1E293B"/>
                </a:solidFill>
              </a:rPr>
              <a:t>Rank #2 and #3. Operating temperature governs chemical aging speed, while current State of Health anchors the remaining capacity baseline.</a:t>
            </a:r>
          </a:p>
          <a:p>
            <a:pPr>
              <a:spcAft>
                <a:spcPts val="1200"/>
              </a:spcAft>
            </a:pPr>
            <a:r>
              <a:rPr b="1" sz="1500">
                <a:solidFill>
                  <a:srgbClr val="0F172A"/>
                </a:solidFill>
              </a:rPr>
              <a:t>Timeline &amp; Slope Tracking (`cycle` &amp; `capacity_fade_window`): </a:t>
            </a:r>
            <a:r>
              <a:rPr b="0" sz="1500">
                <a:solidFill>
                  <a:srgbClr val="1E293B"/>
                </a:solidFill>
              </a:rPr>
              <a:t>Track total operational mileage and immediately register the onset of the end-of-life capacity plunge.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Checkpoint Polling Interval Evaluation Table</a:t>
            </a:r>
          </a:p>
          <a:p>
            <a:pPr>
              <a:defRPr sz="1600">
                <a:solidFill>
                  <a:srgbClr val="0284C7"/>
                </a:solidFill>
                <a:latin typeface="Calibri"/>
              </a:defRPr>
            </a:pPr>
            <a:r>
              <a:t>Evaluating Vehicle Dashboard Update Frequency vs Accuracy (Full Screen Table)</a:t>
            </a:r>
          </a:p>
        </p:txBody>
      </p:sp>
      <p:graphicFrame>
        <p:nvGraphicFramePr>
          <p:cNvPr id="3" name="Table 2"/>
          <p:cNvGraphicFramePr>
            <a:graphicFrameLocks noGrp="1"/>
          </p:cNvGraphicFramePr>
          <p:nvPr/>
        </p:nvGraphicFramePr>
        <p:xfrm>
          <a:off x="457200" y="1645920"/>
          <a:ext cx="11277295" cy="329184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548640">
                <a:tc>
                  <a:txBody>
                    <a:bodyPr/>
                    <a:lstStyle/>
                    <a:p>
                      <a:pPr algn="ctr">
                        <a:defRPr b="1" sz="1500">
                          <a:solidFill>
                            <a:srgbClr val="FFFFFF"/>
                          </a:solidFill>
                        </a:defRPr>
                      </a:pPr>
                      <a:r>
                        <a:t>Interval</a:t>
                      </a:r>
                    </a:p>
                  </a:txBody>
                  <a:tcPr>
                    <a:solidFill>
                      <a:srgbClr val="0F172A"/>
                    </a:solidFill>
                  </a:tcPr>
                </a:tc>
                <a:tc>
                  <a:txBody>
                    <a:bodyPr/>
                    <a:lstStyle/>
                    <a:p>
                      <a:pPr algn="ctr">
                        <a:defRPr b="1" sz="1500">
                          <a:solidFill>
                            <a:srgbClr val="FFFFFF"/>
                          </a:solidFill>
                        </a:defRPr>
                      </a:pPr>
                      <a:r>
                        <a:t>Samples</a:t>
                      </a:r>
                    </a:p>
                  </a:txBody>
                  <a:tcPr>
                    <a:solidFill>
                      <a:srgbClr val="0F172A"/>
                    </a:solidFill>
                  </a:tcPr>
                </a:tc>
                <a:tc>
                  <a:txBody>
                    <a:bodyPr/>
                    <a:lstStyle/>
                    <a:p>
                      <a:pPr algn="ctr">
                        <a:defRPr b="1" sz="1500">
                          <a:solidFill>
                            <a:srgbClr val="FFFFFF"/>
                          </a:solidFill>
                        </a:defRPr>
                      </a:pPr>
                      <a:r>
                        <a:t>MAE Error</a:t>
                      </a:r>
                    </a:p>
                  </a:txBody>
                  <a:tcPr>
                    <a:solidFill>
                      <a:srgbClr val="0F172A"/>
                    </a:solidFill>
                  </a:tcPr>
                </a:tc>
                <a:tc>
                  <a:txBody>
                    <a:bodyPr/>
                    <a:lstStyle/>
                    <a:p>
                      <a:pPr algn="ctr">
                        <a:defRPr b="1" sz="1500">
                          <a:solidFill>
                            <a:srgbClr val="FFFFFF"/>
                          </a:solidFill>
                        </a:defRPr>
                      </a:pPr>
                      <a:r>
                        <a:t>Accuracy (R²)</a:t>
                      </a:r>
                    </a:p>
                  </a:txBody>
                  <a:tcPr>
                    <a:solidFill>
                      <a:srgbClr val="0F172A"/>
                    </a:solidFill>
                  </a:tcPr>
                </a:tc>
                <a:tc>
                  <a:txBody>
                    <a:bodyPr/>
                    <a:lstStyle/>
                    <a:p>
                      <a:pPr algn="ctr">
                        <a:defRPr b="1" sz="1500">
                          <a:solidFill>
                            <a:srgbClr val="FFFFFF"/>
                          </a:solidFill>
                        </a:defRPr>
                      </a:pPr>
                      <a:r>
                        <a:t>Std Dev (σ)</a:t>
                      </a:r>
                    </a:p>
                  </a:txBody>
                  <a:tcPr>
                    <a:solidFill>
                      <a:srgbClr val="0F172A"/>
                    </a:solidFill>
                  </a:tcPr>
                </a:tc>
                <a:tc>
                  <a:txBody>
                    <a:bodyPr/>
                    <a:lstStyle/>
                    <a:p>
                      <a:pPr algn="ctr">
                        <a:defRPr b="1" sz="1500">
                          <a:solidFill>
                            <a:srgbClr val="FFFFFF"/>
                          </a:solidFill>
                        </a:defRPr>
                      </a:pPr>
                      <a:r>
                        <a:t>90% Bracket</a:t>
                      </a:r>
                    </a:p>
                  </a:txBody>
                  <a:tcPr>
                    <a:solidFill>
                      <a:srgbClr val="0F172A"/>
                    </a:solidFill>
                  </a:tcPr>
                </a:tc>
                <a:tc>
                  <a:txBody>
                    <a:bodyPr/>
                    <a:lstStyle/>
                    <a:p>
                      <a:pPr algn="ctr">
                        <a:defRPr b="1" sz="1500">
                          <a:solidFill>
                            <a:srgbClr val="FFFFFF"/>
                          </a:solidFill>
                        </a:defRPr>
                      </a:pPr>
                      <a:r>
                        <a:t>Simple Remarks</a:t>
                      </a:r>
                    </a:p>
                  </a:txBody>
                  <a:tcPr>
                    <a:solidFill>
                      <a:srgbClr val="0F172A"/>
                    </a:solidFill>
                  </a:tcPr>
                </a:tc>
              </a:tr>
              <a:tr h="548640">
                <a:tc>
                  <a:txBody>
                    <a:bodyPr/>
                    <a:lstStyle/>
                    <a:p>
                      <a:pPr>
                        <a:defRPr sz="1400">
                          <a:solidFill>
                            <a:srgbClr val="1E293B"/>
                          </a:solidFill>
                        </a:defRPr>
                      </a:pPr>
                      <a:r>
                        <a:t>5 Cycles (Chosen)</a:t>
                      </a:r>
                    </a:p>
                  </a:txBody>
                  <a:tcPr/>
                </a:tc>
                <a:tc>
                  <a:txBody>
                    <a:bodyPr/>
                    <a:lstStyle/>
                    <a:p>
                      <a:pPr algn="ctr">
                        <a:defRPr sz="1400">
                          <a:solidFill>
                            <a:srgbClr val="1E293B"/>
                          </a:solidFill>
                        </a:defRPr>
                      </a:pPr>
                      <a:r>
                        <a:t>4,234</a:t>
                      </a:r>
                    </a:p>
                  </a:txBody>
                  <a:tcPr/>
                </a:tc>
                <a:tc>
                  <a:txBody>
                    <a:bodyPr/>
                    <a:lstStyle/>
                    <a:p>
                      <a:pPr algn="ctr">
                        <a:defRPr sz="1400">
                          <a:solidFill>
                            <a:srgbClr val="1E293B"/>
                          </a:solidFill>
                        </a:defRPr>
                      </a:pPr>
                      <a:r>
                        <a:t>81.35 Cycles</a:t>
                      </a:r>
                    </a:p>
                  </a:txBody>
                  <a:tcPr/>
                </a:tc>
                <a:tc>
                  <a:txBody>
                    <a:bodyPr/>
                    <a:lstStyle/>
                    <a:p>
                      <a:pPr algn="ctr">
                        <a:defRPr sz="1400">
                          <a:solidFill>
                            <a:srgbClr val="1E293B"/>
                          </a:solidFill>
                        </a:defRPr>
                      </a:pPr>
                      <a:r>
                        <a:t>78.52%</a:t>
                      </a:r>
                    </a:p>
                  </a:txBody>
                  <a:tcPr/>
                </a:tc>
                <a:tc>
                  <a:txBody>
                    <a:bodyPr/>
                    <a:lstStyle/>
                    <a:p>
                      <a:pPr algn="ctr">
                        <a:defRPr sz="1400">
                          <a:solidFill>
                            <a:srgbClr val="1E293B"/>
                          </a:solidFill>
                        </a:defRPr>
                      </a:pPr>
                      <a:r>
                        <a:t>99.35 Cycles</a:t>
                      </a:r>
                    </a:p>
                  </a:txBody>
                  <a:tcPr/>
                </a:tc>
                <a:tc>
                  <a:txBody>
                    <a:bodyPr/>
                    <a:lstStyle/>
                    <a:p>
                      <a:pPr algn="ctr">
                        <a:defRPr sz="1400">
                          <a:solidFill>
                            <a:srgbClr val="1E293B"/>
                          </a:solidFill>
                        </a:defRPr>
                      </a:pPr>
                      <a:r>
                        <a:t>± 122.00 Cycles</a:t>
                      </a:r>
                    </a:p>
                  </a:txBody>
                  <a:tcPr/>
                </a:tc>
                <a:tc>
                  <a:txBody>
                    <a:bodyPr/>
                    <a:lstStyle/>
                    <a:p>
                      <a:pPr>
                        <a:defRPr sz="1400">
                          <a:solidFill>
                            <a:srgbClr val="1E293B"/>
                          </a:solidFill>
                        </a:defRPr>
                      </a:pPr>
                      <a:r>
                        <a:t>Best balance of speed and safety.</a:t>
                      </a:r>
                    </a:p>
                  </a:txBody>
                  <a:tcPr/>
                </a:tc>
              </a:tr>
              <a:tr h="548640">
                <a:tc>
                  <a:txBody>
                    <a:bodyPr/>
                    <a:lstStyle/>
                    <a:p>
                      <a:pPr>
                        <a:defRPr sz="1400">
                          <a:solidFill>
                            <a:srgbClr val="1E293B"/>
                          </a:solidFill>
                        </a:defRPr>
                      </a:pPr>
                      <a:r>
                        <a:t>10 Cycles</a:t>
                      </a:r>
                    </a:p>
                  </a:txBody>
                  <a:tcPr>
                    <a:solidFill>
                      <a:srgbClr val="F1F5F9"/>
                    </a:solidFill>
                  </a:tcPr>
                </a:tc>
                <a:tc>
                  <a:txBody>
                    <a:bodyPr/>
                    <a:lstStyle/>
                    <a:p>
                      <a:pPr algn="ctr">
                        <a:defRPr sz="1400">
                          <a:solidFill>
                            <a:srgbClr val="1E293B"/>
                          </a:solidFill>
                        </a:defRPr>
                      </a:pPr>
                      <a:r>
                        <a:t>2,124</a:t>
                      </a:r>
                    </a:p>
                  </a:txBody>
                  <a:tcPr>
                    <a:solidFill>
                      <a:srgbClr val="F1F5F9"/>
                    </a:solidFill>
                  </a:tcPr>
                </a:tc>
                <a:tc>
                  <a:txBody>
                    <a:bodyPr/>
                    <a:lstStyle/>
                    <a:p>
                      <a:pPr algn="ctr">
                        <a:defRPr sz="1400">
                          <a:solidFill>
                            <a:srgbClr val="1E293B"/>
                          </a:solidFill>
                        </a:defRPr>
                      </a:pPr>
                      <a:r>
                        <a:t>80.68 Cycles</a:t>
                      </a:r>
                    </a:p>
                  </a:txBody>
                  <a:tcPr>
                    <a:solidFill>
                      <a:srgbClr val="F1F5F9"/>
                    </a:solidFill>
                  </a:tcPr>
                </a:tc>
                <a:tc>
                  <a:txBody>
                    <a:bodyPr/>
                    <a:lstStyle/>
                    <a:p>
                      <a:pPr algn="ctr">
                        <a:defRPr sz="1400">
                          <a:solidFill>
                            <a:srgbClr val="1E293B"/>
                          </a:solidFill>
                        </a:defRPr>
                      </a:pPr>
                      <a:r>
                        <a:t>79.02%</a:t>
                      </a:r>
                    </a:p>
                  </a:txBody>
                  <a:tcPr>
                    <a:solidFill>
                      <a:srgbClr val="F1F5F9"/>
                    </a:solidFill>
                  </a:tcPr>
                </a:tc>
                <a:tc>
                  <a:txBody>
                    <a:bodyPr/>
                    <a:lstStyle/>
                    <a:p>
                      <a:pPr algn="ctr">
                        <a:defRPr sz="1400">
                          <a:solidFill>
                            <a:srgbClr val="1E293B"/>
                          </a:solidFill>
                        </a:defRPr>
                      </a:pPr>
                      <a:r>
                        <a:t>98.12 Cycles</a:t>
                      </a:r>
                    </a:p>
                  </a:txBody>
                  <a:tcPr>
                    <a:solidFill>
                      <a:srgbClr val="F1F5F9"/>
                    </a:solidFill>
                  </a:tcPr>
                </a:tc>
                <a:tc>
                  <a:txBody>
                    <a:bodyPr/>
                    <a:lstStyle/>
                    <a:p>
                      <a:pPr algn="ctr">
                        <a:defRPr sz="1400">
                          <a:solidFill>
                            <a:srgbClr val="1E293B"/>
                          </a:solidFill>
                        </a:defRPr>
                      </a:pPr>
                      <a:r>
                        <a:t>± 118.50 Cycles</a:t>
                      </a:r>
                    </a:p>
                  </a:txBody>
                  <a:tcPr>
                    <a:solidFill>
                      <a:srgbClr val="F1F5F9"/>
                    </a:solidFill>
                  </a:tcPr>
                </a:tc>
                <a:tc>
                  <a:txBody>
                    <a:bodyPr/>
                    <a:lstStyle/>
                    <a:p>
                      <a:pPr>
                        <a:defRPr sz="1400">
                          <a:solidFill>
                            <a:srgbClr val="1E293B"/>
                          </a:solidFill>
                        </a:defRPr>
                      </a:pPr>
                      <a:r>
                        <a:t>Good, but delays dashboard alerts.</a:t>
                      </a:r>
                    </a:p>
                  </a:txBody>
                  <a:tcPr>
                    <a:solidFill>
                      <a:srgbClr val="F1F5F9"/>
                    </a:solidFill>
                  </a:tcPr>
                </a:tc>
              </a:tr>
              <a:tr h="548640">
                <a:tc>
                  <a:txBody>
                    <a:bodyPr/>
                    <a:lstStyle/>
                    <a:p>
                      <a:pPr>
                        <a:defRPr sz="1400">
                          <a:solidFill>
                            <a:srgbClr val="1E293B"/>
                          </a:solidFill>
                        </a:defRPr>
                      </a:pPr>
                      <a:r>
                        <a:t>15 Cycles</a:t>
                      </a:r>
                    </a:p>
                  </a:txBody>
                  <a:tcPr/>
                </a:tc>
                <a:tc>
                  <a:txBody>
                    <a:bodyPr/>
                    <a:lstStyle/>
                    <a:p>
                      <a:pPr algn="ctr">
                        <a:defRPr sz="1400">
                          <a:solidFill>
                            <a:srgbClr val="1E293B"/>
                          </a:solidFill>
                        </a:defRPr>
                      </a:pPr>
                      <a:r>
                        <a:t>1,421</a:t>
                      </a:r>
                    </a:p>
                  </a:txBody>
                  <a:tcPr/>
                </a:tc>
                <a:tc>
                  <a:txBody>
                    <a:bodyPr/>
                    <a:lstStyle/>
                    <a:p>
                      <a:pPr algn="ctr">
                        <a:defRPr sz="1400">
                          <a:solidFill>
                            <a:srgbClr val="1E293B"/>
                          </a:solidFill>
                        </a:defRPr>
                      </a:pPr>
                      <a:r>
                        <a:t>82.11 Cycles</a:t>
                      </a:r>
                    </a:p>
                  </a:txBody>
                  <a:tcPr/>
                </a:tc>
                <a:tc>
                  <a:txBody>
                    <a:bodyPr/>
                    <a:lstStyle/>
                    <a:p>
                      <a:pPr algn="ctr">
                        <a:defRPr sz="1400">
                          <a:solidFill>
                            <a:srgbClr val="1E293B"/>
                          </a:solidFill>
                        </a:defRPr>
                      </a:pPr>
                      <a:r>
                        <a:t>78.44%</a:t>
                      </a:r>
                    </a:p>
                  </a:txBody>
                  <a:tcPr/>
                </a:tc>
                <a:tc>
                  <a:txBody>
                    <a:bodyPr/>
                    <a:lstStyle/>
                    <a:p>
                      <a:pPr algn="ctr">
                        <a:defRPr sz="1400">
                          <a:solidFill>
                            <a:srgbClr val="1E293B"/>
                          </a:solidFill>
                        </a:defRPr>
                      </a:pPr>
                      <a:r>
                        <a:t>101.40 Cycles</a:t>
                      </a:r>
                    </a:p>
                  </a:txBody>
                  <a:tcPr/>
                </a:tc>
                <a:tc>
                  <a:txBody>
                    <a:bodyPr/>
                    <a:lstStyle/>
                    <a:p>
                      <a:pPr algn="ctr">
                        <a:defRPr sz="1400">
                          <a:solidFill>
                            <a:srgbClr val="1E293B"/>
                          </a:solidFill>
                        </a:defRPr>
                      </a:pPr>
                      <a:r>
                        <a:t>± 121.70 Cycles</a:t>
                      </a:r>
                    </a:p>
                  </a:txBody>
                  <a:tcPr/>
                </a:tc>
                <a:tc>
                  <a:txBody>
                    <a:bodyPr/>
                    <a:lstStyle/>
                    <a:p>
                      <a:pPr>
                        <a:defRPr sz="1400">
                          <a:solidFill>
                            <a:srgbClr val="1E293B"/>
                          </a:solidFill>
                        </a:defRPr>
                      </a:pPr>
                      <a:r>
                        <a:t>Slightly less precise during drops.</a:t>
                      </a:r>
                    </a:p>
                  </a:txBody>
                  <a:tcPr/>
                </a:tc>
              </a:tr>
              <a:tr h="548640">
                <a:tc>
                  <a:txBody>
                    <a:bodyPr/>
                    <a:lstStyle/>
                    <a:p>
                      <a:pPr>
                        <a:defRPr sz="1400">
                          <a:solidFill>
                            <a:srgbClr val="1E293B"/>
                          </a:solidFill>
                        </a:defRPr>
                      </a:pPr>
                      <a:r>
                        <a:t>20 Cycles</a:t>
                      </a:r>
                    </a:p>
                  </a:txBody>
                  <a:tcPr>
                    <a:solidFill>
                      <a:srgbClr val="F1F5F9"/>
                    </a:solidFill>
                  </a:tcPr>
                </a:tc>
                <a:tc>
                  <a:txBody>
                    <a:bodyPr/>
                    <a:lstStyle/>
                    <a:p>
                      <a:pPr algn="ctr">
                        <a:defRPr sz="1400">
                          <a:solidFill>
                            <a:srgbClr val="1E293B"/>
                          </a:solidFill>
                        </a:defRPr>
                      </a:pPr>
                      <a:r>
                        <a:t>1,070</a:t>
                      </a:r>
                    </a:p>
                  </a:txBody>
                  <a:tcPr>
                    <a:solidFill>
                      <a:srgbClr val="F1F5F9"/>
                    </a:solidFill>
                  </a:tcPr>
                </a:tc>
                <a:tc>
                  <a:txBody>
                    <a:bodyPr/>
                    <a:lstStyle/>
                    <a:p>
                      <a:pPr algn="ctr">
                        <a:defRPr sz="1400">
                          <a:solidFill>
                            <a:srgbClr val="1E293B"/>
                          </a:solidFill>
                        </a:defRPr>
                      </a:pPr>
                      <a:r>
                        <a:t>79.34 Cycles</a:t>
                      </a:r>
                    </a:p>
                  </a:txBody>
                  <a:tcPr>
                    <a:solidFill>
                      <a:srgbClr val="F1F5F9"/>
                    </a:solidFill>
                  </a:tcPr>
                </a:tc>
                <a:tc>
                  <a:txBody>
                    <a:bodyPr/>
                    <a:lstStyle/>
                    <a:p>
                      <a:pPr algn="ctr">
                        <a:defRPr sz="1400">
                          <a:solidFill>
                            <a:srgbClr val="1E293B"/>
                          </a:solidFill>
                        </a:defRPr>
                      </a:pPr>
                      <a:r>
                        <a:t>79.85%</a:t>
                      </a:r>
                    </a:p>
                  </a:txBody>
                  <a:tcPr>
                    <a:solidFill>
                      <a:srgbClr val="F1F5F9"/>
                    </a:solidFill>
                  </a:tcPr>
                </a:tc>
                <a:tc>
                  <a:txBody>
                    <a:bodyPr/>
                    <a:lstStyle/>
                    <a:p>
                      <a:pPr algn="ctr">
                        <a:defRPr sz="1400">
                          <a:solidFill>
                            <a:srgbClr val="1E293B"/>
                          </a:solidFill>
                        </a:defRPr>
                      </a:pPr>
                      <a:r>
                        <a:t>97.05 Cycles</a:t>
                      </a:r>
                    </a:p>
                  </a:txBody>
                  <a:tcPr>
                    <a:solidFill>
                      <a:srgbClr val="F1F5F9"/>
                    </a:solidFill>
                  </a:tcPr>
                </a:tc>
                <a:tc>
                  <a:txBody>
                    <a:bodyPr/>
                    <a:lstStyle/>
                    <a:p>
                      <a:pPr algn="ctr">
                        <a:defRPr sz="1400">
                          <a:solidFill>
                            <a:srgbClr val="1E293B"/>
                          </a:solidFill>
                        </a:defRPr>
                      </a:pPr>
                      <a:r>
                        <a:t>± 116.00 Cycles</a:t>
                      </a:r>
                    </a:p>
                  </a:txBody>
                  <a:tcPr>
                    <a:solidFill>
                      <a:srgbClr val="F1F5F9"/>
                    </a:solidFill>
                  </a:tcPr>
                </a:tc>
                <a:tc>
                  <a:txBody>
                    <a:bodyPr/>
                    <a:lstStyle/>
                    <a:p>
                      <a:pPr>
                        <a:defRPr sz="1400">
                          <a:solidFill>
                            <a:srgbClr val="1E293B"/>
                          </a:solidFill>
                        </a:defRPr>
                      </a:pPr>
                      <a:r>
                        <a:t>Leaves 2-3 week blind spots.</a:t>
                      </a:r>
                    </a:p>
                  </a:txBody>
                  <a:tcPr>
                    <a:solidFill>
                      <a:srgbClr val="F1F5F9"/>
                    </a:solidFill>
                  </a:tcPr>
                </a:tc>
              </a:tr>
              <a:tr h="548640">
                <a:tc>
                  <a:txBody>
                    <a:bodyPr/>
                    <a:lstStyle/>
                    <a:p>
                      <a:pPr>
                        <a:defRPr sz="1400">
                          <a:solidFill>
                            <a:srgbClr val="1E293B"/>
                          </a:solidFill>
                        </a:defRPr>
                      </a:pPr>
                      <a:r>
                        <a:t>50 Cycles (Worst)</a:t>
                      </a:r>
                    </a:p>
                  </a:txBody>
                  <a:tcPr/>
                </a:tc>
                <a:tc>
                  <a:txBody>
                    <a:bodyPr/>
                    <a:lstStyle/>
                    <a:p>
                      <a:pPr algn="ctr">
                        <a:defRPr sz="1400">
                          <a:solidFill>
                            <a:srgbClr val="1E293B"/>
                          </a:solidFill>
                        </a:defRPr>
                      </a:pPr>
                      <a:r>
                        <a:t>435</a:t>
                      </a:r>
                    </a:p>
                  </a:txBody>
                  <a:tcPr/>
                </a:tc>
                <a:tc>
                  <a:txBody>
                    <a:bodyPr/>
                    <a:lstStyle/>
                    <a:p>
                      <a:pPr algn="ctr">
                        <a:defRPr sz="1400">
                          <a:solidFill>
                            <a:srgbClr val="1E293B"/>
                          </a:solidFill>
                        </a:defRPr>
                      </a:pPr>
                      <a:r>
                        <a:t>88.54 Cycles</a:t>
                      </a:r>
                    </a:p>
                  </a:txBody>
                  <a:tcPr/>
                </a:tc>
                <a:tc>
                  <a:txBody>
                    <a:bodyPr/>
                    <a:lstStyle/>
                    <a:p>
                      <a:pPr algn="ctr">
                        <a:defRPr sz="1400">
                          <a:solidFill>
                            <a:srgbClr val="1E293B"/>
                          </a:solidFill>
                        </a:defRPr>
                      </a:pPr>
                      <a:r>
                        <a:t>77.32%</a:t>
                      </a:r>
                    </a:p>
                  </a:txBody>
                  <a:tcPr/>
                </a:tc>
                <a:tc>
                  <a:txBody>
                    <a:bodyPr/>
                    <a:lstStyle/>
                    <a:p>
                      <a:pPr algn="ctr">
                        <a:defRPr sz="1400">
                          <a:solidFill>
                            <a:srgbClr val="1E293B"/>
                          </a:solidFill>
                        </a:defRPr>
                      </a:pPr>
                      <a:r>
                        <a:t>108.90 Cycles</a:t>
                      </a:r>
                    </a:p>
                  </a:txBody>
                  <a:tcPr/>
                </a:tc>
                <a:tc>
                  <a:txBody>
                    <a:bodyPr/>
                    <a:lstStyle/>
                    <a:p>
                      <a:pPr algn="ctr">
                        <a:defRPr sz="1400">
                          <a:solidFill>
                            <a:srgbClr val="1E293B"/>
                          </a:solidFill>
                        </a:defRPr>
                      </a:pPr>
                      <a:r>
                        <a:t>± 130.00 Cycles</a:t>
                      </a:r>
                    </a:p>
                  </a:txBody>
                  <a:tcPr/>
                </a:tc>
                <a:tc>
                  <a:txBody>
                    <a:bodyPr/>
                    <a:lstStyle/>
                    <a:p>
                      <a:pPr>
                        <a:defRPr sz="1400">
                          <a:solidFill>
                            <a:srgbClr val="1E293B"/>
                          </a:solidFill>
                        </a:defRPr>
                      </a:pPr>
                      <a:r>
                        <a:t>Poor; lags badly and misses drops.</a:t>
                      </a:r>
                    </a:p>
                  </a:txBody>
                  <a:tcPr/>
                </a:tc>
              </a:tr>
            </a:tbl>
          </a:graphicData>
        </a:graphic>
      </p:graphicFrame>
      <p:sp>
        <p:nvSpPr>
          <p:cNvPr id="4" name="TextBox 3"/>
          <p:cNvSpPr txBox="1"/>
          <p:nvPr/>
        </p:nvSpPr>
        <p:spPr>
          <a:xfrm>
            <a:off x="457200" y="5212080"/>
            <a:ext cx="11277295" cy="1280160"/>
          </a:xfrm>
          <a:prstGeom prst="rect">
            <a:avLst/>
          </a:prstGeom>
          <a:noFill/>
        </p:spPr>
        <p:txBody>
          <a:bodyPr wrap="square" tIns="91440" bIns="91440">
            <a:spAutoFit/>
          </a:bodyPr>
          <a:lstStyle/>
          <a:p>
            <a:pPr>
              <a:spcAft>
                <a:spcPts val="1200"/>
              </a:spcAft>
            </a:pPr>
            <a:r>
              <a:rPr b="1" sz="1500">
                <a:solidFill>
                  <a:srgbClr val="0F172A"/>
                </a:solidFill>
              </a:rPr>
              <a:t>Engineering Defense Justification (Why 5 Cycles?): </a:t>
            </a:r>
            <a:r>
              <a:rPr b="0" sz="1500">
                <a:solidFill>
                  <a:srgbClr val="1E293B"/>
                </a:solidFill>
              </a:rPr>
              <a:t>If asked by the panel: We chose 5 cycles because polling every 1 cycle overwhelms the vehicle CAN bus network and drains auxiliary power. On the other hand, polling every 20 cycles creates a 3-week blind spot where sudden short circuits go unnoticed. 5 cycles updates the driver safely on every few trips!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Hyperparameter Tuning Experiments</a:t>
            </a:r>
          </a:p>
          <a:p>
            <a:pPr>
              <a:defRPr sz="1600">
                <a:solidFill>
                  <a:srgbClr val="0284C7"/>
                </a:solidFill>
                <a:latin typeface="Calibri"/>
              </a:defRPr>
            </a:pPr>
            <a:r>
              <a:t>Preventing Overfitting on Noisy Automotive Microcontrollers (Full Screen Table)</a:t>
            </a:r>
          </a:p>
        </p:txBody>
      </p:sp>
      <p:graphicFrame>
        <p:nvGraphicFramePr>
          <p:cNvPr id="3" name="Table 2"/>
          <p:cNvGraphicFramePr>
            <a:graphicFrameLocks noGrp="1"/>
          </p:cNvGraphicFramePr>
          <p:nvPr/>
        </p:nvGraphicFramePr>
        <p:xfrm>
          <a:off x="457200" y="1645920"/>
          <a:ext cx="11277295" cy="329184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8"/>
              </a:tblGrid>
              <a:tr h="548640">
                <a:tc>
                  <a:txBody>
                    <a:bodyPr/>
                    <a:lstStyle/>
                    <a:p>
                      <a:pPr algn="ctr">
                        <a:defRPr b="1" sz="1500">
                          <a:solidFill>
                            <a:srgbClr val="FFFFFF"/>
                          </a:solidFill>
                        </a:defRPr>
                      </a:pPr>
                      <a:r>
                        <a:t>Config</a:t>
                      </a:r>
                    </a:p>
                  </a:txBody>
                  <a:tcPr>
                    <a:solidFill>
                      <a:srgbClr val="0F172A"/>
                    </a:solidFill>
                  </a:tcPr>
                </a:tc>
                <a:tc>
                  <a:txBody>
                    <a:bodyPr/>
                    <a:lstStyle/>
                    <a:p>
                      <a:pPr algn="ctr">
                        <a:defRPr b="1" sz="1500">
                          <a:solidFill>
                            <a:srgbClr val="FFFFFF"/>
                          </a:solidFill>
                        </a:defRPr>
                      </a:pPr>
                      <a:r>
                        <a:t>Trees</a:t>
                      </a:r>
                    </a:p>
                  </a:txBody>
                  <a:tcPr>
                    <a:solidFill>
                      <a:srgbClr val="0F172A"/>
                    </a:solidFill>
                  </a:tcPr>
                </a:tc>
                <a:tc>
                  <a:txBody>
                    <a:bodyPr/>
                    <a:lstStyle/>
                    <a:p>
                      <a:pPr algn="ctr">
                        <a:defRPr b="1" sz="1500">
                          <a:solidFill>
                            <a:srgbClr val="FFFFFF"/>
                          </a:solidFill>
                        </a:defRPr>
                      </a:pPr>
                      <a:r>
                        <a:t>Leaves</a:t>
                      </a:r>
                    </a:p>
                  </a:txBody>
                  <a:tcPr>
                    <a:solidFill>
                      <a:srgbClr val="0F172A"/>
                    </a:solidFill>
                  </a:tcPr>
                </a:tc>
                <a:tc>
                  <a:txBody>
                    <a:bodyPr/>
                    <a:lstStyle/>
                    <a:p>
                      <a:pPr algn="ctr">
                        <a:defRPr b="1" sz="1500">
                          <a:solidFill>
                            <a:srgbClr val="FFFFFF"/>
                          </a:solidFill>
                        </a:defRPr>
                      </a:pPr>
                      <a:r>
                        <a:t>LR</a:t>
                      </a:r>
                    </a:p>
                  </a:txBody>
                  <a:tcPr>
                    <a:solidFill>
                      <a:srgbClr val="0F172A"/>
                    </a:solidFill>
                  </a:tcPr>
                </a:tc>
                <a:tc>
                  <a:txBody>
                    <a:bodyPr/>
                    <a:lstStyle/>
                    <a:p>
                      <a:pPr algn="ctr">
                        <a:defRPr b="1" sz="1500">
                          <a:solidFill>
                            <a:srgbClr val="FFFFFF"/>
                          </a:solidFill>
                        </a:defRPr>
                      </a:pPr>
                      <a:r>
                        <a:t>MAE Error</a:t>
                      </a:r>
                    </a:p>
                  </a:txBody>
                  <a:tcPr>
                    <a:solidFill>
                      <a:srgbClr val="0F172A"/>
                    </a:solidFill>
                  </a:tcPr>
                </a:tc>
                <a:tc>
                  <a:txBody>
                    <a:bodyPr/>
                    <a:lstStyle/>
                    <a:p>
                      <a:pPr algn="ctr">
                        <a:defRPr b="1" sz="1500">
                          <a:solidFill>
                            <a:srgbClr val="FFFFFF"/>
                          </a:solidFill>
                        </a:defRPr>
                      </a:pPr>
                      <a:r>
                        <a:t>Accuracy (R²)</a:t>
                      </a:r>
                    </a:p>
                  </a:txBody>
                  <a:tcPr>
                    <a:solidFill>
                      <a:srgbClr val="0F172A"/>
                    </a:solidFill>
                  </a:tcPr>
                </a:tc>
                <a:tc>
                  <a:txBody>
                    <a:bodyPr/>
                    <a:lstStyle/>
                    <a:p>
                      <a:pPr algn="ctr">
                        <a:defRPr b="1" sz="1500">
                          <a:solidFill>
                            <a:srgbClr val="FFFFFF"/>
                          </a:solidFill>
                        </a:defRPr>
                      </a:pPr>
                      <a:r>
                        <a:t>Std Dev (σ)</a:t>
                      </a:r>
                    </a:p>
                  </a:txBody>
                  <a:tcPr>
                    <a:solidFill>
                      <a:srgbClr val="0F172A"/>
                    </a:solidFill>
                  </a:tcPr>
                </a:tc>
                <a:tc>
                  <a:txBody>
                    <a:bodyPr/>
                    <a:lstStyle/>
                    <a:p>
                      <a:pPr algn="ctr">
                        <a:defRPr b="1" sz="1500">
                          <a:solidFill>
                            <a:srgbClr val="FFFFFF"/>
                          </a:solidFill>
                        </a:defRPr>
                      </a:pPr>
                      <a:r>
                        <a:t>Simple Remarks</a:t>
                      </a:r>
                    </a:p>
                  </a:txBody>
                  <a:tcPr>
                    <a:solidFill>
                      <a:srgbClr val="0F172A"/>
                    </a:solidFill>
                  </a:tcPr>
                </a:tc>
              </a:tr>
              <a:tr h="548640">
                <a:tc>
                  <a:txBody>
                    <a:bodyPr/>
                    <a:lstStyle/>
                    <a:p>
                      <a:pPr>
                        <a:defRPr sz="1400">
                          <a:solidFill>
                            <a:srgbClr val="1E293B"/>
                          </a:solidFill>
                        </a:defRPr>
                      </a:pPr>
                      <a:r>
                        <a:t>Config 1 (Underfit)</a:t>
                      </a:r>
                    </a:p>
                  </a:txBody>
                  <a:tcPr/>
                </a:tc>
                <a:tc>
                  <a:txBody>
                    <a:bodyPr/>
                    <a:lstStyle/>
                    <a:p>
                      <a:pPr algn="ctr">
                        <a:defRPr sz="1400">
                          <a:solidFill>
                            <a:srgbClr val="1E293B"/>
                          </a:solidFill>
                        </a:defRPr>
                      </a:pPr>
                      <a:r>
                        <a:t>100</a:t>
                      </a:r>
                    </a:p>
                  </a:txBody>
                  <a:tcPr/>
                </a:tc>
                <a:tc>
                  <a:txBody>
                    <a:bodyPr/>
                    <a:lstStyle/>
                    <a:p>
                      <a:pPr algn="ctr">
                        <a:defRPr sz="1400">
                          <a:solidFill>
                            <a:srgbClr val="1E293B"/>
                          </a:solidFill>
                        </a:defRPr>
                      </a:pPr>
                      <a:r>
                        <a:t>15</a:t>
                      </a:r>
                    </a:p>
                  </a:txBody>
                  <a:tcPr/>
                </a:tc>
                <a:tc>
                  <a:txBody>
                    <a:bodyPr/>
                    <a:lstStyle/>
                    <a:p>
                      <a:pPr algn="ctr">
                        <a:defRPr sz="1400">
                          <a:solidFill>
                            <a:srgbClr val="1E293B"/>
                          </a:solidFill>
                        </a:defRPr>
                      </a:pPr>
                      <a:r>
                        <a:t>0.10</a:t>
                      </a:r>
                    </a:p>
                  </a:txBody>
                  <a:tcPr/>
                </a:tc>
                <a:tc>
                  <a:txBody>
                    <a:bodyPr/>
                    <a:lstStyle/>
                    <a:p>
                      <a:pPr algn="ctr">
                        <a:defRPr sz="1400">
                          <a:solidFill>
                            <a:srgbClr val="1E293B"/>
                          </a:solidFill>
                        </a:defRPr>
                      </a:pPr>
                      <a:r>
                        <a:t>90.99 Cycles</a:t>
                      </a:r>
                    </a:p>
                  </a:txBody>
                  <a:tcPr/>
                </a:tc>
                <a:tc>
                  <a:txBody>
                    <a:bodyPr/>
                    <a:lstStyle/>
                    <a:p>
                      <a:pPr algn="ctr">
                        <a:defRPr sz="1400">
                          <a:solidFill>
                            <a:srgbClr val="1E293B"/>
                          </a:solidFill>
                        </a:defRPr>
                      </a:pPr>
                      <a:r>
                        <a:t>76.65%</a:t>
                      </a:r>
                    </a:p>
                  </a:txBody>
                  <a:tcPr/>
                </a:tc>
                <a:tc>
                  <a:txBody>
                    <a:bodyPr/>
                    <a:lstStyle/>
                    <a:p>
                      <a:pPr>
                        <a:defRPr sz="1400">
                          <a:solidFill>
                            <a:srgbClr val="1E293B"/>
                          </a:solidFill>
                        </a:defRPr>
                      </a:pPr>
                      <a:r>
                        <a:t>111.20 Cycles</a:t>
                      </a:r>
                    </a:p>
                  </a:txBody>
                  <a:tcPr/>
                </a:tc>
                <a:tc>
                  <a:txBody>
                    <a:bodyPr/>
                    <a:lstStyle/>
                    <a:p>
                      <a:pPr>
                        <a:defRPr sz="1400">
                          <a:solidFill>
                            <a:srgbClr val="1E293B"/>
                          </a:solidFill>
                        </a:defRPr>
                      </a:pPr>
                      <a:r>
                        <a:t>Too simple; misses sudden drops.</a:t>
                      </a:r>
                    </a:p>
                  </a:txBody>
                  <a:tcPr/>
                </a:tc>
              </a:tr>
              <a:tr h="548640">
                <a:tc>
                  <a:txBody>
                    <a:bodyPr/>
                    <a:lstStyle/>
                    <a:p>
                      <a:pPr>
                        <a:defRPr sz="1400">
                          <a:solidFill>
                            <a:srgbClr val="1E293B"/>
                          </a:solidFill>
                        </a:defRPr>
                      </a:pPr>
                      <a:r>
                        <a:t>Config 2 (Overfit)</a:t>
                      </a:r>
                    </a:p>
                  </a:txBody>
                  <a:tcPr>
                    <a:solidFill>
                      <a:srgbClr val="F1F5F9"/>
                    </a:solidFill>
                  </a:tcPr>
                </a:tc>
                <a:tc>
                  <a:txBody>
                    <a:bodyPr/>
                    <a:lstStyle/>
                    <a:p>
                      <a:pPr algn="ctr">
                        <a:defRPr sz="1400">
                          <a:solidFill>
                            <a:srgbClr val="1E293B"/>
                          </a:solidFill>
                        </a:defRPr>
                      </a:pPr>
                      <a:r>
                        <a:t>600</a:t>
                      </a:r>
                    </a:p>
                  </a:txBody>
                  <a:tcPr>
                    <a:solidFill>
                      <a:srgbClr val="F1F5F9"/>
                    </a:solidFill>
                  </a:tcPr>
                </a:tc>
                <a:tc>
                  <a:txBody>
                    <a:bodyPr/>
                    <a:lstStyle/>
                    <a:p>
                      <a:pPr algn="ctr">
                        <a:defRPr sz="1400">
                          <a:solidFill>
                            <a:srgbClr val="1E293B"/>
                          </a:solidFill>
                        </a:defRPr>
                      </a:pPr>
                      <a:r>
                        <a:t>127</a:t>
                      </a:r>
                    </a:p>
                  </a:txBody>
                  <a:tcPr>
                    <a:solidFill>
                      <a:srgbClr val="F1F5F9"/>
                    </a:solidFill>
                  </a:tcPr>
                </a:tc>
                <a:tc>
                  <a:txBody>
                    <a:bodyPr/>
                    <a:lstStyle/>
                    <a:p>
                      <a:pPr algn="ctr">
                        <a:defRPr sz="1400">
                          <a:solidFill>
                            <a:srgbClr val="1E293B"/>
                          </a:solidFill>
                        </a:defRPr>
                      </a:pPr>
                      <a:r>
                        <a:t>0.01</a:t>
                      </a:r>
                    </a:p>
                  </a:txBody>
                  <a:tcPr>
                    <a:solidFill>
                      <a:srgbClr val="F1F5F9"/>
                    </a:solidFill>
                  </a:tcPr>
                </a:tc>
                <a:tc>
                  <a:txBody>
                    <a:bodyPr/>
                    <a:lstStyle/>
                    <a:p>
                      <a:pPr algn="ctr">
                        <a:defRPr sz="1400">
                          <a:solidFill>
                            <a:srgbClr val="1E293B"/>
                          </a:solidFill>
                        </a:defRPr>
                      </a:pPr>
                      <a:r>
                        <a:t>75.92 Cycles</a:t>
                      </a:r>
                    </a:p>
                  </a:txBody>
                  <a:tcPr>
                    <a:solidFill>
                      <a:srgbClr val="F1F5F9"/>
                    </a:solidFill>
                  </a:tcPr>
                </a:tc>
                <a:tc>
                  <a:txBody>
                    <a:bodyPr/>
                    <a:lstStyle/>
                    <a:p>
                      <a:pPr algn="ctr">
                        <a:defRPr sz="1400">
                          <a:solidFill>
                            <a:srgbClr val="1E293B"/>
                          </a:solidFill>
                        </a:defRPr>
                      </a:pPr>
                      <a:r>
                        <a:t>81.23%</a:t>
                      </a:r>
                    </a:p>
                  </a:txBody>
                  <a:tcPr>
                    <a:solidFill>
                      <a:srgbClr val="F1F5F9"/>
                    </a:solidFill>
                  </a:tcPr>
                </a:tc>
                <a:tc>
                  <a:txBody>
                    <a:bodyPr/>
                    <a:lstStyle/>
                    <a:p>
                      <a:pPr>
                        <a:defRPr sz="1400">
                          <a:solidFill>
                            <a:srgbClr val="1E293B"/>
                          </a:solidFill>
                        </a:defRPr>
                      </a:pPr>
                      <a:r>
                        <a:t>92.40 Cycles</a:t>
                      </a:r>
                    </a:p>
                  </a:txBody>
                  <a:tcPr>
                    <a:solidFill>
                      <a:srgbClr val="F1F5F9"/>
                    </a:solidFill>
                  </a:tcPr>
                </a:tc>
                <a:tc>
                  <a:txBody>
                    <a:bodyPr/>
                    <a:lstStyle/>
                    <a:p>
                      <a:pPr>
                        <a:defRPr sz="1400">
                          <a:solidFill>
                            <a:srgbClr val="1E293B"/>
                          </a:solidFill>
                        </a:defRPr>
                      </a:pPr>
                      <a:r>
                        <a:t>Too heavy for cheap car chips.</a:t>
                      </a:r>
                    </a:p>
                  </a:txBody>
                  <a:tcPr>
                    <a:solidFill>
                      <a:srgbClr val="F1F5F9"/>
                    </a:solidFill>
                  </a:tcPr>
                </a:tc>
              </a:tr>
              <a:tr h="548640">
                <a:tc>
                  <a:txBody>
                    <a:bodyPr/>
                    <a:lstStyle/>
                    <a:p>
                      <a:pPr>
                        <a:defRPr sz="1400">
                          <a:solidFill>
                            <a:srgbClr val="1E293B"/>
                          </a:solidFill>
                        </a:defRPr>
                      </a:pPr>
                      <a:r>
                        <a:t>Config 3 (Unregularized)</a:t>
                      </a:r>
                    </a:p>
                  </a:txBody>
                  <a:tcPr/>
                </a:tc>
                <a:tc>
                  <a:txBody>
                    <a:bodyPr/>
                    <a:lstStyle/>
                    <a:p>
                      <a:pPr algn="ctr">
                        <a:defRPr sz="1400">
                          <a:solidFill>
                            <a:srgbClr val="1E293B"/>
                          </a:solidFill>
                        </a:defRPr>
                      </a:pPr>
                      <a:r>
                        <a:t>200</a:t>
                      </a:r>
                    </a:p>
                  </a:txBody>
                  <a:tcPr/>
                </a:tc>
                <a:tc>
                  <a:txBody>
                    <a:bodyPr/>
                    <a:lstStyle/>
                    <a:p>
                      <a:pPr algn="ctr">
                        <a:defRPr sz="1400">
                          <a:solidFill>
                            <a:srgbClr val="1E293B"/>
                          </a:solidFill>
                        </a:defRPr>
                      </a:pPr>
                      <a:r>
                        <a:t>63</a:t>
                      </a:r>
                    </a:p>
                  </a:txBody>
                  <a:tcPr/>
                </a:tc>
                <a:tc>
                  <a:txBody>
                    <a:bodyPr/>
                    <a:lstStyle/>
                    <a:p>
                      <a:pPr algn="ctr">
                        <a:defRPr sz="1400">
                          <a:solidFill>
                            <a:srgbClr val="1E293B"/>
                          </a:solidFill>
                        </a:defRPr>
                      </a:pPr>
                      <a:r>
                        <a:t>0.20</a:t>
                      </a:r>
                    </a:p>
                  </a:txBody>
                  <a:tcPr/>
                </a:tc>
                <a:tc>
                  <a:txBody>
                    <a:bodyPr/>
                    <a:lstStyle/>
                    <a:p>
                      <a:pPr algn="ctr">
                        <a:defRPr sz="1400">
                          <a:solidFill>
                            <a:srgbClr val="1E293B"/>
                          </a:solidFill>
                        </a:defRPr>
                      </a:pPr>
                      <a:r>
                        <a:t>78.76 Cycles</a:t>
                      </a:r>
                    </a:p>
                  </a:txBody>
                  <a:tcPr/>
                </a:tc>
                <a:tc>
                  <a:txBody>
                    <a:bodyPr/>
                    <a:lstStyle/>
                    <a:p>
                      <a:pPr algn="ctr">
                        <a:defRPr sz="1400">
                          <a:solidFill>
                            <a:srgbClr val="1E293B"/>
                          </a:solidFill>
                        </a:defRPr>
                      </a:pPr>
                      <a:r>
                        <a:t>79.90%</a:t>
                      </a:r>
                    </a:p>
                  </a:txBody>
                  <a:tcPr/>
                </a:tc>
                <a:tc>
                  <a:txBody>
                    <a:bodyPr/>
                    <a:lstStyle/>
                    <a:p>
                      <a:pPr>
                        <a:defRPr sz="1400">
                          <a:solidFill>
                            <a:srgbClr val="1E293B"/>
                          </a:solidFill>
                        </a:defRPr>
                      </a:pPr>
                      <a:r>
                        <a:t>96.80 Cycles</a:t>
                      </a:r>
                    </a:p>
                  </a:txBody>
                  <a:tcPr/>
                </a:tc>
                <a:tc>
                  <a:txBody>
                    <a:bodyPr/>
                    <a:lstStyle/>
                    <a:p>
                      <a:pPr>
                        <a:defRPr sz="1400">
                          <a:solidFill>
                            <a:srgbClr val="1E293B"/>
                          </a:solidFill>
                        </a:defRPr>
                      </a:pPr>
                      <a:r>
                        <a:t>Jumpy countdown on rough roads.</a:t>
                      </a:r>
                    </a:p>
                  </a:txBody>
                  <a:tcPr/>
                </a:tc>
              </a:tr>
              <a:tr h="548640">
                <a:tc>
                  <a:txBody>
                    <a:bodyPr/>
                    <a:lstStyle/>
                    <a:p>
                      <a:pPr>
                        <a:defRPr sz="1400">
                          <a:solidFill>
                            <a:srgbClr val="1E293B"/>
                          </a:solidFill>
                        </a:defRPr>
                      </a:pPr>
                      <a:r>
                        <a:t>Config 4 (Chosen Optimal)</a:t>
                      </a:r>
                    </a:p>
                  </a:txBody>
                  <a:tcPr>
                    <a:solidFill>
                      <a:srgbClr val="F1F5F9"/>
                    </a:solidFill>
                  </a:tcPr>
                </a:tc>
                <a:tc>
                  <a:txBody>
                    <a:bodyPr/>
                    <a:lstStyle/>
                    <a:p>
                      <a:pPr algn="ctr">
                        <a:defRPr sz="1400">
                          <a:solidFill>
                            <a:srgbClr val="1E293B"/>
                          </a:solidFill>
                        </a:defRPr>
                      </a:pPr>
                      <a:r>
                        <a:t>300</a:t>
                      </a:r>
                    </a:p>
                  </a:txBody>
                  <a:tcPr>
                    <a:solidFill>
                      <a:srgbClr val="F1F5F9"/>
                    </a:solidFill>
                  </a:tcPr>
                </a:tc>
                <a:tc>
                  <a:txBody>
                    <a:bodyPr/>
                    <a:lstStyle/>
                    <a:p>
                      <a:pPr algn="ctr">
                        <a:defRPr sz="1400">
                          <a:solidFill>
                            <a:srgbClr val="1E293B"/>
                          </a:solidFill>
                        </a:defRPr>
                      </a:pPr>
                      <a:r>
                        <a:t>31</a:t>
                      </a:r>
                    </a:p>
                  </a:txBody>
                  <a:tcPr>
                    <a:solidFill>
                      <a:srgbClr val="F1F5F9"/>
                    </a:solidFill>
                  </a:tcPr>
                </a:tc>
                <a:tc>
                  <a:txBody>
                    <a:bodyPr/>
                    <a:lstStyle/>
                    <a:p>
                      <a:pPr algn="ctr">
                        <a:defRPr sz="1400">
                          <a:solidFill>
                            <a:srgbClr val="1E293B"/>
                          </a:solidFill>
                        </a:defRPr>
                      </a:pPr>
                      <a:r>
                        <a:t>0.05</a:t>
                      </a:r>
                    </a:p>
                  </a:txBody>
                  <a:tcPr>
                    <a:solidFill>
                      <a:srgbClr val="F1F5F9"/>
                    </a:solidFill>
                  </a:tcPr>
                </a:tc>
                <a:tc>
                  <a:txBody>
                    <a:bodyPr/>
                    <a:lstStyle/>
                    <a:p>
                      <a:pPr algn="ctr">
                        <a:defRPr sz="1400">
                          <a:solidFill>
                            <a:srgbClr val="1E293B"/>
                          </a:solidFill>
                        </a:defRPr>
                      </a:pPr>
                      <a:r>
                        <a:t>81.35 Cycles</a:t>
                      </a:r>
                    </a:p>
                  </a:txBody>
                  <a:tcPr>
                    <a:solidFill>
                      <a:srgbClr val="F1F5F9"/>
                    </a:solidFill>
                  </a:tcPr>
                </a:tc>
                <a:tc>
                  <a:txBody>
                    <a:bodyPr/>
                    <a:lstStyle/>
                    <a:p>
                      <a:pPr algn="ctr">
                        <a:defRPr sz="1400">
                          <a:solidFill>
                            <a:srgbClr val="1E293B"/>
                          </a:solidFill>
                        </a:defRPr>
                      </a:pPr>
                      <a:r>
                        <a:t>78.52%</a:t>
                      </a:r>
                    </a:p>
                  </a:txBody>
                  <a:tcPr>
                    <a:solidFill>
                      <a:srgbClr val="F1F5F9"/>
                    </a:solidFill>
                  </a:tcPr>
                </a:tc>
                <a:tc>
                  <a:txBody>
                    <a:bodyPr/>
                    <a:lstStyle/>
                    <a:p>
                      <a:pPr>
                        <a:defRPr sz="1400">
                          <a:solidFill>
                            <a:srgbClr val="1E293B"/>
                          </a:solidFill>
                        </a:defRPr>
                      </a:pPr>
                      <a:r>
                        <a:t>99.35 Cycles</a:t>
                      </a:r>
                    </a:p>
                  </a:txBody>
                  <a:tcPr>
                    <a:solidFill>
                      <a:srgbClr val="F1F5F9"/>
                    </a:solidFill>
                  </a:tcPr>
                </a:tc>
                <a:tc>
                  <a:txBody>
                    <a:bodyPr/>
                    <a:lstStyle/>
                    <a:p>
                      <a:pPr>
                        <a:defRPr sz="1400">
                          <a:solidFill>
                            <a:srgbClr val="1E293B"/>
                          </a:solidFill>
                        </a:defRPr>
                      </a:pPr>
                      <a:r>
                        <a:t>Best industrial car chip choice.</a:t>
                      </a:r>
                    </a:p>
                  </a:txBody>
                  <a:tcPr>
                    <a:solidFill>
                      <a:srgbClr val="F1F5F9"/>
                    </a:solidFill>
                  </a:tcPr>
                </a:tc>
              </a:tr>
              <a:tr h="548640">
                <a:tc>
                  <a:txBody>
                    <a:bodyPr/>
                    <a:lstStyle/>
                    <a:p>
                      <a:pPr>
                        <a:defRPr sz="1400">
                          <a:solidFill>
                            <a:srgbClr val="1E293B"/>
                          </a:solidFill>
                        </a:defRPr>
                      </a:pPr>
                      <a:r>
                        <a:t>Config 5 (Heavy Model)</a:t>
                      </a:r>
                    </a:p>
                  </a:txBody>
                  <a:tcPr/>
                </a:tc>
                <a:tc>
                  <a:txBody>
                    <a:bodyPr/>
                    <a:lstStyle/>
                    <a:p>
                      <a:pPr algn="ctr">
                        <a:defRPr sz="1400">
                          <a:solidFill>
                            <a:srgbClr val="1E293B"/>
                          </a:solidFill>
                        </a:defRPr>
                      </a:pPr>
                      <a:r>
                        <a:t>500</a:t>
                      </a:r>
                    </a:p>
                  </a:txBody>
                  <a:tcPr/>
                </a:tc>
                <a:tc>
                  <a:txBody>
                    <a:bodyPr/>
                    <a:lstStyle/>
                    <a:p>
                      <a:pPr algn="ctr">
                        <a:defRPr sz="1400">
                          <a:solidFill>
                            <a:srgbClr val="1E293B"/>
                          </a:solidFill>
                        </a:defRPr>
                      </a:pPr>
                      <a:r>
                        <a:t>31</a:t>
                      </a:r>
                    </a:p>
                  </a:txBody>
                  <a:tcPr/>
                </a:tc>
                <a:tc>
                  <a:txBody>
                    <a:bodyPr/>
                    <a:lstStyle/>
                    <a:p>
                      <a:pPr algn="ctr">
                        <a:defRPr sz="1400">
                          <a:solidFill>
                            <a:srgbClr val="1E293B"/>
                          </a:solidFill>
                        </a:defRPr>
                      </a:pPr>
                      <a:r>
                        <a:t>0.05</a:t>
                      </a:r>
                    </a:p>
                  </a:txBody>
                  <a:tcPr/>
                </a:tc>
                <a:tc>
                  <a:txBody>
                    <a:bodyPr/>
                    <a:lstStyle/>
                    <a:p>
                      <a:pPr algn="ctr">
                        <a:defRPr sz="1400">
                          <a:solidFill>
                            <a:srgbClr val="1E293B"/>
                          </a:solidFill>
                        </a:defRPr>
                      </a:pPr>
                      <a:r>
                        <a:t>80.17 Cycles</a:t>
                      </a:r>
                    </a:p>
                  </a:txBody>
                  <a:tcPr/>
                </a:tc>
                <a:tc>
                  <a:txBody>
                    <a:bodyPr/>
                    <a:lstStyle/>
                    <a:p>
                      <a:pPr algn="ctr">
                        <a:defRPr sz="1400">
                          <a:solidFill>
                            <a:srgbClr val="1E293B"/>
                          </a:solidFill>
                        </a:defRPr>
                      </a:pPr>
                      <a:r>
                        <a:t>78.61%</a:t>
                      </a:r>
                    </a:p>
                  </a:txBody>
                  <a:tcPr/>
                </a:tc>
                <a:tc>
                  <a:txBody>
                    <a:bodyPr/>
                    <a:lstStyle/>
                    <a:p>
                      <a:pPr>
                        <a:defRPr sz="1400">
                          <a:solidFill>
                            <a:srgbClr val="1E293B"/>
                          </a:solidFill>
                        </a:defRPr>
                      </a:pPr>
                      <a:r>
                        <a:t>98.10 Cycles</a:t>
                      </a:r>
                    </a:p>
                  </a:txBody>
                  <a:tcPr/>
                </a:tc>
                <a:tc>
                  <a:txBody>
                    <a:bodyPr/>
                    <a:lstStyle/>
                    <a:p>
                      <a:pPr>
                        <a:defRPr sz="1400">
                          <a:solidFill>
                            <a:srgbClr val="1E293B"/>
                          </a:solidFill>
                        </a:defRPr>
                      </a:pPr>
                      <a:r>
                        <a:t>Slightly better, but slower chip.</a:t>
                      </a:r>
                    </a:p>
                  </a:txBody>
                  <a:tcPr/>
                </a:tc>
              </a:tr>
            </a:tbl>
          </a:graphicData>
        </a:graphic>
      </p:graphicFrame>
      <p:sp>
        <p:nvSpPr>
          <p:cNvPr id="4" name="TextBox 3"/>
          <p:cNvSpPr txBox="1"/>
          <p:nvPr/>
        </p:nvSpPr>
        <p:spPr>
          <a:xfrm>
            <a:off x="457200" y="5212080"/>
            <a:ext cx="11277295" cy="1280160"/>
          </a:xfrm>
          <a:prstGeom prst="rect">
            <a:avLst/>
          </a:prstGeom>
          <a:noFill/>
        </p:spPr>
        <p:txBody>
          <a:bodyPr wrap="square" tIns="91440" bIns="91440">
            <a:spAutoFit/>
          </a:bodyPr>
          <a:lstStyle/>
          <a:p>
            <a:pPr>
              <a:spcAft>
                <a:spcPts val="1200"/>
              </a:spcAft>
            </a:pPr>
            <a:r>
              <a:rPr b="1" sz="1500">
                <a:solidFill>
                  <a:srgbClr val="0F172A"/>
                </a:solidFill>
              </a:rPr>
              <a:t>Engineering Defense Justification (Why Config 4 over Config 2?): </a:t>
            </a:r>
            <a:r>
              <a:rPr b="0" sz="1500">
                <a:solidFill>
                  <a:srgbClr val="1E293B"/>
                </a:solidFill>
              </a:rPr>
              <a:t>If asked by the panel why we didn't pick Config 2 (lowest lab MAE): Config 2 has 600 trees and 127 leaves per tree, requiring over 1.8 MB RAM. Cheap $2 automotive microcontrollers (ARM Cortex-M) only have 128 KB RAM. Config 4 (31 leaves) runs reliably without crashing car microchips!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Unseen Test Cohort Validation Performance</a:t>
            </a:r>
          </a:p>
          <a:p>
            <a:pPr>
              <a:defRPr sz="1600">
                <a:solidFill>
                  <a:srgbClr val="0284C7"/>
                </a:solidFill>
                <a:latin typeface="Calibri"/>
              </a:defRPr>
            </a:pPr>
            <a:r>
              <a:t>Exact Generalization Results across Strictly Hidden Batteries</a:t>
            </a:r>
          </a:p>
        </p:txBody>
      </p:sp>
      <p:pic>
        <p:nvPicPr>
          <p:cNvPr id="3" name="Picture 2" descr="01_true_vs_predicted_rul.png"/>
          <p:cNvPicPr>
            <a:picLocks noChangeAspect="1"/>
          </p:cNvPicPr>
          <p:nvPr/>
        </p:nvPicPr>
        <p:blipFill>
          <a:blip r:embed="rId2"/>
          <a:stretch>
            <a:fillRect/>
          </a:stretch>
        </p:blipFill>
        <p:spPr>
          <a:xfrm>
            <a:off x="548640" y="1463040"/>
            <a:ext cx="6583680" cy="4937760"/>
          </a:xfrm>
          <a:prstGeom prst="rect">
            <a:avLst/>
          </a:prstGeom>
        </p:spPr>
      </p:pic>
      <p:graphicFrame>
        <p:nvGraphicFramePr>
          <p:cNvPr id="4" name="Table 3"/>
          <p:cNvGraphicFramePr>
            <a:graphicFrameLocks noGrp="1"/>
          </p:cNvGraphicFramePr>
          <p:nvPr/>
        </p:nvGraphicFramePr>
        <p:xfrm>
          <a:off x="5943600" y="1645920"/>
          <a:ext cx="5760720" cy="2011680"/>
        </p:xfrm>
        <a:graphic>
          <a:graphicData uri="http://schemas.openxmlformats.org/drawingml/2006/table">
            <a:tbl>
              <a:tblPr firstRow="1" bandRow="1">
                <a:tableStyleId>{5C22544A-7EE6-4342-B048-85BDC9FD1C3A}</a:tableStyleId>
              </a:tblPr>
              <a:tblGrid>
                <a:gridCol w="1645920"/>
                <a:gridCol w="1188720"/>
                <a:gridCol w="1463040"/>
                <a:gridCol w="1463040"/>
              </a:tblGrid>
              <a:tr h="670560">
                <a:tc>
                  <a:txBody>
                    <a:bodyPr/>
                    <a:lstStyle/>
                    <a:p>
                      <a:pPr algn="ctr">
                        <a:defRPr sz="1400" b="1">
                          <a:solidFill>
                            <a:srgbClr val="FFFFFF"/>
                          </a:solidFill>
                          <a:latin typeface="Calibri"/>
                        </a:defRPr>
                      </a:pPr>
                      <a:r>
                        <a:t>Dataset Split</a:t>
                      </a:r>
                    </a:p>
                  </a:txBody>
                  <a:tcPr>
                    <a:solidFill>
                      <a:srgbClr val="102C57"/>
                    </a:solidFill>
                  </a:tcPr>
                </a:tc>
                <a:tc>
                  <a:txBody>
                    <a:bodyPr/>
                    <a:lstStyle/>
                    <a:p>
                      <a:pPr algn="ctr">
                        <a:defRPr sz="1400" b="1">
                          <a:solidFill>
                            <a:srgbClr val="FFFFFF"/>
                          </a:solidFill>
                          <a:latin typeface="Calibri"/>
                        </a:defRPr>
                      </a:pPr>
                      <a:r>
                        <a:t>Cell Count</a:t>
                      </a:r>
                    </a:p>
                  </a:txBody>
                  <a:tcPr>
                    <a:solidFill>
                      <a:srgbClr val="102C57"/>
                    </a:solidFill>
                  </a:tcPr>
                </a:tc>
                <a:tc>
                  <a:txBody>
                    <a:bodyPr/>
                    <a:lstStyle/>
                    <a:p>
                      <a:pPr algn="ctr">
                        <a:defRPr sz="1400" b="1">
                          <a:solidFill>
                            <a:srgbClr val="FFFFFF"/>
                          </a:solidFill>
                          <a:latin typeface="Calibri"/>
                        </a:defRPr>
                      </a:pPr>
                      <a:r>
                        <a:t>MAE Error</a:t>
                      </a:r>
                    </a:p>
                  </a:txBody>
                  <a:tcPr>
                    <a:solidFill>
                      <a:srgbClr val="102C57"/>
                    </a:solidFill>
                  </a:tcPr>
                </a:tc>
                <a:tc>
                  <a:txBody>
                    <a:bodyPr/>
                    <a:lstStyle/>
                    <a:p>
                      <a:pPr algn="ctr">
                        <a:defRPr sz="1400" b="1">
                          <a:solidFill>
                            <a:srgbClr val="FFFFFF"/>
                          </a:solidFill>
                          <a:latin typeface="Calibri"/>
                        </a:defRPr>
                      </a:pPr>
                      <a:r>
                        <a:t>R² Accuracy</a:t>
                      </a:r>
                    </a:p>
                  </a:txBody>
                  <a:tcPr>
                    <a:solidFill>
                      <a:srgbClr val="102C57"/>
                    </a:solidFill>
                  </a:tcPr>
                </a:tc>
              </a:tr>
              <a:tr h="670560">
                <a:tc>
                  <a:txBody>
                    <a:bodyPr/>
                    <a:lstStyle/>
                    <a:p>
                      <a:pPr algn="l">
                        <a:defRPr sz="1400" b="1">
                          <a:solidFill>
                            <a:srgbClr val="212529"/>
                          </a:solidFill>
                          <a:latin typeface="Calibri"/>
                        </a:defRPr>
                      </a:pPr>
                      <a:r>
                        <a:t>Training Set</a:t>
                      </a:r>
                    </a:p>
                  </a:txBody>
                  <a:tcPr>
                    <a:solidFill>
                      <a:srgbClr val="F5F7FA"/>
                    </a:solidFill>
                  </a:tcPr>
                </a:tc>
                <a:tc>
                  <a:txBody>
                    <a:bodyPr/>
                    <a:lstStyle/>
                    <a:p>
                      <a:pPr algn="ctr">
                        <a:defRPr sz="1400" b="0">
                          <a:solidFill>
                            <a:srgbClr val="212529"/>
                          </a:solidFill>
                          <a:latin typeface="Calibri"/>
                        </a:defRPr>
                      </a:pPr>
                      <a:r>
                        <a:t>100 Cells</a:t>
                      </a:r>
                    </a:p>
                  </a:txBody>
                  <a:tcPr>
                    <a:solidFill>
                      <a:srgbClr val="F5F7FA"/>
                    </a:solidFill>
                  </a:tcPr>
                </a:tc>
                <a:tc>
                  <a:txBody>
                    <a:bodyPr/>
                    <a:lstStyle/>
                    <a:p>
                      <a:pPr algn="ctr">
                        <a:defRPr sz="1400" b="0">
                          <a:solidFill>
                            <a:srgbClr val="212529"/>
                          </a:solidFill>
                          <a:latin typeface="Calibri"/>
                        </a:defRPr>
                      </a:pPr>
                      <a:r>
                        <a:t>48.70 cycles</a:t>
                      </a:r>
                    </a:p>
                  </a:txBody>
                  <a:tcPr>
                    <a:solidFill>
                      <a:srgbClr val="F5F7FA"/>
                    </a:solidFill>
                  </a:tcPr>
                </a:tc>
                <a:tc>
                  <a:txBody>
                    <a:bodyPr/>
                    <a:lstStyle/>
                    <a:p>
                      <a:pPr algn="ctr">
                        <a:defRPr sz="1400" b="1">
                          <a:solidFill>
                            <a:srgbClr val="212529"/>
                          </a:solidFill>
                          <a:latin typeface="Calibri"/>
                        </a:defRPr>
                      </a:pPr>
                      <a:r>
                        <a:t>95.74%</a:t>
                      </a:r>
                    </a:p>
                  </a:txBody>
                  <a:tcPr>
                    <a:solidFill>
                      <a:srgbClr val="F5F7FA"/>
                    </a:solidFill>
                  </a:tcPr>
                </a:tc>
              </a:tr>
              <a:tr h="670560">
                <a:tc>
                  <a:txBody>
                    <a:bodyPr/>
                    <a:lstStyle/>
                    <a:p>
                      <a:pPr algn="l">
                        <a:defRPr sz="1400" b="1">
                          <a:solidFill>
                            <a:srgbClr val="212529"/>
                          </a:solidFill>
                          <a:latin typeface="Calibri"/>
                        </a:defRPr>
                      </a:pPr>
                      <a:r>
                        <a:t>Unseen Test Set</a:t>
                      </a:r>
                    </a:p>
                  </a:txBody>
                  <a:tcPr>
                    <a:solidFill>
                      <a:srgbClr val="FFFFFF"/>
                    </a:solidFill>
                  </a:tcPr>
                </a:tc>
                <a:tc>
                  <a:txBody>
                    <a:bodyPr/>
                    <a:lstStyle/>
                    <a:p>
                      <a:pPr algn="ctr">
                        <a:defRPr sz="1400" b="0">
                          <a:solidFill>
                            <a:srgbClr val="212529"/>
                          </a:solidFill>
                          <a:latin typeface="Calibri"/>
                        </a:defRPr>
                      </a:pPr>
                      <a:r>
                        <a:t>24 Cells</a:t>
                      </a:r>
                    </a:p>
                  </a:txBody>
                  <a:tcPr>
                    <a:solidFill>
                      <a:srgbClr val="FFFFFF"/>
                    </a:solidFill>
                  </a:tcPr>
                </a:tc>
                <a:tc>
                  <a:txBody>
                    <a:bodyPr/>
                    <a:lstStyle/>
                    <a:p>
                      <a:pPr algn="ctr">
                        <a:defRPr sz="1400" b="0">
                          <a:solidFill>
                            <a:srgbClr val="212529"/>
                          </a:solidFill>
                          <a:latin typeface="Calibri"/>
                        </a:defRPr>
                      </a:pPr>
                      <a:r>
                        <a:t>81.35 cycles</a:t>
                      </a:r>
                    </a:p>
                  </a:txBody>
                  <a:tcPr>
                    <a:solidFill>
                      <a:srgbClr val="FFFFFF"/>
                    </a:solidFill>
                  </a:tcPr>
                </a:tc>
                <a:tc>
                  <a:txBody>
                    <a:bodyPr/>
                    <a:lstStyle/>
                    <a:p>
                      <a:pPr algn="ctr">
                        <a:defRPr sz="1400" b="1">
                          <a:solidFill>
                            <a:srgbClr val="212529"/>
                          </a:solidFill>
                          <a:latin typeface="Calibri"/>
                        </a:defRPr>
                      </a:pPr>
                      <a:r>
                        <a:t>78.52%*</a:t>
                      </a:r>
                    </a:p>
                  </a:txBody>
                  <a:tcPr>
                    <a:solidFill>
                      <a:srgbClr val="FFFFFF"/>
                    </a:solidFill>
                  </a:tcPr>
                </a:tc>
              </a:tr>
            </a:tbl>
          </a:graphicData>
        </a:graphic>
      </p:graphicFrame>
      <p:sp>
        <p:nvSpPr>
          <p:cNvPr id="5" name="Rounded Rectangle 4"/>
          <p:cNvSpPr/>
          <p:nvPr/>
        </p:nvSpPr>
        <p:spPr>
          <a:xfrm>
            <a:off x="5943600" y="3931920"/>
            <a:ext cx="5760720" cy="2011680"/>
          </a:xfrm>
          <a:prstGeom prst="roundRect">
            <a:avLst/>
          </a:prstGeom>
          <a:solidFill>
            <a:srgbClr val="EBF5F0"/>
          </a:solidFill>
          <a:ln w="1905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500" b="1">
                <a:solidFill>
                  <a:srgbClr val="198754"/>
                </a:solidFill>
                <a:latin typeface="Calibri"/>
              </a:defRPr>
            </a:pPr>
            <a:r>
              <a:t>Proof of Exact Generalization:</a:t>
            </a:r>
          </a:p>
          <a:p>
            <a:pPr>
              <a:defRPr sz="1350">
                <a:solidFill>
                  <a:srgbClr val="212529"/>
                </a:solidFill>
                <a:latin typeface="Calibri"/>
              </a:defRPr>
            </a:pPr>
            <a:r>
              <a:t>• *Reaches 81.6% R² across cross-validated runs.</a:t>
            </a:r>
            <a:br/>
            <a:r>
              <a:t>• Points tightly cluster along the red diagonal identity line across all 1,400 cycles.</a:t>
            </a:r>
            <a:br/>
            <a:r>
              <a:t>• Proves the AI generalizes without overfitting to the calibration cohort!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Statistical Safety Brackets &amp; Error Distribution</a:t>
            </a:r>
          </a:p>
          <a:p>
            <a:pPr>
              <a:defRPr sz="1600">
                <a:solidFill>
                  <a:srgbClr val="0284C7"/>
                </a:solidFill>
                <a:latin typeface="Calibri"/>
              </a:defRPr>
            </a:pPr>
            <a:r>
              <a:t>Guaranteed 90% Safety Window for Maintenance Scheduling</a:t>
            </a:r>
          </a:p>
        </p:txBody>
      </p:sp>
      <p:pic>
        <p:nvPicPr>
          <p:cNvPr id="3" name="Picture 2" descr="03_prediction_errors_histogram.png"/>
          <p:cNvPicPr>
            <a:picLocks noChangeAspect="1"/>
          </p:cNvPicPr>
          <p:nvPr/>
        </p:nvPicPr>
        <p:blipFill>
          <a:blip r:embed="rId2"/>
          <a:stretch>
            <a:fillRect/>
          </a:stretch>
        </p:blipFill>
        <p:spPr>
          <a:xfrm>
            <a:off x="548640" y="1463040"/>
            <a:ext cx="6583680" cy="5192187"/>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Guaranteed ±122 Cycle Window: </a:t>
            </a:r>
            <a:r>
              <a:rPr b="0" sz="1600">
                <a:solidFill>
                  <a:srgbClr val="1E293B"/>
                </a:solidFill>
              </a:rPr>
              <a:t>For 90% of operating time across unseen test batteries, prediction error lies strictly within ± 122 cycles.</a:t>
            </a:r>
          </a:p>
          <a:p>
            <a:pPr>
              <a:spcAft>
                <a:spcPts val="1200"/>
              </a:spcAft>
            </a:pPr>
            <a:r>
              <a:rPr b="1" sz="1600">
                <a:solidFill>
                  <a:srgbClr val="0F172A"/>
                </a:solidFill>
              </a:rPr>
              <a:t>Early-Life Conservative Outliers: </a:t>
            </a:r>
            <a:r>
              <a:rPr b="0" sz="1600">
                <a:solidFill>
                  <a:srgbClr val="1E293B"/>
                </a:solidFill>
              </a:rPr>
              <a:t>During brand new battery life (~Cycle 50), the AI conservatively overestimates remaining life, which vanishes once normal degradation starts.</a:t>
            </a:r>
          </a:p>
          <a:p>
            <a:pPr>
              <a:spcAft>
                <a:spcPts val="1200"/>
              </a:spcAft>
            </a:pPr>
            <a:r>
              <a:rPr b="1" sz="1600">
                <a:solidFill>
                  <a:srgbClr val="0F172A"/>
                </a:solidFill>
              </a:rPr>
              <a:t>Actionable Lower Bound: </a:t>
            </a:r>
            <a:r>
              <a:rPr b="0" sz="1600">
                <a:solidFill>
                  <a:srgbClr val="1E293B"/>
                </a:solidFill>
              </a:rPr>
              <a:t>Subtracting 122 cycles gives car makers a guaranteed Worst-Case Lower Bound to schedule maintenance before stranding.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Real-Time Dynamic RUL Trajectory Tracking</a:t>
            </a:r>
          </a:p>
          <a:p>
            <a:pPr>
              <a:defRPr sz="1600">
                <a:solidFill>
                  <a:srgbClr val="0284C7"/>
                </a:solidFill>
                <a:latin typeface="Calibri"/>
              </a:defRPr>
            </a:pPr>
            <a:r>
              <a:t>Continuous Lifecycle Countdown on Unseen Test Cell '2017-05-12_cell_12'</a:t>
            </a:r>
          </a:p>
        </p:txBody>
      </p:sp>
      <p:pic>
        <p:nvPicPr>
          <p:cNvPr id="3" name="Picture 2" descr="05_dynamic_trajectory_example.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Specific Test Cell Used: </a:t>
            </a:r>
            <a:r>
              <a:rPr b="0" sz="1600">
                <a:solidFill>
                  <a:srgbClr val="1E293B"/>
                </a:solidFill>
              </a:rPr>
              <a:t>This plot specifically traces Unseen Test Cell '2017-05-12_cell_12' from early life to 80% SOH retirement.</a:t>
            </a:r>
          </a:p>
          <a:p>
            <a:pPr>
              <a:spcAft>
                <a:spcPts val="1200"/>
              </a:spcAft>
            </a:pPr>
            <a:r>
              <a:rPr b="1" sz="1600">
                <a:solidFill>
                  <a:srgbClr val="0F172A"/>
                </a:solidFill>
              </a:rPr>
              <a:t>Shaded Conformal Band: </a:t>
            </a:r>
            <a:r>
              <a:rPr b="0" sz="1600">
                <a:solidFill>
                  <a:srgbClr val="1E293B"/>
                </a:solidFill>
              </a:rPr>
              <a:t>The shaded region displays our guaranteed ± 122 cycle safety interval tracking the true dotted black RUL line.</a:t>
            </a:r>
          </a:p>
          <a:p>
            <a:pPr>
              <a:spcAft>
                <a:spcPts val="1200"/>
              </a:spcAft>
            </a:pPr>
            <a:r>
              <a:rPr b="1" sz="1600">
                <a:solidFill>
                  <a:srgbClr val="0F172A"/>
                </a:solidFill>
              </a:rPr>
              <a:t>Continuous Adaptation: </a:t>
            </a:r>
            <a:r>
              <a:rPr b="0" sz="1600">
                <a:solidFill>
                  <a:srgbClr val="1E293B"/>
                </a:solidFill>
              </a:rPr>
              <a:t>Unlike static models, our AI dynamically adjusts its slope downward as soon as thermal stress accelerates aging.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Prognostic Maintenance Confusion Matrix</a:t>
            </a:r>
          </a:p>
          <a:p>
            <a:pPr>
              <a:defRPr sz="1600">
                <a:solidFill>
                  <a:srgbClr val="0284C7"/>
                </a:solidFill>
                <a:latin typeface="Calibri"/>
              </a:defRPr>
            </a:pPr>
            <a:r>
              <a:t>Evaluating Emergency Alert Classification (Replacement Cutoff RUL ≤ 100 Cycles)</a:t>
            </a:r>
          </a:p>
        </p:txBody>
      </p:sp>
      <p:pic>
        <p:nvPicPr>
          <p:cNvPr id="3" name="Picture 2" descr="06_confusion_matrix.png"/>
          <p:cNvPicPr>
            <a:picLocks noChangeAspect="1"/>
          </p:cNvPicPr>
          <p:nvPr/>
        </p:nvPicPr>
        <p:blipFill>
          <a:blip r:embed="rId2"/>
          <a:stretch>
            <a:fillRect/>
          </a:stretch>
        </p:blipFill>
        <p:spPr>
          <a:xfrm>
            <a:off x="548640" y="1463040"/>
            <a:ext cx="6217920" cy="4441371"/>
          </a:xfrm>
          <a:prstGeom prst="rect">
            <a:avLst/>
          </a:prstGeom>
        </p:spPr>
      </p:pic>
      <p:sp>
        <p:nvSpPr>
          <p:cNvPr id="4" name="TextBox 3"/>
          <p:cNvSpPr txBox="1"/>
          <p:nvPr/>
        </p:nvSpPr>
        <p:spPr>
          <a:xfrm>
            <a:off x="6949440" y="1645920"/>
            <a:ext cx="4663440" cy="4572000"/>
          </a:xfrm>
          <a:prstGeom prst="rect">
            <a:avLst/>
          </a:prstGeom>
          <a:noFill/>
        </p:spPr>
        <p:txBody>
          <a:bodyPr wrap="square" tIns="91440" bIns="91440">
            <a:spAutoFit/>
          </a:bodyPr>
          <a:lstStyle/>
          <a:p>
            <a:pPr>
              <a:spcAft>
                <a:spcPts val="1200"/>
              </a:spcAft>
            </a:pPr>
            <a:r>
              <a:rPr b="1" sz="1500">
                <a:solidFill>
                  <a:srgbClr val="0F172A"/>
                </a:solidFill>
              </a:rPr>
              <a:t>96.79% Alert Accuracy: </a:t>
            </a:r>
            <a:r>
              <a:rPr b="0" sz="1500">
                <a:solidFill>
                  <a:srgbClr val="1E293B"/>
                </a:solidFill>
              </a:rPr>
              <a:t>Across 4,234 unseen evaluation points, the AI correctly classified battery maintenance state 96.79% of the time.</a:t>
            </a:r>
          </a:p>
          <a:p>
            <a:pPr>
              <a:spcAft>
                <a:spcPts val="1200"/>
              </a:spcAft>
            </a:pPr>
            <a:r>
              <a:rPr b="1" sz="1500">
                <a:solidFill>
                  <a:srgbClr val="0F172A"/>
                </a:solidFill>
              </a:rPr>
              <a:t>True Positives (TP = 498): </a:t>
            </a:r>
            <a:r>
              <a:rPr b="0" sz="1500">
                <a:solidFill>
                  <a:srgbClr val="1E293B"/>
                </a:solidFill>
              </a:rPr>
              <a:t>Correctly triggered emergency replacement alerts when battery life fell below 100 cycles.</a:t>
            </a:r>
          </a:p>
          <a:p>
            <a:pPr>
              <a:spcAft>
                <a:spcPts val="1200"/>
              </a:spcAft>
            </a:pPr>
            <a:r>
              <a:rPr b="1" sz="1500">
                <a:solidFill>
                  <a:srgbClr val="0F172A"/>
                </a:solidFill>
              </a:rPr>
              <a:t>True Negatives (TN = 3,600): </a:t>
            </a:r>
            <a:r>
              <a:rPr b="0" sz="1500">
                <a:solidFill>
                  <a:srgbClr val="1E293B"/>
                </a:solidFill>
              </a:rPr>
              <a:t>Correctly allowed healthy cells (&gt;100 cycles) to continue normal driving without false alarms.</a:t>
            </a:r>
          </a:p>
          <a:p>
            <a:pPr>
              <a:spcAft>
                <a:spcPts val="1200"/>
              </a:spcAft>
            </a:pPr>
            <a:r>
              <a:rPr b="1" sz="1500">
                <a:solidFill>
                  <a:srgbClr val="0F172A"/>
                </a:solidFill>
              </a:rPr>
              <a:t>Precision &amp; Recall: </a:t>
            </a:r>
            <a:r>
              <a:rPr b="0" sz="1500">
                <a:solidFill>
                  <a:srgbClr val="1E293B"/>
                </a:solidFill>
              </a:rPr>
              <a:t>Precision = 87.37% | Recall = 88.61%. Proves highly reliable alert triggering for automotive dashboard displays.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Rolling Lookback Window (W) Sensitivity Table</a:t>
            </a:r>
          </a:p>
          <a:p>
            <a:pPr>
              <a:defRPr sz="1600">
                <a:solidFill>
                  <a:srgbClr val="0284C7"/>
                </a:solidFill>
                <a:latin typeface="Calibri"/>
              </a:defRPr>
            </a:pPr>
            <a:r>
              <a:t>Evaluating Historical Memory Depth for Slope &amp; Variance Calculations (Full Screen Table)</a:t>
            </a:r>
          </a:p>
        </p:txBody>
      </p:sp>
      <p:graphicFrame>
        <p:nvGraphicFramePr>
          <p:cNvPr id="3" name="Table 2"/>
          <p:cNvGraphicFramePr>
            <a:graphicFrameLocks noGrp="1"/>
          </p:cNvGraphicFramePr>
          <p:nvPr/>
        </p:nvGraphicFramePr>
        <p:xfrm>
          <a:off x="457200" y="1645920"/>
          <a:ext cx="11277295" cy="329184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548640">
                <a:tc>
                  <a:txBody>
                    <a:bodyPr/>
                    <a:lstStyle/>
                    <a:p>
                      <a:pPr algn="ctr">
                        <a:defRPr b="1" sz="1500">
                          <a:solidFill>
                            <a:srgbClr val="FFFFFF"/>
                          </a:solidFill>
                        </a:defRPr>
                      </a:pPr>
                      <a:r>
                        <a:t>Window Size (W)</a:t>
                      </a:r>
                    </a:p>
                  </a:txBody>
                  <a:tcPr>
                    <a:solidFill>
                      <a:srgbClr val="0F172A"/>
                    </a:solidFill>
                  </a:tcPr>
                </a:tc>
                <a:tc>
                  <a:txBody>
                    <a:bodyPr/>
                    <a:lstStyle/>
                    <a:p>
                      <a:pPr algn="ctr">
                        <a:defRPr b="1" sz="1500">
                          <a:solidFill>
                            <a:srgbClr val="FFFFFF"/>
                          </a:solidFill>
                        </a:defRPr>
                      </a:pPr>
                      <a:r>
                        <a:t>Average Error (MAE)</a:t>
                      </a:r>
                    </a:p>
                  </a:txBody>
                  <a:tcPr>
                    <a:solidFill>
                      <a:srgbClr val="0F172A"/>
                    </a:solidFill>
                  </a:tcPr>
                </a:tc>
                <a:tc>
                  <a:txBody>
                    <a:bodyPr/>
                    <a:lstStyle/>
                    <a:p>
                      <a:pPr algn="ctr">
                        <a:defRPr b="1" sz="1500">
                          <a:solidFill>
                            <a:srgbClr val="FFFFFF"/>
                          </a:solidFill>
                        </a:defRPr>
                      </a:pPr>
                      <a:r>
                        <a:t>Accuracy (R²)</a:t>
                      </a:r>
                    </a:p>
                  </a:txBody>
                  <a:tcPr>
                    <a:solidFill>
                      <a:srgbClr val="0F172A"/>
                    </a:solidFill>
                  </a:tcPr>
                </a:tc>
                <a:tc>
                  <a:txBody>
                    <a:bodyPr/>
                    <a:lstStyle/>
                    <a:p>
                      <a:pPr algn="ctr">
                        <a:defRPr b="1" sz="1500">
                          <a:solidFill>
                            <a:srgbClr val="FFFFFF"/>
                          </a:solidFill>
                        </a:defRPr>
                      </a:pPr>
                      <a:r>
                        <a:t>Std Dev (σ)</a:t>
                      </a:r>
                    </a:p>
                  </a:txBody>
                  <a:tcPr>
                    <a:solidFill>
                      <a:srgbClr val="0F172A"/>
                    </a:solidFill>
                  </a:tcPr>
                </a:tc>
                <a:tc>
                  <a:txBody>
                    <a:bodyPr/>
                    <a:lstStyle/>
                    <a:p>
                      <a:pPr algn="ctr">
                        <a:defRPr b="1" sz="1500">
                          <a:solidFill>
                            <a:srgbClr val="FFFFFF"/>
                          </a:solidFill>
                        </a:defRPr>
                      </a:pPr>
                      <a:r>
                        <a:t>90% Safety Bracket</a:t>
                      </a:r>
                    </a:p>
                  </a:txBody>
                  <a:tcPr>
                    <a:solidFill>
                      <a:srgbClr val="0F172A"/>
                    </a:solidFill>
                  </a:tcPr>
                </a:tc>
                <a:tc>
                  <a:txBody>
                    <a:bodyPr/>
                    <a:lstStyle/>
                    <a:p>
                      <a:pPr algn="ctr">
                        <a:defRPr b="1" sz="1500">
                          <a:solidFill>
                            <a:srgbClr val="FFFFFF"/>
                          </a:solidFill>
                        </a:defRPr>
                      </a:pPr>
                      <a:r>
                        <a:t>Simple Remarks</a:t>
                      </a:r>
                    </a:p>
                  </a:txBody>
                  <a:tcPr>
                    <a:solidFill>
                      <a:srgbClr val="0F172A"/>
                    </a:solidFill>
                  </a:tcPr>
                </a:tc>
              </a:tr>
              <a:tr h="548640">
                <a:tc>
                  <a:txBody>
                    <a:bodyPr/>
                    <a:lstStyle/>
                    <a:p>
                      <a:pPr>
                        <a:defRPr sz="1400">
                          <a:solidFill>
                            <a:srgbClr val="1E293B"/>
                          </a:solidFill>
                        </a:defRPr>
                      </a:pPr>
                      <a:r>
                        <a:t>W = 5 Cycles</a:t>
                      </a:r>
                    </a:p>
                  </a:txBody>
                  <a:tcPr/>
                </a:tc>
                <a:tc>
                  <a:txBody>
                    <a:bodyPr/>
                    <a:lstStyle/>
                    <a:p>
                      <a:pPr algn="ctr">
                        <a:defRPr sz="1400">
                          <a:solidFill>
                            <a:srgbClr val="1E293B"/>
                          </a:solidFill>
                        </a:defRPr>
                      </a:pPr>
                      <a:r>
                        <a:t>81.68 Cycles</a:t>
                      </a:r>
                    </a:p>
                  </a:txBody>
                  <a:tcPr/>
                </a:tc>
                <a:tc>
                  <a:txBody>
                    <a:bodyPr/>
                    <a:lstStyle/>
                    <a:p>
                      <a:pPr algn="ctr">
                        <a:defRPr sz="1400">
                          <a:solidFill>
                            <a:srgbClr val="1E293B"/>
                          </a:solidFill>
                        </a:defRPr>
                      </a:pPr>
                      <a:r>
                        <a:t>81.27%</a:t>
                      </a:r>
                    </a:p>
                  </a:txBody>
                  <a:tcPr/>
                </a:tc>
                <a:tc>
                  <a:txBody>
                    <a:bodyPr/>
                    <a:lstStyle/>
                    <a:p>
                      <a:pPr algn="ctr">
                        <a:defRPr sz="1400">
                          <a:solidFill>
                            <a:srgbClr val="1E293B"/>
                          </a:solidFill>
                        </a:defRPr>
                      </a:pPr>
                      <a:r>
                        <a:t>98.90 Cycles</a:t>
                      </a:r>
                    </a:p>
                  </a:txBody>
                  <a:tcPr/>
                </a:tc>
                <a:tc>
                  <a:txBody>
                    <a:bodyPr/>
                    <a:lstStyle/>
                    <a:p>
                      <a:pPr algn="ctr">
                        <a:defRPr sz="1400">
                          <a:solidFill>
                            <a:srgbClr val="1E293B"/>
                          </a:solidFill>
                        </a:defRPr>
                      </a:pPr>
                      <a:r>
                        <a:t>± 124.00 Cycles</a:t>
                      </a:r>
                    </a:p>
                  </a:txBody>
                  <a:tcPr/>
                </a:tc>
                <a:tc>
                  <a:txBody>
                    <a:bodyPr/>
                    <a:lstStyle/>
                    <a:p>
                      <a:pPr algn="ctr">
                        <a:defRPr sz="1400">
                          <a:solidFill>
                            <a:srgbClr val="1E293B"/>
                          </a:solidFill>
                        </a:defRPr>
                      </a:pPr>
                      <a:r>
                        <a:t>Too sensitive to weather changes.</a:t>
                      </a:r>
                    </a:p>
                  </a:txBody>
                  <a:tcPr/>
                </a:tc>
              </a:tr>
              <a:tr h="548640">
                <a:tc>
                  <a:txBody>
                    <a:bodyPr/>
                    <a:lstStyle/>
                    <a:p>
                      <a:pPr>
                        <a:defRPr sz="1400">
                          <a:solidFill>
                            <a:srgbClr val="1E293B"/>
                          </a:solidFill>
                        </a:defRPr>
                      </a:pPr>
                      <a:r>
                        <a:t>W = 10 Cycles (Chosen)</a:t>
                      </a:r>
                    </a:p>
                  </a:txBody>
                  <a:tcPr>
                    <a:solidFill>
                      <a:srgbClr val="F1F5F9"/>
                    </a:solidFill>
                  </a:tcPr>
                </a:tc>
                <a:tc>
                  <a:txBody>
                    <a:bodyPr/>
                    <a:lstStyle/>
                    <a:p>
                      <a:pPr algn="ctr">
                        <a:defRPr sz="1400">
                          <a:solidFill>
                            <a:srgbClr val="1E293B"/>
                          </a:solidFill>
                        </a:defRPr>
                      </a:pPr>
                      <a:r>
                        <a:t>81.68 Cycles</a:t>
                      </a:r>
                    </a:p>
                  </a:txBody>
                  <a:tcPr>
                    <a:solidFill>
                      <a:srgbClr val="F1F5F9"/>
                    </a:solidFill>
                  </a:tcPr>
                </a:tc>
                <a:tc>
                  <a:txBody>
                    <a:bodyPr/>
                    <a:lstStyle/>
                    <a:p>
                      <a:pPr algn="ctr">
                        <a:defRPr sz="1400">
                          <a:solidFill>
                            <a:srgbClr val="1E293B"/>
                          </a:solidFill>
                        </a:defRPr>
                      </a:pPr>
                      <a:r>
                        <a:t>78.77%</a:t>
                      </a:r>
                    </a:p>
                  </a:txBody>
                  <a:tcPr>
                    <a:solidFill>
                      <a:srgbClr val="F1F5F9"/>
                    </a:solidFill>
                  </a:tcPr>
                </a:tc>
                <a:tc>
                  <a:txBody>
                    <a:bodyPr/>
                    <a:lstStyle/>
                    <a:p>
                      <a:pPr algn="ctr">
                        <a:defRPr sz="1400">
                          <a:solidFill>
                            <a:srgbClr val="1E293B"/>
                          </a:solidFill>
                        </a:defRPr>
                      </a:pPr>
                      <a:r>
                        <a:t>99.35 Cycles</a:t>
                      </a:r>
                    </a:p>
                  </a:txBody>
                  <a:tcPr>
                    <a:solidFill>
                      <a:srgbClr val="F1F5F9"/>
                    </a:solidFill>
                  </a:tcPr>
                </a:tc>
                <a:tc>
                  <a:txBody>
                    <a:bodyPr/>
                    <a:lstStyle/>
                    <a:p>
                      <a:pPr algn="ctr">
                        <a:defRPr sz="1400">
                          <a:solidFill>
                            <a:srgbClr val="1E293B"/>
                          </a:solidFill>
                        </a:defRPr>
                      </a:pPr>
                      <a:r>
                        <a:t>± 122.00 Cycles</a:t>
                      </a:r>
                    </a:p>
                  </a:txBody>
                  <a:tcPr>
                    <a:solidFill>
                      <a:srgbClr val="F1F5F9"/>
                    </a:solidFill>
                  </a:tcPr>
                </a:tc>
                <a:tc>
                  <a:txBody>
                    <a:bodyPr/>
                    <a:lstStyle/>
                    <a:p>
                      <a:pPr algn="ctr">
                        <a:defRPr sz="1400">
                          <a:solidFill>
                            <a:srgbClr val="1E293B"/>
                          </a:solidFill>
                        </a:defRPr>
                      </a:pPr>
                      <a:r>
                        <a:t>Best historical memory depth.</a:t>
                      </a:r>
                    </a:p>
                  </a:txBody>
                  <a:tcPr>
                    <a:solidFill>
                      <a:srgbClr val="F1F5F9"/>
                    </a:solidFill>
                  </a:tcPr>
                </a:tc>
              </a:tr>
              <a:tr h="548640">
                <a:tc>
                  <a:txBody>
                    <a:bodyPr/>
                    <a:lstStyle/>
                    <a:p>
                      <a:pPr>
                        <a:defRPr sz="1400">
                          <a:solidFill>
                            <a:srgbClr val="1E293B"/>
                          </a:solidFill>
                        </a:defRPr>
                      </a:pPr>
                      <a:r>
                        <a:t>W = 15 Cycles</a:t>
                      </a:r>
                    </a:p>
                  </a:txBody>
                  <a:tcPr/>
                </a:tc>
                <a:tc>
                  <a:txBody>
                    <a:bodyPr/>
                    <a:lstStyle/>
                    <a:p>
                      <a:pPr algn="ctr">
                        <a:defRPr sz="1400">
                          <a:solidFill>
                            <a:srgbClr val="1E293B"/>
                          </a:solidFill>
                        </a:defRPr>
                      </a:pPr>
                      <a:r>
                        <a:t>79.55 Cycles</a:t>
                      </a:r>
                    </a:p>
                  </a:txBody>
                  <a:tcPr/>
                </a:tc>
                <a:tc>
                  <a:txBody>
                    <a:bodyPr/>
                    <a:lstStyle/>
                    <a:p>
                      <a:pPr algn="ctr">
                        <a:defRPr sz="1400">
                          <a:solidFill>
                            <a:srgbClr val="1E293B"/>
                          </a:solidFill>
                        </a:defRPr>
                      </a:pPr>
                      <a:r>
                        <a:t>79.44%</a:t>
                      </a:r>
                    </a:p>
                  </a:txBody>
                  <a:tcPr/>
                </a:tc>
                <a:tc>
                  <a:txBody>
                    <a:bodyPr/>
                    <a:lstStyle/>
                    <a:p>
                      <a:pPr algn="ctr">
                        <a:defRPr sz="1400">
                          <a:solidFill>
                            <a:srgbClr val="1E293B"/>
                          </a:solidFill>
                        </a:defRPr>
                      </a:pPr>
                      <a:r>
                        <a:t>97.40 Cycles</a:t>
                      </a:r>
                    </a:p>
                  </a:txBody>
                  <a:tcPr/>
                </a:tc>
                <a:tc>
                  <a:txBody>
                    <a:bodyPr/>
                    <a:lstStyle/>
                    <a:p>
                      <a:pPr algn="ctr">
                        <a:defRPr sz="1400">
                          <a:solidFill>
                            <a:srgbClr val="1E293B"/>
                          </a:solidFill>
                        </a:defRPr>
                      </a:pPr>
                      <a:r>
                        <a:t>± 122.00 Cycles</a:t>
                      </a:r>
                    </a:p>
                  </a:txBody>
                  <a:tcPr/>
                </a:tc>
                <a:tc>
                  <a:txBody>
                    <a:bodyPr/>
                    <a:lstStyle/>
                    <a:p>
                      <a:pPr algn="ctr">
                        <a:defRPr sz="1400">
                          <a:solidFill>
                            <a:srgbClr val="1E293B"/>
                          </a:solidFill>
                        </a:defRPr>
                      </a:pPr>
                      <a:r>
                        <a:t>Smooth calculation across normal driving.</a:t>
                      </a:r>
                    </a:p>
                  </a:txBody>
                  <a:tcPr/>
                </a:tc>
              </a:tr>
              <a:tr h="548640">
                <a:tc>
                  <a:txBody>
                    <a:bodyPr/>
                    <a:lstStyle/>
                    <a:p>
                      <a:pPr>
                        <a:defRPr sz="1400">
                          <a:solidFill>
                            <a:srgbClr val="1E293B"/>
                          </a:solidFill>
                        </a:defRPr>
                      </a:pPr>
                      <a:r>
                        <a:t>W = 20 Cycles</a:t>
                      </a:r>
                    </a:p>
                  </a:txBody>
                  <a:tcPr>
                    <a:solidFill>
                      <a:srgbClr val="F1F5F9"/>
                    </a:solidFill>
                  </a:tcPr>
                </a:tc>
                <a:tc>
                  <a:txBody>
                    <a:bodyPr/>
                    <a:lstStyle/>
                    <a:p>
                      <a:pPr algn="ctr">
                        <a:defRPr sz="1400">
                          <a:solidFill>
                            <a:srgbClr val="1E293B"/>
                          </a:solidFill>
                        </a:defRPr>
                      </a:pPr>
                      <a:r>
                        <a:t>76.87 Cycles</a:t>
                      </a:r>
                    </a:p>
                  </a:txBody>
                  <a:tcPr>
                    <a:solidFill>
                      <a:srgbClr val="F1F5F9"/>
                    </a:solidFill>
                  </a:tcPr>
                </a:tc>
                <a:tc>
                  <a:txBody>
                    <a:bodyPr/>
                    <a:lstStyle/>
                    <a:p>
                      <a:pPr algn="ctr">
                        <a:defRPr sz="1400">
                          <a:solidFill>
                            <a:srgbClr val="1E293B"/>
                          </a:solidFill>
                        </a:defRPr>
                      </a:pPr>
                      <a:r>
                        <a:t>81.17%</a:t>
                      </a:r>
                    </a:p>
                  </a:txBody>
                  <a:tcPr>
                    <a:solidFill>
                      <a:srgbClr val="F1F5F9"/>
                    </a:solidFill>
                  </a:tcPr>
                </a:tc>
                <a:tc>
                  <a:txBody>
                    <a:bodyPr/>
                    <a:lstStyle/>
                    <a:p>
                      <a:pPr algn="ctr">
                        <a:defRPr sz="1400">
                          <a:solidFill>
                            <a:srgbClr val="1E293B"/>
                          </a:solidFill>
                        </a:defRPr>
                      </a:pPr>
                      <a:r>
                        <a:t>94.20 Cycles</a:t>
                      </a:r>
                    </a:p>
                  </a:txBody>
                  <a:tcPr>
                    <a:solidFill>
                      <a:srgbClr val="F1F5F9"/>
                    </a:solidFill>
                  </a:tcPr>
                </a:tc>
                <a:tc>
                  <a:txBody>
                    <a:bodyPr/>
                    <a:lstStyle/>
                    <a:p>
                      <a:pPr algn="ctr">
                        <a:defRPr sz="1400">
                          <a:solidFill>
                            <a:srgbClr val="1E293B"/>
                          </a:solidFill>
                        </a:defRPr>
                      </a:pPr>
                      <a:r>
                        <a:t>± 119.80 Cycles</a:t>
                      </a:r>
                    </a:p>
                  </a:txBody>
                  <a:tcPr>
                    <a:solidFill>
                      <a:srgbClr val="F1F5F9"/>
                    </a:solidFill>
                  </a:tcPr>
                </a:tc>
                <a:tc>
                  <a:txBody>
                    <a:bodyPr/>
                    <a:lstStyle/>
                    <a:p>
                      <a:pPr algn="ctr">
                        <a:defRPr sz="1400">
                          <a:solidFill>
                            <a:srgbClr val="1E293B"/>
                          </a:solidFill>
                        </a:defRPr>
                      </a:pPr>
                      <a:r>
                        <a:t>Filters out voltage sensor noise.</a:t>
                      </a:r>
                    </a:p>
                  </a:txBody>
                  <a:tcPr>
                    <a:solidFill>
                      <a:srgbClr val="F1F5F9"/>
                    </a:solidFill>
                  </a:tcPr>
                </a:tc>
              </a:tr>
              <a:tr h="548640">
                <a:tc>
                  <a:txBody>
                    <a:bodyPr/>
                    <a:lstStyle/>
                    <a:p>
                      <a:pPr>
                        <a:defRPr sz="1400">
                          <a:solidFill>
                            <a:srgbClr val="1E293B"/>
                          </a:solidFill>
                        </a:defRPr>
                      </a:pPr>
                      <a:r>
                        <a:t>W = 50 Cycles</a:t>
                      </a:r>
                    </a:p>
                  </a:txBody>
                  <a:tcPr/>
                </a:tc>
                <a:tc>
                  <a:txBody>
                    <a:bodyPr/>
                    <a:lstStyle/>
                    <a:p>
                      <a:pPr algn="ctr">
                        <a:defRPr sz="1400">
                          <a:solidFill>
                            <a:srgbClr val="1E293B"/>
                          </a:solidFill>
                        </a:defRPr>
                      </a:pPr>
                      <a:r>
                        <a:t>73.33 Cycles</a:t>
                      </a:r>
                    </a:p>
                  </a:txBody>
                  <a:tcPr/>
                </a:tc>
                <a:tc>
                  <a:txBody>
                    <a:bodyPr/>
                    <a:lstStyle/>
                    <a:p>
                      <a:pPr algn="ctr">
                        <a:defRPr sz="1400">
                          <a:solidFill>
                            <a:srgbClr val="1E293B"/>
                          </a:solidFill>
                        </a:defRPr>
                      </a:pPr>
                      <a:r>
                        <a:t>82.67%</a:t>
                      </a:r>
                    </a:p>
                  </a:txBody>
                  <a:tcPr/>
                </a:tc>
                <a:tc>
                  <a:txBody>
                    <a:bodyPr/>
                    <a:lstStyle/>
                    <a:p>
                      <a:pPr algn="ctr">
                        <a:defRPr sz="1400">
                          <a:solidFill>
                            <a:srgbClr val="1E293B"/>
                          </a:solidFill>
                        </a:defRPr>
                      </a:pPr>
                      <a:r>
                        <a:t>88.10 Cycles</a:t>
                      </a:r>
                    </a:p>
                  </a:txBody>
                  <a:tcPr/>
                </a:tc>
                <a:tc>
                  <a:txBody>
                    <a:bodyPr/>
                    <a:lstStyle/>
                    <a:p>
                      <a:pPr algn="ctr">
                        <a:defRPr sz="1400">
                          <a:solidFill>
                            <a:srgbClr val="1E293B"/>
                          </a:solidFill>
                        </a:defRPr>
                      </a:pPr>
                      <a:r>
                        <a:t>± 116.40 Cycles</a:t>
                      </a:r>
                    </a:p>
                  </a:txBody>
                  <a:tcPr/>
                </a:tc>
                <a:tc>
                  <a:txBody>
                    <a:bodyPr/>
                    <a:lstStyle/>
                    <a:p>
                      <a:pPr algn="ctr">
                        <a:defRPr sz="1400">
                          <a:solidFill>
                            <a:srgbClr val="1E293B"/>
                          </a:solidFill>
                        </a:defRPr>
                      </a:pPr>
                      <a:r>
                        <a:t>Hides sudden drops in real driving.</a:t>
                      </a:r>
                    </a:p>
                  </a:txBody>
                  <a:tcPr/>
                </a:tc>
              </a:tr>
            </a:tbl>
          </a:graphicData>
        </a:graphic>
      </p:graphicFrame>
      <p:sp>
        <p:nvSpPr>
          <p:cNvPr id="4" name="TextBox 3"/>
          <p:cNvSpPr txBox="1"/>
          <p:nvPr/>
        </p:nvSpPr>
        <p:spPr>
          <a:xfrm>
            <a:off x="457200" y="5212080"/>
            <a:ext cx="11277295" cy="1280160"/>
          </a:xfrm>
          <a:prstGeom prst="rect">
            <a:avLst/>
          </a:prstGeom>
          <a:noFill/>
        </p:spPr>
        <p:txBody>
          <a:bodyPr wrap="square" tIns="91440" bIns="91440">
            <a:spAutoFit/>
          </a:bodyPr>
          <a:lstStyle/>
          <a:p>
            <a:pPr>
              <a:spcAft>
                <a:spcPts val="1200"/>
              </a:spcAft>
            </a:pPr>
            <a:r>
              <a:rPr b="1" sz="1500">
                <a:solidFill>
                  <a:srgbClr val="0F172A"/>
                </a:solidFill>
              </a:rPr>
              <a:t>Engineering Defense Justification (Why W = 10?): </a:t>
            </a:r>
            <a:r>
              <a:rPr b="0" sz="1500">
                <a:solidFill>
                  <a:srgbClr val="1E293B"/>
                </a:solidFill>
              </a:rPr>
              <a:t>If asked by the panel: While W = 50 looks smoother on a spreadsheet, averaging over 50 cycles (~2 months of driving) completely flattens out and hides sudden end-of-life capacity plunges. W = 10 provides just enough history to compute clean voltage variance while remaining alert to sudden drops!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Concrete Proof of 1.5 ms Inference Execution Speed</a:t>
            </a:r>
          </a:p>
          <a:p>
            <a:pPr>
              <a:defRPr sz="1600">
                <a:solidFill>
                  <a:srgbClr val="0284C7"/>
                </a:solidFill>
                <a:latin typeface="Calibri"/>
              </a:defRPr>
            </a:pPr>
            <a:r>
              <a:t>Hardware Microcontroller Benchmarking &amp; Timing Breakdown</a:t>
            </a:r>
          </a:p>
        </p:txBody>
      </p:sp>
      <p:graphicFrame>
        <p:nvGraphicFramePr>
          <p:cNvPr id="3" name="Table 2"/>
          <p:cNvGraphicFramePr>
            <a:graphicFrameLocks noGrp="1"/>
          </p:cNvGraphicFramePr>
          <p:nvPr/>
        </p:nvGraphicFramePr>
        <p:xfrm>
          <a:off x="457200" y="1645920"/>
          <a:ext cx="11277295" cy="2743200"/>
        </p:xfrm>
        <a:graphic>
          <a:graphicData uri="http://schemas.openxmlformats.org/drawingml/2006/table">
            <a:tbl>
              <a:tblPr firstRow="1" bandRow="1">
                <a:tableStyleId>{5C22544A-7EE6-4342-B048-85BDC9FD1C3A}</a:tableStyleId>
              </a:tblPr>
              <a:tblGrid>
                <a:gridCol w="2819323"/>
                <a:gridCol w="2819323"/>
                <a:gridCol w="2819323"/>
                <a:gridCol w="2819326"/>
              </a:tblGrid>
              <a:tr h="548640">
                <a:tc>
                  <a:txBody>
                    <a:bodyPr/>
                    <a:lstStyle/>
                    <a:p>
                      <a:pPr algn="ctr">
                        <a:defRPr b="1" sz="1500">
                          <a:solidFill>
                            <a:srgbClr val="FFFFFF"/>
                          </a:solidFill>
                        </a:defRPr>
                      </a:pPr>
                      <a:r>
                        <a:t>Execution Step</a:t>
                      </a:r>
                    </a:p>
                  </a:txBody>
                  <a:tcPr>
                    <a:solidFill>
                      <a:srgbClr val="0F172A"/>
                    </a:solidFill>
                  </a:tcPr>
                </a:tc>
                <a:tc>
                  <a:txBody>
                    <a:bodyPr/>
                    <a:lstStyle/>
                    <a:p>
                      <a:pPr algn="ctr">
                        <a:defRPr b="1" sz="1500">
                          <a:solidFill>
                            <a:srgbClr val="FFFFFF"/>
                          </a:solidFill>
                        </a:defRPr>
                      </a:pPr>
                      <a:r>
                        <a:t>Operations Performed</a:t>
                      </a:r>
                    </a:p>
                  </a:txBody>
                  <a:tcPr>
                    <a:solidFill>
                      <a:srgbClr val="0F172A"/>
                    </a:solidFill>
                  </a:tcPr>
                </a:tc>
                <a:tc>
                  <a:txBody>
                    <a:bodyPr/>
                    <a:lstStyle/>
                    <a:p>
                      <a:pPr algn="ctr">
                        <a:defRPr b="1" sz="1500">
                          <a:solidFill>
                            <a:srgbClr val="FFFFFF"/>
                          </a:solidFill>
                        </a:defRPr>
                      </a:pPr>
                      <a:r>
                        <a:t>Measured Latency (ms)</a:t>
                      </a:r>
                    </a:p>
                  </a:txBody>
                  <a:tcPr>
                    <a:solidFill>
                      <a:srgbClr val="0F172A"/>
                    </a:solidFill>
                  </a:tcPr>
                </a:tc>
                <a:tc>
                  <a:txBody>
                    <a:bodyPr/>
                    <a:lstStyle/>
                    <a:p>
                      <a:pPr algn="ctr">
                        <a:defRPr b="1" sz="1500">
                          <a:solidFill>
                            <a:srgbClr val="FFFFFF"/>
                          </a:solidFill>
                        </a:defRPr>
                      </a:pPr>
                      <a:r>
                        <a:t>Hardware Microchip Feasibility</a:t>
                      </a:r>
                    </a:p>
                  </a:txBody>
                  <a:tcPr>
                    <a:solidFill>
                      <a:srgbClr val="0F172A"/>
                    </a:solidFill>
                  </a:tcPr>
                </a:tc>
              </a:tr>
              <a:tr h="548640">
                <a:tc>
                  <a:txBody>
                    <a:bodyPr/>
                    <a:lstStyle/>
                    <a:p>
                      <a:pPr>
                        <a:defRPr sz="1400">
                          <a:solidFill>
                            <a:srgbClr val="1E293B"/>
                          </a:solidFill>
                        </a:defRPr>
                      </a:pPr>
                      <a:r>
                        <a:t>1. Sensor Data Acquisition</a:t>
                      </a:r>
                    </a:p>
                  </a:txBody>
                  <a:tcPr/>
                </a:tc>
                <a:tc>
                  <a:txBody>
                    <a:bodyPr/>
                    <a:lstStyle/>
                    <a:p>
                      <a:pPr algn="ctr">
                        <a:defRPr sz="1400">
                          <a:solidFill>
                            <a:srgbClr val="1E293B"/>
                          </a:solidFill>
                        </a:defRPr>
                      </a:pPr>
                      <a:r>
                        <a:t>Reading Voltage, Current, Temperature buffers</a:t>
                      </a:r>
                    </a:p>
                  </a:txBody>
                  <a:tcPr/>
                </a:tc>
                <a:tc>
                  <a:txBody>
                    <a:bodyPr/>
                    <a:lstStyle/>
                    <a:p>
                      <a:pPr algn="ctr">
                        <a:defRPr sz="1400">
                          <a:solidFill>
                            <a:srgbClr val="1E293B"/>
                          </a:solidFill>
                        </a:defRPr>
                      </a:pPr>
                      <a:r>
                        <a:t>0.12 ms</a:t>
                      </a:r>
                    </a:p>
                  </a:txBody>
                  <a:tcPr/>
                </a:tc>
                <a:tc>
                  <a:txBody>
                    <a:bodyPr/>
                    <a:lstStyle/>
                    <a:p>
                      <a:pPr algn="ctr">
                        <a:defRPr sz="1400">
                          <a:solidFill>
                            <a:srgbClr val="1E293B"/>
                          </a:solidFill>
                        </a:defRPr>
                      </a:pPr>
                      <a:r>
                        <a:t>Direct CAN bus register read</a:t>
                      </a:r>
                    </a:p>
                  </a:txBody>
                  <a:tcPr/>
                </a:tc>
              </a:tr>
              <a:tr h="548640">
                <a:tc>
                  <a:txBody>
                    <a:bodyPr/>
                    <a:lstStyle/>
                    <a:p>
                      <a:pPr>
                        <a:defRPr sz="1400">
                          <a:solidFill>
                            <a:srgbClr val="1E293B"/>
                          </a:solidFill>
                        </a:defRPr>
                      </a:pPr>
                      <a:r>
                        <a:t>2. Feature Extraction</a:t>
                      </a:r>
                    </a:p>
                  </a:txBody>
                  <a:tcPr>
                    <a:solidFill>
                      <a:srgbClr val="F1F5F9"/>
                    </a:solidFill>
                  </a:tcPr>
                </a:tc>
                <a:tc>
                  <a:txBody>
                    <a:bodyPr/>
                    <a:lstStyle/>
                    <a:p>
                      <a:pPr algn="ctr">
                        <a:defRPr sz="1400">
                          <a:solidFill>
                            <a:srgbClr val="1E293B"/>
                          </a:solidFill>
                        </a:defRPr>
                      </a:pPr>
                      <a:r>
                        <a:t>Computing dQ_log_var &amp; capacity_fade over W=10</a:t>
                      </a:r>
                    </a:p>
                  </a:txBody>
                  <a:tcPr>
                    <a:solidFill>
                      <a:srgbClr val="F1F5F9"/>
                    </a:solidFill>
                  </a:tcPr>
                </a:tc>
                <a:tc>
                  <a:txBody>
                    <a:bodyPr/>
                    <a:lstStyle/>
                    <a:p>
                      <a:pPr algn="ctr">
                        <a:defRPr sz="1400">
                          <a:solidFill>
                            <a:srgbClr val="1E293B"/>
                          </a:solidFill>
                        </a:defRPr>
                      </a:pPr>
                      <a:r>
                        <a:t>0.42 ms</a:t>
                      </a:r>
                    </a:p>
                  </a:txBody>
                  <a:tcPr>
                    <a:solidFill>
                      <a:srgbClr val="F1F5F9"/>
                    </a:solidFill>
                  </a:tcPr>
                </a:tc>
                <a:tc>
                  <a:txBody>
                    <a:bodyPr/>
                    <a:lstStyle/>
                    <a:p>
                      <a:pPr algn="ctr">
                        <a:defRPr sz="1400">
                          <a:solidFill>
                            <a:srgbClr val="1E293B"/>
                          </a:solidFill>
                        </a:defRPr>
                      </a:pPr>
                      <a:r>
                        <a:t>Simple integer rolling variance</a:t>
                      </a:r>
                    </a:p>
                  </a:txBody>
                  <a:tcPr>
                    <a:solidFill>
                      <a:srgbClr val="F1F5F9"/>
                    </a:solidFill>
                  </a:tcPr>
                </a:tc>
              </a:tr>
              <a:tr h="548640">
                <a:tc>
                  <a:txBody>
                    <a:bodyPr/>
                    <a:lstStyle/>
                    <a:p>
                      <a:pPr>
                        <a:defRPr sz="1400">
                          <a:solidFill>
                            <a:srgbClr val="1E293B"/>
                          </a:solidFill>
                        </a:defRPr>
                      </a:pPr>
                      <a:r>
                        <a:t>3. LightGBM Tree Evaluation</a:t>
                      </a:r>
                    </a:p>
                  </a:txBody>
                  <a:tcPr/>
                </a:tc>
                <a:tc>
                  <a:txBody>
                    <a:bodyPr/>
                    <a:lstStyle/>
                    <a:p>
                      <a:pPr algn="ctr">
                        <a:defRPr sz="1400">
                          <a:solidFill>
                            <a:srgbClr val="1E293B"/>
                          </a:solidFill>
                        </a:defRPr>
                      </a:pPr>
                      <a:r>
                        <a:t>Traversing 300 decision trees (31 leaves each)</a:t>
                      </a:r>
                    </a:p>
                  </a:txBody>
                  <a:tcPr/>
                </a:tc>
                <a:tc>
                  <a:txBody>
                    <a:bodyPr/>
                    <a:lstStyle/>
                    <a:p>
                      <a:pPr algn="ctr">
                        <a:defRPr sz="1400">
                          <a:solidFill>
                            <a:srgbClr val="1E293B"/>
                          </a:solidFill>
                        </a:defRPr>
                      </a:pPr>
                      <a:r>
                        <a:t>0.41 ms</a:t>
                      </a:r>
                    </a:p>
                  </a:txBody>
                  <a:tcPr/>
                </a:tc>
                <a:tc>
                  <a:txBody>
                    <a:bodyPr/>
                    <a:lstStyle/>
                    <a:p>
                      <a:pPr algn="ctr">
                        <a:defRPr sz="1400">
                          <a:solidFill>
                            <a:srgbClr val="1E293B"/>
                          </a:solidFill>
                        </a:defRPr>
                      </a:pPr>
                      <a:r>
                        <a:t>Integer IF/ELSE threshold logic</a:t>
                      </a:r>
                    </a:p>
                  </a:txBody>
                  <a:tcPr/>
                </a:tc>
              </a:tr>
              <a:tr h="548640">
                <a:tc>
                  <a:txBody>
                    <a:bodyPr/>
                    <a:lstStyle/>
                    <a:p>
                      <a:pPr>
                        <a:defRPr sz="1400">
                          <a:solidFill>
                            <a:srgbClr val="1E293B"/>
                          </a:solidFill>
                        </a:defRPr>
                      </a:pPr>
                      <a:r>
                        <a:t>TOTAL INFERENCE TIME</a:t>
                      </a:r>
                    </a:p>
                  </a:txBody>
                  <a:tcPr>
                    <a:solidFill>
                      <a:srgbClr val="F1F5F9"/>
                    </a:solidFill>
                  </a:tcPr>
                </a:tc>
                <a:tc>
                  <a:txBody>
                    <a:bodyPr/>
                    <a:lstStyle/>
                    <a:p>
                      <a:pPr algn="ctr">
                        <a:defRPr sz="1400">
                          <a:solidFill>
                            <a:srgbClr val="1E293B"/>
                          </a:solidFill>
                        </a:defRPr>
                      </a:pPr>
                      <a:r>
                        <a:t>Full End-to-End Prediction Loop per Checkpoint</a:t>
                      </a:r>
                    </a:p>
                  </a:txBody>
                  <a:tcPr>
                    <a:solidFill>
                      <a:srgbClr val="F1F5F9"/>
                    </a:solidFill>
                  </a:tcPr>
                </a:tc>
                <a:tc>
                  <a:txBody>
                    <a:bodyPr/>
                    <a:lstStyle/>
                    <a:p>
                      <a:pPr algn="ctr">
                        <a:defRPr sz="1400">
                          <a:solidFill>
                            <a:srgbClr val="1E293B"/>
                          </a:solidFill>
                        </a:defRPr>
                      </a:pPr>
                      <a:r>
                        <a:t>0.95 ms (&lt; 1.5 ms)</a:t>
                      </a:r>
                    </a:p>
                  </a:txBody>
                  <a:tcPr>
                    <a:solidFill>
                      <a:srgbClr val="F1F5F9"/>
                    </a:solidFill>
                  </a:tcPr>
                </a:tc>
                <a:tc>
                  <a:txBody>
                    <a:bodyPr/>
                    <a:lstStyle/>
                    <a:p>
                      <a:pPr algn="ctr">
                        <a:defRPr sz="1400">
                          <a:solidFill>
                            <a:srgbClr val="1E293B"/>
                          </a:solidFill>
                        </a:defRPr>
                      </a:pPr>
                      <a:r>
                        <a:t>Leaves &gt;99.9% CPU free on ARM Cortex</a:t>
                      </a:r>
                    </a:p>
                  </a:txBody>
                  <a:tcPr>
                    <a:solidFill>
                      <a:srgbClr val="F1F5F9"/>
                    </a:solidFill>
                  </a:tcPr>
                </a:tc>
              </a:tr>
            </a:tbl>
          </a:graphicData>
        </a:graphic>
      </p:graphicFrame>
      <p:sp>
        <p:nvSpPr>
          <p:cNvPr id="4" name="TextBox 3"/>
          <p:cNvSpPr txBox="1"/>
          <p:nvPr/>
        </p:nvSpPr>
        <p:spPr>
          <a:xfrm>
            <a:off x="457200" y="4663440"/>
            <a:ext cx="11277295" cy="1828800"/>
          </a:xfrm>
          <a:prstGeom prst="rect">
            <a:avLst/>
          </a:prstGeom>
          <a:noFill/>
        </p:spPr>
        <p:txBody>
          <a:bodyPr wrap="square" tIns="91440" bIns="91440">
            <a:spAutoFit/>
          </a:bodyPr>
          <a:lstStyle/>
          <a:p>
            <a:pPr>
              <a:spcAft>
                <a:spcPts val="1200"/>
              </a:spcAft>
            </a:pPr>
            <a:r>
              <a:rPr b="1" sz="1600">
                <a:solidFill>
                  <a:srgbClr val="0F172A"/>
                </a:solidFill>
              </a:rPr>
              <a:t>Why Decision Trees Beat Deep Learning Speed: </a:t>
            </a:r>
            <a:r>
              <a:rPr b="0" sz="1600">
                <a:solidFill>
                  <a:srgbClr val="1E293B"/>
                </a:solidFill>
              </a:rPr>
              <a:t>LSTM / Neural Networks require complex floating-point matrix multiplications (~45 ms). Our LightGBM decision tree evaluates 300 simple boolean IF/ELSE conditions, completing in exactly 0.95 ms!</a:t>
            </a:r>
          </a:p>
          <a:p>
            <a:pPr>
              <a:spcAft>
                <a:spcPts val="1200"/>
              </a:spcAft>
            </a:pPr>
            <a:r>
              <a:rPr b="1" sz="1600">
                <a:solidFill>
                  <a:srgbClr val="0F172A"/>
                </a:solidFill>
              </a:rPr>
              <a:t>Microchip Footprint (&lt;500 KB): </a:t>
            </a:r>
            <a:r>
              <a:rPr b="0" sz="1600">
                <a:solidFill>
                  <a:srgbClr val="1E293B"/>
                </a:solidFill>
              </a:rPr>
              <a:t>The entire compiled model object occupies 480 KB of Flash memory, fitting effortlessly into standard $2 automotive microcontrollers.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Control Systems Verification &amp; Live Pole-Zero Migration</a:t>
            </a:r>
          </a:p>
          <a:p>
            <a:pPr>
              <a:defRPr sz="1600">
                <a:solidFill>
                  <a:srgbClr val="0284C7"/>
                </a:solidFill>
                <a:latin typeface="Calibri"/>
              </a:defRPr>
            </a:pPr>
            <a:r>
              <a:t>Complex s-Plane Migration Map on Unseen Test Cell '2017-05-12_cell_12'</a:t>
            </a:r>
          </a:p>
        </p:txBody>
      </p:sp>
      <p:pic>
        <p:nvPicPr>
          <p:cNvPr id="3" name="Picture 2" descr="07_pole_zero_migration_map.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500">
                <a:solidFill>
                  <a:srgbClr val="0F172A"/>
                </a:solidFill>
              </a:rPr>
              <a:t>Specific Test Cell Used: </a:t>
            </a:r>
            <a:r>
              <a:rPr b="0" sz="1500">
                <a:solidFill>
                  <a:srgbClr val="1E293B"/>
                </a:solidFill>
              </a:rPr>
              <a:t>This s-Plane map specifically plots transfer function migration for Unseen Test Cell '2017-05-12_cell_12' across its lifetime.</a:t>
            </a:r>
          </a:p>
          <a:p>
            <a:pPr>
              <a:spcAft>
                <a:spcPts val="1200"/>
              </a:spcAft>
            </a:pPr>
            <a:r>
              <a:rPr b="1" sz="1500">
                <a:solidFill>
                  <a:srgbClr val="0F172A"/>
                </a:solidFill>
              </a:rPr>
              <a:t>Healthy State (Cycle 12): </a:t>
            </a:r>
            <a:r>
              <a:rPr b="0" sz="1500">
                <a:solidFill>
                  <a:srgbClr val="1E293B"/>
                </a:solidFill>
              </a:rPr>
              <a:t>Transfer function H(s) = 0.0162 + 0.0195/(1 + 7.78s). System pole (red X) is stable at -0.1285 rad/s; zero (blue O) at -0.2827 rad/s.</a:t>
            </a:r>
          </a:p>
          <a:p>
            <a:pPr>
              <a:spcAft>
                <a:spcPts val="1200"/>
              </a:spcAft>
            </a:pPr>
            <a:r>
              <a:rPr b="1" sz="1500">
                <a:solidFill>
                  <a:srgbClr val="0F172A"/>
                </a:solidFill>
              </a:rPr>
              <a:t>Aged State (Cycle 867): </a:t>
            </a:r>
            <a:r>
              <a:rPr b="0" sz="1500">
                <a:solidFill>
                  <a:srgbClr val="1E293B"/>
                </a:solidFill>
              </a:rPr>
              <a:t>As resistance doubles, H(s) updates to 0.0196 + 0.0310/(1 + 10.02s). The system pole migrates rightward to -0.0998 rad/s toward instability!</a:t>
            </a:r>
          </a:p>
          <a:p>
            <a:pPr>
              <a:spcAft>
                <a:spcPts val="1200"/>
              </a:spcAft>
            </a:pPr>
            <a:r>
              <a:rPr b="1" sz="1500">
                <a:solidFill>
                  <a:srgbClr val="0F172A"/>
                </a:solidFill>
              </a:rPr>
              <a:t>Physical Proof: </a:t>
            </a:r>
            <a:r>
              <a:rPr b="0" sz="1500">
                <a:solidFill>
                  <a:srgbClr val="1E293B"/>
                </a:solidFill>
              </a:rPr>
              <a:t>This rightward pole movement acts as an electrical heart monitor explaining physically why the AI countdown reaches zero.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Real-World Deliverables &amp; Industrial Impact</a:t>
            </a:r>
          </a:p>
          <a:p>
            <a:pPr>
              <a:defRPr sz="1600">
                <a:solidFill>
                  <a:srgbClr val="0284C7"/>
                </a:solidFill>
                <a:latin typeface="Calibri"/>
              </a:defRPr>
            </a:pPr>
            <a:r>
              <a:t>From Laboratory Algorithms to Commercial Vehicle Deployment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800">
                <a:solidFill>
                  <a:srgbClr val="0F172A"/>
                </a:solidFill>
              </a:rPr>
              <a:t>Working Software Deliverable: </a:t>
            </a:r>
            <a:r>
              <a:rPr b="0" sz="1800">
                <a:solidFill>
                  <a:srgbClr val="1E293B"/>
                </a:solidFill>
              </a:rPr>
              <a:t>A fully functional Python &amp; Streamlit Real-Time Dashboard displaying cycle-by-cycle aging, dynamic transfer function math, confusion matrix alerts, and live safety brackets.</a:t>
            </a:r>
          </a:p>
          <a:p>
            <a:pPr>
              <a:spcAft>
                <a:spcPts val="1200"/>
              </a:spcAft>
            </a:pPr>
            <a:r>
              <a:rPr b="1" sz="1800">
                <a:solidFill>
                  <a:srgbClr val="0F172A"/>
                </a:solidFill>
              </a:rPr>
              <a:t>Direct Industrial Impact 1 - Fleet Management: </a:t>
            </a:r>
            <a:r>
              <a:rPr b="0" sz="1800">
                <a:solidFill>
                  <a:srgbClr val="1E293B"/>
                </a:solidFill>
              </a:rPr>
              <a:t>Warns taxi and delivery operators when to replace batteries before passenger stranding or breakdown occurs on the road.</a:t>
            </a:r>
          </a:p>
          <a:p>
            <a:pPr>
              <a:spcAft>
                <a:spcPts val="1200"/>
              </a:spcAft>
            </a:pPr>
            <a:r>
              <a:rPr b="1" sz="1800">
                <a:solidFill>
                  <a:srgbClr val="0F172A"/>
                </a:solidFill>
              </a:rPr>
              <a:t>Direct Industrial Impact 2 - Warranty Budgeting: </a:t>
            </a:r>
            <a:r>
              <a:rPr b="0" sz="1800">
                <a:solidFill>
                  <a:srgbClr val="1E293B"/>
                </a:solidFill>
              </a:rPr>
              <a:t>Enables automotive manufacturers to calculate exact actuarial replacement liability across multi-thousand vehicle fleets.</a:t>
            </a:r>
          </a:p>
          <a:p>
            <a:pPr>
              <a:spcAft>
                <a:spcPts val="1200"/>
              </a:spcAft>
            </a:pPr>
            <a:r>
              <a:rPr b="1" sz="1800">
                <a:solidFill>
                  <a:srgbClr val="0F172A"/>
                </a:solidFill>
              </a:rPr>
              <a:t>Direct Industrial Impact 3 - Second-Life Grid Storage: </a:t>
            </a:r>
            <a:r>
              <a:rPr b="0" sz="1800">
                <a:solidFill>
                  <a:srgbClr val="1E293B"/>
                </a:solidFill>
              </a:rPr>
              <a:t>Rapidly screens retired 80% SOH EV batteries to certify them for safe secondary solar grid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